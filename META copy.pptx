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71" r:id="rId2"/>
    <p:sldMasterId id="2147483682" r:id="rId3"/>
  </p:sldMasterIdLst>
  <p:notesMasterIdLst>
    <p:notesMasterId r:id="rId15"/>
  </p:notesMasterIdLst>
  <p:sldIdLst>
    <p:sldId id="538" r:id="rId4"/>
    <p:sldId id="537" r:id="rId5"/>
    <p:sldId id="256" r:id="rId6"/>
    <p:sldId id="539" r:id="rId7"/>
    <p:sldId id="540" r:id="rId8"/>
    <p:sldId id="541" r:id="rId9"/>
    <p:sldId id="542" r:id="rId10"/>
    <p:sldId id="399" r:id="rId11"/>
    <p:sldId id="543" r:id="rId12"/>
    <p:sldId id="546" r:id="rId13"/>
    <p:sldId id="547" r:id="rId14"/>
  </p:sldIdLst>
  <p:sldSz cx="12192000" cy="6858000"/>
  <p:notesSz cx="6858000" cy="91440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A3CCE07-416D-FC44-ADBA-56A9917A00D5}">
          <p14:sldIdLst>
            <p14:sldId id="538"/>
            <p14:sldId id="537"/>
            <p14:sldId id="256"/>
            <p14:sldId id="539"/>
            <p14:sldId id="540"/>
            <p14:sldId id="541"/>
            <p14:sldId id="542"/>
            <p14:sldId id="399"/>
          </p14:sldIdLst>
        </p14:section>
        <p14:section name="Untitled Section" id="{9E1C7026-D389-254E-A79E-C14174470A9C}">
          <p14:sldIdLst>
            <p14:sldId id="543"/>
            <p14:sldId id="546"/>
            <p14:sldId id="5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132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1"/>
    <p:restoredTop sz="93199"/>
  </p:normalViewPr>
  <p:slideViewPr>
    <p:cSldViewPr snapToGrid="0" showGuides="1">
      <p:cViewPr>
        <p:scale>
          <a:sx n="113" d="100"/>
          <a:sy n="113" d="100"/>
        </p:scale>
        <p:origin x="144" y="-34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7ED993-19DA-3F49-AFFD-C4F83A9F7DE0}" type="datetimeFigureOut">
              <a:rPr lang="en-IT" smtClean="0"/>
              <a:t>01/05/26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FE310-AA25-864B-B84B-51B1750FB5FE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079200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FE310-AA25-864B-B84B-51B1750FB5FE}" type="slidenum">
              <a:rPr lang="en-IT" smtClean="0"/>
              <a:t>9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715949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27E88-E58B-F362-EBB2-32ECA02EBF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69AE28-55BE-2774-7586-C2A3AAC3EA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FA840-852F-60FE-8943-B8B554923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96D53-B5A5-CA41-931F-2C2D906BE50C}" type="datetimeFigureOut">
              <a:rPr lang="en-IT" smtClean="0"/>
              <a:t>01/05/26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53DFD-7863-77F5-4DBB-A4719ECBC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89AF4-4F59-D9E9-EB52-BBD34819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0037-11C5-D84B-870E-17CF490FC61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111544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EDD70-EF13-AF43-9896-C5B8A608D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DB478-21DB-604E-8F7B-5047DE9A3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00C11-819C-A9E7-5803-5FC8AC8FA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96D53-B5A5-CA41-931F-2C2D906BE50C}" type="datetimeFigureOut">
              <a:rPr lang="en-IT" smtClean="0"/>
              <a:t>01/05/26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8DF31-59B9-47D6-E03D-01EB471C4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D4E4C-BDE5-D229-02C8-BA4F2723E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0037-11C5-D84B-870E-17CF490FC61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219709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C86EC-9803-7E15-58A7-2D90EF4A8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A2DAD6-C694-389A-7786-4558E8157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A9F3E-596F-8B2A-83DD-065D751E8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96D53-B5A5-CA41-931F-2C2D906BE50C}" type="datetimeFigureOut">
              <a:rPr lang="en-IT" smtClean="0"/>
              <a:t>01/05/26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8A6F4-DDCA-9EFE-17DE-D000E0F28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40B6A-3105-7915-BC0A-C13E4F67F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0037-11C5-D84B-870E-17CF490FC61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768693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3B889-879F-CB5E-C322-19F7D60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0AD65-648B-5FCD-52E6-548BD6AB2F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418BE-6724-D17B-AF3C-54AA88F35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483EB-0F10-087C-087F-FD3F1ECDA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96D53-B5A5-CA41-931F-2C2D906BE50C}" type="datetimeFigureOut">
              <a:rPr lang="en-IT" smtClean="0"/>
              <a:t>01/05/26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913D05-8AF7-8520-4D27-E235C2B48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D8E34-70EF-40DB-6E66-796959C75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0037-11C5-D84B-870E-17CF490FC61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878323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5AF78-D2F6-9C35-13C0-F4EAF7A6B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3A772-5D24-9C59-4628-B272F99A9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23B50-4F73-CE77-77BA-010FC92627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30626B-E914-C91E-0948-4F328446EB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B7818C-3573-8882-0006-37F855040D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6493D-29E4-2AF2-D834-5DA4D33A0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96D53-B5A5-CA41-931F-2C2D906BE50C}" type="datetimeFigureOut">
              <a:rPr lang="en-IT" smtClean="0"/>
              <a:t>01/05/26</a:t>
            </a:fld>
            <a:endParaRPr lang="en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DF1B98-4021-B204-A465-E687999D6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4334A7-6572-A41D-DB7B-844052498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0037-11C5-D84B-870E-17CF490FC61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673346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EC1B0-7992-861E-999F-FAE4D2813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FC8863-B2D8-F01A-C390-0861224E4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96D53-B5A5-CA41-931F-2C2D906BE50C}" type="datetimeFigureOut">
              <a:rPr lang="en-IT" smtClean="0"/>
              <a:t>01/05/26</a:t>
            </a:fld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4DE614-E01F-5D50-0BE1-E301EB2FF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5991B0-39EA-CD31-1292-2A6AF52C9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0037-11C5-D84B-870E-17CF490FC61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310415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A6D0AD-932A-0992-2A21-8EC549A96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96D53-B5A5-CA41-931F-2C2D906BE50C}" type="datetimeFigureOut">
              <a:rPr lang="en-IT" smtClean="0"/>
              <a:t>01/05/26</a:t>
            </a:fld>
            <a:endParaRPr lang="en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5E037F-44D4-1AA6-1A5E-D960AD1AA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AE94E-2724-CE48-2EB9-FA5CC3387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0037-11C5-D84B-870E-17CF490FC61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524125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96F03-2FA0-897F-A71B-D1B079195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D4E5C-E135-5516-351A-92D01175B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43DF23-89CA-062F-EDB7-25261D668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4A0B70-9568-299E-949C-6E0B40690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96D53-B5A5-CA41-931F-2C2D906BE50C}" type="datetimeFigureOut">
              <a:rPr lang="en-IT" smtClean="0"/>
              <a:t>01/05/26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743A41-18D4-4EB1-BA57-96FA49DD0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968CF1-C03E-95AE-AA8E-CC929E12A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0037-11C5-D84B-870E-17CF490FC61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910908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C759C-DCC0-79EE-D422-CACE43AB7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66E02E-051C-57B7-1E84-BBA25F26B6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4A65AC-ED1B-52BF-FCD6-58985B358B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DB8C6-A776-6F21-EE0D-4D77D6BF5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96D53-B5A5-CA41-931F-2C2D906BE50C}" type="datetimeFigureOut">
              <a:rPr lang="en-IT" smtClean="0"/>
              <a:t>01/05/26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CE7C15-C5B4-3157-3499-7FCD1D695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06A317-9E56-84D3-E207-54A37C06E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0037-11C5-D84B-870E-17CF490FC61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371798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31922-0BFD-009F-40F3-E58018458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AA1E39-25D3-2E6A-7AB1-200D34A263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157AE-6885-16CE-962E-04F4C7382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96D53-B5A5-CA41-931F-2C2D906BE50C}" type="datetimeFigureOut">
              <a:rPr lang="en-IT" smtClean="0"/>
              <a:t>01/05/26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DCAC8-AFED-BBA2-0B3A-B1CCA4034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36C8F-70D7-A0B0-28EB-11C018D0F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0037-11C5-D84B-870E-17CF490FC61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68497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99293C-4392-8D2A-6451-BDEE968CC4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1E7FA6-5A32-9492-899D-16C09DFC97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D0AEF-11E2-510C-22AD-732E32F0F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96D53-B5A5-CA41-931F-2C2D906BE50C}" type="datetimeFigureOut">
              <a:rPr lang="en-IT" smtClean="0"/>
              <a:t>01/05/26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F1E35-2D63-9312-CE9F-E8C657273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5D8B8-2025-9A86-D264-B65B3B66E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0037-11C5-D84B-870E-17CF490FC61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6369889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6223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3400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550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2975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5/1/26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5910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5/1/26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4746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7363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0528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9955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991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2787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65A6A8-EEC2-E9B7-0DA3-D82DD85A6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DED48-6094-1103-22BD-C0B6467BF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CEB84-A543-5271-1ADE-FE0118965E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B96D53-B5A5-CA41-931F-2C2D906BE50C}" type="datetimeFigureOut">
              <a:rPr lang="en-IT" smtClean="0"/>
              <a:t>01/05/26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13AA7-0C37-CBAE-F876-C45E2221B0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8A0A8-9A1F-673A-B324-208F2B5EDE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F90037-11C5-D84B-870E-17CF490FC61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021022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Meta Logo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1303000" y="254000"/>
            <a:ext cx="6350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607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5704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8090860-100A-AA03-23BE-2E1060FC78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80BB00B-D7BE-3601-466B-E6162DD87A09}"/>
              </a:ext>
            </a:extLst>
          </p:cNvPr>
          <p:cNvSpPr/>
          <p:nvPr/>
        </p:nvSpPr>
        <p:spPr>
          <a:xfrm>
            <a:off x="5818982" y="3151982"/>
            <a:ext cx="554036" cy="554036"/>
          </a:xfrm>
          <a:prstGeom prst="ellipse">
            <a:avLst/>
          </a:prstGeom>
          <a:noFill/>
          <a:ln w="1905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8C63B57-41CF-1066-D217-81BC70763399}"/>
              </a:ext>
            </a:extLst>
          </p:cNvPr>
          <p:cNvSpPr/>
          <p:nvPr/>
        </p:nvSpPr>
        <p:spPr>
          <a:xfrm>
            <a:off x="5903856" y="3236856"/>
            <a:ext cx="384290" cy="384290"/>
          </a:xfrm>
          <a:prstGeom prst="ellipse">
            <a:avLst/>
          </a:prstGeom>
          <a:noFill/>
          <a:ln w="1905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C05FB89-4B75-4C82-5CA1-52AD7D809FBA}"/>
              </a:ext>
            </a:extLst>
          </p:cNvPr>
          <p:cNvSpPr/>
          <p:nvPr/>
        </p:nvSpPr>
        <p:spPr>
          <a:xfrm>
            <a:off x="5990472" y="3323472"/>
            <a:ext cx="211058" cy="211058"/>
          </a:xfrm>
          <a:prstGeom prst="ellipse">
            <a:avLst/>
          </a:prstGeom>
          <a:noFill/>
          <a:ln w="1905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1A18D79-063E-03DE-17DF-FA79394630F1}"/>
              </a:ext>
            </a:extLst>
          </p:cNvPr>
          <p:cNvSpPr/>
          <p:nvPr/>
        </p:nvSpPr>
        <p:spPr>
          <a:xfrm rot="11260156">
            <a:off x="6046486" y="3379486"/>
            <a:ext cx="99028" cy="99028"/>
          </a:xfrm>
          <a:prstGeom prst="ellipse">
            <a:avLst/>
          </a:prstGeom>
          <a:noFill/>
          <a:ln w="7620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FD9BE5C-42D7-900C-23D8-63D6C27752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28178" y="3151982"/>
            <a:ext cx="535643" cy="554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983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91EDF-8B4D-5902-65A5-0C68EC75E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06776F3-BFE9-3E4D-BDF0-3FEC6E4E8D1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008FEF1-1ED4-C74D-1FDC-40D17A5CBE90}"/>
              </a:ext>
            </a:extLst>
          </p:cNvPr>
          <p:cNvSpPr/>
          <p:nvPr/>
        </p:nvSpPr>
        <p:spPr>
          <a:xfrm>
            <a:off x="0" y="-2667000"/>
            <a:ext cx="12192000" cy="12192000"/>
          </a:xfrm>
          <a:prstGeom prst="ellipse">
            <a:avLst/>
          </a:prstGeom>
          <a:noFill/>
          <a:ln w="1905000">
            <a:gradFill>
              <a:gsLst>
                <a:gs pos="0">
                  <a:schemeClr val="tx1"/>
                </a:gs>
                <a:gs pos="74000">
                  <a:schemeClr val="accent1"/>
                </a:gs>
                <a:gs pos="100000">
                  <a:schemeClr val="accent5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EDBAED6-5016-B299-36AD-6F37FA0F571B}"/>
              </a:ext>
            </a:extLst>
          </p:cNvPr>
          <p:cNvSpPr/>
          <p:nvPr/>
        </p:nvSpPr>
        <p:spPr>
          <a:xfrm>
            <a:off x="1867694" y="-799306"/>
            <a:ext cx="8456613" cy="8456613"/>
          </a:xfrm>
          <a:prstGeom prst="ellipse">
            <a:avLst/>
          </a:prstGeom>
          <a:noFill/>
          <a:ln w="1905000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7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D37AA2B-59CA-DC76-A890-028D4A4D3AB7}"/>
              </a:ext>
            </a:extLst>
          </p:cNvPr>
          <p:cNvSpPr/>
          <p:nvPr/>
        </p:nvSpPr>
        <p:spPr>
          <a:xfrm>
            <a:off x="3773746" y="1106746"/>
            <a:ext cx="4644509" cy="4644509"/>
          </a:xfrm>
          <a:prstGeom prst="ellipse">
            <a:avLst/>
          </a:prstGeom>
          <a:noFill/>
          <a:ln w="1905000">
            <a:gradFill>
              <a:gsLst>
                <a:gs pos="0">
                  <a:schemeClr val="tx1"/>
                </a:gs>
                <a:gs pos="74000">
                  <a:schemeClr val="accent1"/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7E21D92-900B-54B1-C1BE-26E189E56D35}"/>
              </a:ext>
            </a:extLst>
          </p:cNvPr>
          <p:cNvSpPr/>
          <p:nvPr/>
        </p:nvSpPr>
        <p:spPr>
          <a:xfrm>
            <a:off x="5006412" y="2339412"/>
            <a:ext cx="2179176" cy="2179176"/>
          </a:xfrm>
          <a:prstGeom prst="ellipse">
            <a:avLst/>
          </a:prstGeom>
          <a:noFill/>
          <a:ln w="762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F96F5FB-8DE6-90A8-D27C-CB0BB7146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616" y="2430470"/>
            <a:ext cx="1930768" cy="19970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0FA0AB-4F7C-D384-9969-27C8D6002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21C66-0531-A25A-C89D-4F16AE99C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97024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>
            <a:extLst>
              <a:ext uri="{FF2B5EF4-FFF2-40B4-BE49-F238E27FC236}">
                <a16:creationId xmlns:a16="http://schemas.microsoft.com/office/drawing/2014/main" id="{49DD6BB9-35B3-6DAC-1A20-0D02EDBE7129}"/>
              </a:ext>
            </a:extLst>
          </p:cNvPr>
          <p:cNvGrpSpPr/>
          <p:nvPr/>
        </p:nvGrpSpPr>
        <p:grpSpPr>
          <a:xfrm>
            <a:off x="-894712" y="5045108"/>
            <a:ext cx="7669162" cy="1198931"/>
            <a:chOff x="-894712" y="5045108"/>
            <a:chExt cx="7669162" cy="1198931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C653FFE3-51D2-E5E6-8FD8-DCB0E53F844E}"/>
                </a:ext>
              </a:extLst>
            </p:cNvPr>
            <p:cNvGrpSpPr/>
            <p:nvPr/>
          </p:nvGrpSpPr>
          <p:grpSpPr>
            <a:xfrm>
              <a:off x="-894712" y="5045108"/>
              <a:ext cx="7669162" cy="1198931"/>
              <a:chOff x="4168876" y="4946992"/>
              <a:chExt cx="7669162" cy="1198931"/>
            </a:xfrm>
            <a:solidFill>
              <a:schemeClr val="bg2">
                <a:lumMod val="90000"/>
              </a:schemeClr>
            </a:solidFill>
          </p:grpSpPr>
          <p:sp useBgFill="1">
            <p:nvSpPr>
              <p:cNvPr id="56" name="Rounded Rectangle 55">
                <a:extLst>
                  <a:ext uri="{FF2B5EF4-FFF2-40B4-BE49-F238E27FC236}">
                    <a16:creationId xmlns:a16="http://schemas.microsoft.com/office/drawing/2014/main" id="{47657405-549D-2462-D11A-AB0A9F908295}"/>
                  </a:ext>
                </a:extLst>
              </p:cNvPr>
              <p:cNvSpPr/>
              <p:nvPr/>
            </p:nvSpPr>
            <p:spPr>
              <a:xfrm>
                <a:off x="4168876" y="4946992"/>
                <a:ext cx="7669162" cy="1198931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F93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T" dirty="0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088D0F0F-9A5A-A0C7-423F-6E4A859965E6}"/>
                  </a:ext>
                </a:extLst>
              </p:cNvPr>
              <p:cNvSpPr/>
              <p:nvPr/>
            </p:nvSpPr>
            <p:spPr>
              <a:xfrm>
                <a:off x="10697496" y="5089257"/>
                <a:ext cx="914400" cy="914400"/>
              </a:xfrm>
              <a:prstGeom prst="ellipse">
                <a:avLst/>
              </a:prstGeom>
              <a:solidFill>
                <a:srgbClr val="E9713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T" sz="2400" b="1" dirty="0">
                    <a:latin typeface="Montserrat" pitchFamily="2" charset="77"/>
                  </a:rPr>
                  <a:t>03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DDF01AE-1558-832B-B7D1-F5B715656D40}"/>
                  </a:ext>
                </a:extLst>
              </p:cNvPr>
              <p:cNvSpPr txBox="1"/>
              <p:nvPr/>
            </p:nvSpPr>
            <p:spPr>
              <a:xfrm>
                <a:off x="6392944" y="5140587"/>
                <a:ext cx="2989007" cy="338554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IT" sz="1600" b="1" dirty="0">
                    <a:latin typeface="Montserrat" pitchFamily="2" charset="77"/>
                  </a:rPr>
                  <a:t>Scenario advanced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ED3BBA22-57E4-62EB-74B2-590980924134}"/>
                  </a:ext>
                </a:extLst>
              </p:cNvPr>
              <p:cNvSpPr txBox="1"/>
              <p:nvPr/>
            </p:nvSpPr>
            <p:spPr>
              <a:xfrm>
                <a:off x="8003456" y="5448594"/>
                <a:ext cx="2144547" cy="64633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IT" sz="1200" dirty="0">
                    <a:latin typeface="Montserrat" pitchFamily="2" charset="77"/>
                  </a:rPr>
                  <a:t>• Sviluppo collaterali</a:t>
                </a:r>
              </a:p>
              <a:p>
                <a:r>
                  <a:rPr lang="en-IT" sz="1200" dirty="0">
                    <a:latin typeface="Montserrat" pitchFamily="2" charset="77"/>
                  </a:rPr>
                  <a:t>• Partnership</a:t>
                </a:r>
              </a:p>
              <a:p>
                <a:r>
                  <a:rPr lang="en-IT" sz="1200" dirty="0">
                    <a:latin typeface="Montserrat" pitchFamily="2" charset="77"/>
                  </a:rPr>
                  <a:t>• Nuovi servizi</a:t>
                </a:r>
              </a:p>
            </p:txBody>
          </p:sp>
        </p:grp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F8152304-8D9C-B49B-20B2-38EF85A53629}"/>
                </a:ext>
              </a:extLst>
            </p:cNvPr>
            <p:cNvSpPr/>
            <p:nvPr/>
          </p:nvSpPr>
          <p:spPr>
            <a:xfrm>
              <a:off x="5703012" y="5256479"/>
              <a:ext cx="776187" cy="776187"/>
            </a:xfrm>
            <a:prstGeom prst="ellipse">
              <a:avLst/>
            </a:prstGeom>
            <a:noFill/>
            <a:ln>
              <a:solidFill>
                <a:srgbClr val="FFC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sz="2400" b="1" dirty="0">
                <a:latin typeface="Montserrat" pitchFamily="2" charset="77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923E6E50-3A88-6CC4-7E24-DC96F1F61C71}"/>
              </a:ext>
            </a:extLst>
          </p:cNvPr>
          <p:cNvGrpSpPr/>
          <p:nvPr/>
        </p:nvGrpSpPr>
        <p:grpSpPr>
          <a:xfrm>
            <a:off x="-894712" y="2829534"/>
            <a:ext cx="7669162" cy="1198931"/>
            <a:chOff x="-894712" y="2829534"/>
            <a:chExt cx="7669162" cy="1198931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301DF338-1931-3C9F-C3E0-6764D6FCD090}"/>
                </a:ext>
              </a:extLst>
            </p:cNvPr>
            <p:cNvGrpSpPr/>
            <p:nvPr/>
          </p:nvGrpSpPr>
          <p:grpSpPr>
            <a:xfrm>
              <a:off x="-894712" y="2829534"/>
              <a:ext cx="7669162" cy="1198931"/>
              <a:chOff x="4168876" y="2803462"/>
              <a:chExt cx="7669162" cy="1198931"/>
            </a:xfrm>
            <a:solidFill>
              <a:schemeClr val="bg2">
                <a:lumMod val="90000"/>
              </a:schemeClr>
            </a:solidFill>
          </p:grpSpPr>
          <p:sp useBgFill="1">
            <p:nvSpPr>
              <p:cNvPr id="51" name="Rounded Rectangle 50">
                <a:extLst>
                  <a:ext uri="{FF2B5EF4-FFF2-40B4-BE49-F238E27FC236}">
                    <a16:creationId xmlns:a16="http://schemas.microsoft.com/office/drawing/2014/main" id="{59218DA7-EFD7-DF08-6345-B6A037E0B216}"/>
                  </a:ext>
                </a:extLst>
              </p:cNvPr>
              <p:cNvSpPr/>
              <p:nvPr/>
            </p:nvSpPr>
            <p:spPr>
              <a:xfrm>
                <a:off x="4168876" y="2803462"/>
                <a:ext cx="7669162" cy="1198931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F93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T" dirty="0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93211B5F-BD10-B63B-8778-BCE749AE7D5B}"/>
                  </a:ext>
                </a:extLst>
              </p:cNvPr>
              <p:cNvSpPr/>
              <p:nvPr/>
            </p:nvSpPr>
            <p:spPr>
              <a:xfrm>
                <a:off x="10697496" y="2945727"/>
                <a:ext cx="914400" cy="914400"/>
              </a:xfrm>
              <a:prstGeom prst="ellipse">
                <a:avLst/>
              </a:prstGeom>
              <a:solidFill>
                <a:srgbClr val="E9713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T" sz="2400" b="1" dirty="0">
                    <a:latin typeface="Montserrat" pitchFamily="2" charset="77"/>
                  </a:rPr>
                  <a:t>02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E39A86F-1414-3A34-253A-EE87BB00CA18}"/>
                  </a:ext>
                </a:extLst>
              </p:cNvPr>
              <p:cNvSpPr txBox="1"/>
              <p:nvPr/>
            </p:nvSpPr>
            <p:spPr>
              <a:xfrm>
                <a:off x="6392944" y="2997057"/>
                <a:ext cx="2989007" cy="338554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IT" sz="1600" b="1" dirty="0">
                    <a:latin typeface="Montserrat" pitchFamily="2" charset="77"/>
                  </a:rPr>
                  <a:t>Scenario baseline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8588DB7-EC68-96CF-13E0-2AFEF04048CE}"/>
                  </a:ext>
                </a:extLst>
              </p:cNvPr>
              <p:cNvSpPr txBox="1"/>
              <p:nvPr/>
            </p:nvSpPr>
            <p:spPr>
              <a:xfrm>
                <a:off x="8003457" y="3305064"/>
                <a:ext cx="2144547" cy="64633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IT" sz="1200" dirty="0">
                    <a:latin typeface="Montserrat" pitchFamily="2" charset="77"/>
                  </a:rPr>
                  <a:t>• Vantaggi competitivi</a:t>
                </a:r>
              </a:p>
              <a:p>
                <a:r>
                  <a:rPr lang="en-IT" sz="1200" dirty="0">
                    <a:latin typeface="Montserrat" pitchFamily="2" charset="77"/>
                  </a:rPr>
                  <a:t>• Drivers</a:t>
                </a:r>
              </a:p>
              <a:p>
                <a:r>
                  <a:rPr lang="en-IT" sz="1200" dirty="0">
                    <a:latin typeface="Montserrat" pitchFamily="2" charset="77"/>
                  </a:rPr>
                  <a:t>• Bilancio previsionale</a:t>
                </a:r>
              </a:p>
            </p:txBody>
          </p:sp>
        </p:grp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1814A2EE-4BCE-A510-3B81-6F2A9BF67389}"/>
                </a:ext>
              </a:extLst>
            </p:cNvPr>
            <p:cNvSpPr/>
            <p:nvPr/>
          </p:nvSpPr>
          <p:spPr>
            <a:xfrm>
              <a:off x="5703013" y="3040905"/>
              <a:ext cx="776187" cy="776187"/>
            </a:xfrm>
            <a:prstGeom prst="ellipse">
              <a:avLst/>
            </a:prstGeom>
            <a:noFill/>
            <a:ln>
              <a:solidFill>
                <a:srgbClr val="FFC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sz="2400" b="1" dirty="0">
                <a:latin typeface="Montserrat" pitchFamily="2" charset="77"/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8213B5D-5DB9-CCD2-D234-FEFD436C6FF5}"/>
              </a:ext>
            </a:extLst>
          </p:cNvPr>
          <p:cNvGrpSpPr/>
          <p:nvPr/>
        </p:nvGrpSpPr>
        <p:grpSpPr>
          <a:xfrm>
            <a:off x="-894712" y="612723"/>
            <a:ext cx="7669162" cy="1198931"/>
            <a:chOff x="-894712" y="612723"/>
            <a:chExt cx="7669162" cy="1198931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7370A4CA-3B65-0573-9F67-8FC203C81250}"/>
                </a:ext>
              </a:extLst>
            </p:cNvPr>
            <p:cNvGrpSpPr/>
            <p:nvPr/>
          </p:nvGrpSpPr>
          <p:grpSpPr>
            <a:xfrm>
              <a:off x="-894712" y="612723"/>
              <a:ext cx="7669162" cy="1198931"/>
              <a:chOff x="4168876" y="615784"/>
              <a:chExt cx="7669162" cy="1198931"/>
            </a:xfrm>
            <a:solidFill>
              <a:schemeClr val="bg2">
                <a:lumMod val="90000"/>
              </a:schemeClr>
            </a:solidFill>
          </p:grpSpPr>
          <p:sp useBgFill="1"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BB069007-7F88-5497-2FD1-AC5B77EEB3C2}"/>
                  </a:ext>
                </a:extLst>
              </p:cNvPr>
              <p:cNvSpPr/>
              <p:nvPr/>
            </p:nvSpPr>
            <p:spPr>
              <a:xfrm>
                <a:off x="4168876" y="615784"/>
                <a:ext cx="7669162" cy="1198931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F93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T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23A57BE-6882-3CAA-C3E7-EB3D78F2CD91}"/>
                  </a:ext>
                </a:extLst>
              </p:cNvPr>
              <p:cNvSpPr txBox="1"/>
              <p:nvPr/>
            </p:nvSpPr>
            <p:spPr>
              <a:xfrm>
                <a:off x="6392944" y="809379"/>
                <a:ext cx="2989007" cy="338554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IT" sz="1600" b="1" dirty="0">
                    <a:latin typeface="Montserrat" pitchFamily="2" charset="77"/>
                  </a:rPr>
                  <a:t>Situazione</a:t>
                </a:r>
                <a:r>
                  <a:rPr lang="en-IT" sz="1600" b="1" dirty="0"/>
                  <a:t> </a:t>
                </a:r>
                <a:r>
                  <a:rPr lang="en-IT" sz="1600" b="1" dirty="0">
                    <a:latin typeface="Montserrat" pitchFamily="2" charset="77"/>
                  </a:rPr>
                  <a:t>attuale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C4ED907-8D59-99E1-349B-9A2072761986}"/>
                  </a:ext>
                </a:extLst>
              </p:cNvPr>
              <p:cNvSpPr txBox="1"/>
              <p:nvPr/>
            </p:nvSpPr>
            <p:spPr>
              <a:xfrm>
                <a:off x="8003457" y="1117386"/>
                <a:ext cx="2144547" cy="64633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IT" sz="1200" dirty="0">
                    <a:latin typeface="Montserrat" pitchFamily="2" charset="77"/>
                  </a:rPr>
                  <a:t>• Numeri 2025</a:t>
                </a:r>
              </a:p>
              <a:p>
                <a:r>
                  <a:rPr lang="en-IT" sz="1200" dirty="0">
                    <a:latin typeface="Montserrat" pitchFamily="2" charset="77"/>
                  </a:rPr>
                  <a:t>• Business attuale</a:t>
                </a:r>
              </a:p>
              <a:p>
                <a:r>
                  <a:rPr lang="en-IT" sz="1200" dirty="0">
                    <a:latin typeface="Montserrat" pitchFamily="2" charset="77"/>
                  </a:rPr>
                  <a:t>• Analisi SWOT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4AE8E34-26B9-CCEA-5B7A-F28177A87348}"/>
                  </a:ext>
                </a:extLst>
              </p:cNvPr>
              <p:cNvSpPr/>
              <p:nvPr/>
            </p:nvSpPr>
            <p:spPr>
              <a:xfrm>
                <a:off x="10697496" y="756225"/>
                <a:ext cx="914400" cy="914400"/>
              </a:xfrm>
              <a:prstGeom prst="ellipse">
                <a:avLst/>
              </a:prstGeom>
              <a:solidFill>
                <a:srgbClr val="E9713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T" sz="2400" b="1" dirty="0">
                    <a:latin typeface="Montserrat" pitchFamily="2" charset="77"/>
                  </a:rPr>
                  <a:t>01</a:t>
                </a:r>
              </a:p>
            </p:txBody>
          </p:sp>
        </p:grp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D4B23B7-4233-A3DA-8F59-065ED8D6E8FF}"/>
                </a:ext>
              </a:extLst>
            </p:cNvPr>
            <p:cNvSpPr/>
            <p:nvPr/>
          </p:nvSpPr>
          <p:spPr>
            <a:xfrm>
              <a:off x="5703014" y="827997"/>
              <a:ext cx="776187" cy="776187"/>
            </a:xfrm>
            <a:prstGeom prst="ellipse">
              <a:avLst/>
            </a:prstGeom>
            <a:noFill/>
            <a:ln>
              <a:solidFill>
                <a:srgbClr val="FFC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sz="2400" b="1" dirty="0">
                <a:latin typeface="Montserrat" pitchFamily="2" charset="77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144D9042-F5F0-241C-6E70-EF47E8E33F45}"/>
              </a:ext>
            </a:extLst>
          </p:cNvPr>
          <p:cNvSpPr/>
          <p:nvPr/>
        </p:nvSpPr>
        <p:spPr>
          <a:xfrm>
            <a:off x="4388177" y="0"/>
            <a:ext cx="1395167" cy="2626733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F6C0CF4-832E-C436-5173-4221D0355B44}"/>
              </a:ext>
            </a:extLst>
          </p:cNvPr>
          <p:cNvSpPr/>
          <p:nvPr/>
        </p:nvSpPr>
        <p:spPr>
          <a:xfrm>
            <a:off x="4388177" y="2187678"/>
            <a:ext cx="1395167" cy="2626733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A033FC4-0933-3CCA-6FCB-5E763A71F184}"/>
              </a:ext>
            </a:extLst>
          </p:cNvPr>
          <p:cNvSpPr/>
          <p:nvPr/>
        </p:nvSpPr>
        <p:spPr>
          <a:xfrm>
            <a:off x="4388177" y="4331208"/>
            <a:ext cx="1395167" cy="2626733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7C1EA7C-1B4A-011F-11E8-EEF36D817C9D}"/>
              </a:ext>
            </a:extLst>
          </p:cNvPr>
          <p:cNvGrpSpPr/>
          <p:nvPr/>
        </p:nvGrpSpPr>
        <p:grpSpPr>
          <a:xfrm>
            <a:off x="-644166" y="0"/>
            <a:ext cx="6130566" cy="6957941"/>
            <a:chOff x="-644166" y="0"/>
            <a:chExt cx="6130566" cy="6957941"/>
          </a:xfrm>
          <a:gradFill flip="none" rotWithShape="1">
            <a:gsLst>
              <a:gs pos="0">
                <a:srgbClr val="FF9300">
                  <a:shade val="30000"/>
                  <a:satMod val="115000"/>
                </a:srgbClr>
              </a:gs>
              <a:gs pos="50000">
                <a:srgbClr val="FF9300">
                  <a:shade val="67500"/>
                  <a:satMod val="115000"/>
                </a:srgbClr>
              </a:gs>
              <a:gs pos="100000">
                <a:srgbClr val="FF9300">
                  <a:shade val="100000"/>
                  <a:satMod val="115000"/>
                </a:srgbClr>
              </a:gs>
            </a:gsLst>
            <a:lin ang="0" scaled="1"/>
            <a:tileRect/>
          </a:gra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71CCE17-0C8D-3E8F-E28F-91921470B4DE}"/>
                </a:ext>
              </a:extLst>
            </p:cNvPr>
            <p:cNvSpPr/>
            <p:nvPr/>
          </p:nvSpPr>
          <p:spPr>
            <a:xfrm>
              <a:off x="-644166" y="0"/>
              <a:ext cx="6130566" cy="262673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5DE0AC57-812E-7ECA-021D-4F8979A1D41A}"/>
                </a:ext>
              </a:extLst>
            </p:cNvPr>
            <p:cNvSpPr/>
            <p:nvPr/>
          </p:nvSpPr>
          <p:spPr>
            <a:xfrm>
              <a:off x="-644166" y="2187678"/>
              <a:ext cx="6130566" cy="262673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00EA20D6-32E9-BD33-D7F2-32C4844D4BDD}"/>
                </a:ext>
              </a:extLst>
            </p:cNvPr>
            <p:cNvSpPr/>
            <p:nvPr/>
          </p:nvSpPr>
          <p:spPr>
            <a:xfrm>
              <a:off x="-644166" y="4331208"/>
              <a:ext cx="6130566" cy="262673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095F5C41-EA9C-ECE1-FB12-7D7F16A8AF32}"/>
              </a:ext>
            </a:extLst>
          </p:cNvPr>
          <p:cNvSpPr txBox="1"/>
          <p:nvPr/>
        </p:nvSpPr>
        <p:spPr>
          <a:xfrm>
            <a:off x="768300" y="1452433"/>
            <a:ext cx="33925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sz="4400" b="1" dirty="0">
                <a:solidFill>
                  <a:schemeClr val="bg1"/>
                </a:solidFill>
                <a:latin typeface="Montserrat" pitchFamily="2" charset="77"/>
              </a:rPr>
              <a:t>INDICE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1BF5EDF4-E0EB-C9D8-C16D-062E94A03CC8}"/>
              </a:ext>
            </a:extLst>
          </p:cNvPr>
          <p:cNvGrpSpPr/>
          <p:nvPr/>
        </p:nvGrpSpPr>
        <p:grpSpPr>
          <a:xfrm>
            <a:off x="0" y="-2697"/>
            <a:ext cx="1395166" cy="1452434"/>
            <a:chOff x="0" y="10555"/>
            <a:chExt cx="1395166" cy="1452434"/>
          </a:xfrm>
        </p:grpSpPr>
        <p:sp>
          <p:nvSpPr>
            <p:cNvPr id="79" name="Half-frame 78">
              <a:extLst>
                <a:ext uri="{FF2B5EF4-FFF2-40B4-BE49-F238E27FC236}">
                  <a16:creationId xmlns:a16="http://schemas.microsoft.com/office/drawing/2014/main" id="{A99D00E1-3438-C724-9482-0BAE8B07E7AA}"/>
                </a:ext>
              </a:extLst>
            </p:cNvPr>
            <p:cNvSpPr/>
            <p:nvPr/>
          </p:nvSpPr>
          <p:spPr>
            <a:xfrm>
              <a:off x="0" y="10555"/>
              <a:ext cx="1395166" cy="1452434"/>
            </a:xfrm>
            <a:prstGeom prst="halfFrame">
              <a:avLst>
                <a:gd name="adj1" fmla="val 33333"/>
                <a:gd name="adj2" fmla="val 10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tx1"/>
                </a:solidFill>
              </a:endParaRP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5410DD55-31BE-555E-A16F-2BB7E41388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755" y="27368"/>
              <a:ext cx="753461" cy="7793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633136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77D2E-2EEE-B860-B5E2-9E4354F60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>
            <a:extLst>
              <a:ext uri="{FF2B5EF4-FFF2-40B4-BE49-F238E27FC236}">
                <a16:creationId xmlns:a16="http://schemas.microsoft.com/office/drawing/2014/main" id="{059AF4D3-7DD4-15CF-EB76-F8605A17F552}"/>
              </a:ext>
            </a:extLst>
          </p:cNvPr>
          <p:cNvGrpSpPr/>
          <p:nvPr/>
        </p:nvGrpSpPr>
        <p:grpSpPr>
          <a:xfrm>
            <a:off x="-894712" y="5045108"/>
            <a:ext cx="7669162" cy="1198931"/>
            <a:chOff x="-894712" y="5045108"/>
            <a:chExt cx="7669162" cy="1198931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4FBE2CF1-34A9-4466-BB2D-5E523DC8699A}"/>
                </a:ext>
              </a:extLst>
            </p:cNvPr>
            <p:cNvGrpSpPr/>
            <p:nvPr/>
          </p:nvGrpSpPr>
          <p:grpSpPr>
            <a:xfrm>
              <a:off x="-894712" y="5045108"/>
              <a:ext cx="7669162" cy="1198931"/>
              <a:chOff x="4168876" y="4946992"/>
              <a:chExt cx="7669162" cy="1198931"/>
            </a:xfrm>
            <a:solidFill>
              <a:schemeClr val="bg2">
                <a:lumMod val="90000"/>
              </a:schemeClr>
            </a:solidFill>
          </p:grpSpPr>
          <p:sp useBgFill="1">
            <p:nvSpPr>
              <p:cNvPr id="56" name="Rounded Rectangle 55">
                <a:extLst>
                  <a:ext uri="{FF2B5EF4-FFF2-40B4-BE49-F238E27FC236}">
                    <a16:creationId xmlns:a16="http://schemas.microsoft.com/office/drawing/2014/main" id="{C6A87798-1215-B692-58F0-E08368F1BCE5}"/>
                  </a:ext>
                </a:extLst>
              </p:cNvPr>
              <p:cNvSpPr/>
              <p:nvPr/>
            </p:nvSpPr>
            <p:spPr>
              <a:xfrm>
                <a:off x="4168876" y="4946992"/>
                <a:ext cx="7669162" cy="1198931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F93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T" dirty="0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2F55FBF2-9B8E-43B7-75C1-46732392AFD7}"/>
                  </a:ext>
                </a:extLst>
              </p:cNvPr>
              <p:cNvSpPr/>
              <p:nvPr/>
            </p:nvSpPr>
            <p:spPr>
              <a:xfrm>
                <a:off x="10697496" y="5089257"/>
                <a:ext cx="914400" cy="914400"/>
              </a:xfrm>
              <a:prstGeom prst="ellipse">
                <a:avLst/>
              </a:prstGeom>
              <a:solidFill>
                <a:srgbClr val="E9713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T" sz="2400" b="1" dirty="0">
                    <a:latin typeface="Montserrat" pitchFamily="2" charset="77"/>
                  </a:rPr>
                  <a:t>03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244934E-73F6-7DDD-2F52-EB7951B98C33}"/>
                  </a:ext>
                </a:extLst>
              </p:cNvPr>
              <p:cNvSpPr txBox="1"/>
              <p:nvPr/>
            </p:nvSpPr>
            <p:spPr>
              <a:xfrm>
                <a:off x="6392944" y="5140587"/>
                <a:ext cx="2989007" cy="338554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IT" sz="1600" b="1" dirty="0">
                    <a:latin typeface="Montserrat" pitchFamily="2" charset="77"/>
                  </a:rPr>
                  <a:t>Scenario advanced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CD2AD63-15FB-DBA5-FF20-1DFBC15C55E1}"/>
                  </a:ext>
                </a:extLst>
              </p:cNvPr>
              <p:cNvSpPr txBox="1"/>
              <p:nvPr/>
            </p:nvSpPr>
            <p:spPr>
              <a:xfrm>
                <a:off x="8003456" y="5448594"/>
                <a:ext cx="2144547" cy="64633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IT" sz="1200" dirty="0">
                    <a:latin typeface="Montserrat" pitchFamily="2" charset="77"/>
                  </a:rPr>
                  <a:t>• Sviluppo collaterali</a:t>
                </a:r>
              </a:p>
              <a:p>
                <a:r>
                  <a:rPr lang="en-IT" sz="1200" dirty="0">
                    <a:latin typeface="Montserrat" pitchFamily="2" charset="77"/>
                  </a:rPr>
                  <a:t>• Partnership</a:t>
                </a:r>
              </a:p>
              <a:p>
                <a:r>
                  <a:rPr lang="en-IT" sz="1200" dirty="0">
                    <a:latin typeface="Montserrat" pitchFamily="2" charset="77"/>
                  </a:rPr>
                  <a:t>• Nuovi servizi</a:t>
                </a:r>
              </a:p>
            </p:txBody>
          </p:sp>
        </p:grp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633FF73D-8FC0-7585-9951-11BCF7291EE5}"/>
                </a:ext>
              </a:extLst>
            </p:cNvPr>
            <p:cNvSpPr/>
            <p:nvPr/>
          </p:nvSpPr>
          <p:spPr>
            <a:xfrm>
              <a:off x="5703012" y="5256479"/>
              <a:ext cx="776187" cy="776187"/>
            </a:xfrm>
            <a:prstGeom prst="ellipse">
              <a:avLst/>
            </a:prstGeom>
            <a:noFill/>
            <a:ln>
              <a:solidFill>
                <a:srgbClr val="FFC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sz="2400" b="1" dirty="0">
                <a:latin typeface="Montserrat" pitchFamily="2" charset="77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439EFCD-563A-DB99-838B-31130C2D35CE}"/>
              </a:ext>
            </a:extLst>
          </p:cNvPr>
          <p:cNvGrpSpPr/>
          <p:nvPr/>
        </p:nvGrpSpPr>
        <p:grpSpPr>
          <a:xfrm>
            <a:off x="-894712" y="2829534"/>
            <a:ext cx="7669162" cy="1198931"/>
            <a:chOff x="-894712" y="2829534"/>
            <a:chExt cx="7669162" cy="1198931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BFC81775-BEA9-D10A-1617-4776CB8AEEB6}"/>
                </a:ext>
              </a:extLst>
            </p:cNvPr>
            <p:cNvGrpSpPr/>
            <p:nvPr/>
          </p:nvGrpSpPr>
          <p:grpSpPr>
            <a:xfrm>
              <a:off x="-894712" y="2829534"/>
              <a:ext cx="7669162" cy="1198931"/>
              <a:chOff x="4168876" y="2803462"/>
              <a:chExt cx="7669162" cy="1198931"/>
            </a:xfrm>
            <a:solidFill>
              <a:schemeClr val="bg2">
                <a:lumMod val="90000"/>
              </a:schemeClr>
            </a:solidFill>
          </p:grpSpPr>
          <p:sp useBgFill="1">
            <p:nvSpPr>
              <p:cNvPr id="51" name="Rounded Rectangle 50">
                <a:extLst>
                  <a:ext uri="{FF2B5EF4-FFF2-40B4-BE49-F238E27FC236}">
                    <a16:creationId xmlns:a16="http://schemas.microsoft.com/office/drawing/2014/main" id="{1AAAB284-7CC6-BB6F-3E78-B8D47B468B08}"/>
                  </a:ext>
                </a:extLst>
              </p:cNvPr>
              <p:cNvSpPr/>
              <p:nvPr/>
            </p:nvSpPr>
            <p:spPr>
              <a:xfrm>
                <a:off x="4168876" y="2803462"/>
                <a:ext cx="7669162" cy="1198931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F93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T" dirty="0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7E17A9EE-D236-0766-2E26-BD8D0B542133}"/>
                  </a:ext>
                </a:extLst>
              </p:cNvPr>
              <p:cNvSpPr/>
              <p:nvPr/>
            </p:nvSpPr>
            <p:spPr>
              <a:xfrm>
                <a:off x="10697496" y="2945727"/>
                <a:ext cx="914400" cy="914400"/>
              </a:xfrm>
              <a:prstGeom prst="ellipse">
                <a:avLst/>
              </a:prstGeom>
              <a:solidFill>
                <a:srgbClr val="E9713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T" sz="2400" b="1" dirty="0">
                    <a:latin typeface="Montserrat" pitchFamily="2" charset="77"/>
                  </a:rPr>
                  <a:t>02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5786D01-1186-A9C9-F2AE-B5C81801DB29}"/>
                  </a:ext>
                </a:extLst>
              </p:cNvPr>
              <p:cNvSpPr txBox="1"/>
              <p:nvPr/>
            </p:nvSpPr>
            <p:spPr>
              <a:xfrm>
                <a:off x="6392944" y="2997057"/>
                <a:ext cx="2989007" cy="338554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IT" sz="1600" b="1" dirty="0">
                    <a:latin typeface="Montserrat" pitchFamily="2" charset="77"/>
                  </a:rPr>
                  <a:t>Scenario baseline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5EDF700-D79A-AC54-4951-642CA9BDF088}"/>
                  </a:ext>
                </a:extLst>
              </p:cNvPr>
              <p:cNvSpPr txBox="1"/>
              <p:nvPr/>
            </p:nvSpPr>
            <p:spPr>
              <a:xfrm>
                <a:off x="8003457" y="3305064"/>
                <a:ext cx="2144547" cy="64633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IT" sz="1200" dirty="0">
                    <a:latin typeface="Montserrat" pitchFamily="2" charset="77"/>
                  </a:rPr>
                  <a:t>• Vantaggi competitivi</a:t>
                </a:r>
              </a:p>
              <a:p>
                <a:r>
                  <a:rPr lang="en-IT" sz="1200" dirty="0">
                    <a:latin typeface="Montserrat" pitchFamily="2" charset="77"/>
                  </a:rPr>
                  <a:t>• Drivers</a:t>
                </a:r>
              </a:p>
              <a:p>
                <a:r>
                  <a:rPr lang="en-IT" sz="1200" dirty="0">
                    <a:latin typeface="Montserrat" pitchFamily="2" charset="77"/>
                  </a:rPr>
                  <a:t>• Bilancio previsionale</a:t>
                </a:r>
              </a:p>
            </p:txBody>
          </p:sp>
        </p:grp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2FF19A9B-A79B-CFBA-A4DD-FCFAFA00E113}"/>
                </a:ext>
              </a:extLst>
            </p:cNvPr>
            <p:cNvSpPr/>
            <p:nvPr/>
          </p:nvSpPr>
          <p:spPr>
            <a:xfrm>
              <a:off x="5703013" y="3040905"/>
              <a:ext cx="776187" cy="776187"/>
            </a:xfrm>
            <a:prstGeom prst="ellipse">
              <a:avLst/>
            </a:prstGeom>
            <a:noFill/>
            <a:ln>
              <a:solidFill>
                <a:srgbClr val="FFC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sz="2400" b="1" dirty="0">
                <a:latin typeface="Montserrat" pitchFamily="2" charset="77"/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930F3E4D-E366-84B5-E0A9-36936C74812B}"/>
              </a:ext>
            </a:extLst>
          </p:cNvPr>
          <p:cNvGrpSpPr/>
          <p:nvPr/>
        </p:nvGrpSpPr>
        <p:grpSpPr>
          <a:xfrm>
            <a:off x="3667456" y="638222"/>
            <a:ext cx="7669162" cy="1198931"/>
            <a:chOff x="-894712" y="612723"/>
            <a:chExt cx="7669162" cy="1198931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764D1457-C859-9B37-9202-687252148434}"/>
                </a:ext>
              </a:extLst>
            </p:cNvPr>
            <p:cNvGrpSpPr/>
            <p:nvPr/>
          </p:nvGrpSpPr>
          <p:grpSpPr>
            <a:xfrm>
              <a:off x="-894712" y="612723"/>
              <a:ext cx="7669162" cy="1198931"/>
              <a:chOff x="4168876" y="615784"/>
              <a:chExt cx="7669162" cy="1198931"/>
            </a:xfrm>
            <a:solidFill>
              <a:schemeClr val="bg2">
                <a:lumMod val="90000"/>
              </a:schemeClr>
            </a:solidFill>
          </p:grpSpPr>
          <p:sp useBgFill="1"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AE924C88-BE6B-E6AF-6523-8D9A00E612CA}"/>
                  </a:ext>
                </a:extLst>
              </p:cNvPr>
              <p:cNvSpPr/>
              <p:nvPr/>
            </p:nvSpPr>
            <p:spPr>
              <a:xfrm>
                <a:off x="4168876" y="615784"/>
                <a:ext cx="7669162" cy="1198931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F93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T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F0D8126-D8D0-EA78-3C25-67D716116975}"/>
                  </a:ext>
                </a:extLst>
              </p:cNvPr>
              <p:cNvSpPr txBox="1"/>
              <p:nvPr/>
            </p:nvSpPr>
            <p:spPr>
              <a:xfrm>
                <a:off x="6392944" y="809379"/>
                <a:ext cx="2989007" cy="338554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IT" sz="1600" b="1" dirty="0">
                    <a:latin typeface="Montserrat" pitchFamily="2" charset="77"/>
                  </a:rPr>
                  <a:t>Situazione</a:t>
                </a:r>
                <a:r>
                  <a:rPr lang="en-IT" sz="1600" b="1" dirty="0"/>
                  <a:t> </a:t>
                </a:r>
                <a:r>
                  <a:rPr lang="en-IT" sz="1600" b="1" dirty="0">
                    <a:latin typeface="Montserrat" pitchFamily="2" charset="77"/>
                  </a:rPr>
                  <a:t>attuale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7F4BFE5-914B-6CD8-E5BB-FC8D193C6B56}"/>
                  </a:ext>
                </a:extLst>
              </p:cNvPr>
              <p:cNvSpPr txBox="1"/>
              <p:nvPr/>
            </p:nvSpPr>
            <p:spPr>
              <a:xfrm>
                <a:off x="8003457" y="1117386"/>
                <a:ext cx="2144547" cy="64633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IT" sz="1200" dirty="0">
                    <a:latin typeface="Montserrat" pitchFamily="2" charset="77"/>
                  </a:rPr>
                  <a:t>• Numeri 2025</a:t>
                </a:r>
              </a:p>
              <a:p>
                <a:r>
                  <a:rPr lang="en-IT" sz="1200" dirty="0">
                    <a:latin typeface="Montserrat" pitchFamily="2" charset="77"/>
                  </a:rPr>
                  <a:t>• Business attuale</a:t>
                </a:r>
              </a:p>
              <a:p>
                <a:r>
                  <a:rPr lang="en-IT" sz="1200" dirty="0">
                    <a:latin typeface="Montserrat" pitchFamily="2" charset="77"/>
                  </a:rPr>
                  <a:t>• Analisi SWOT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9F7849D8-342E-CF2E-B4E6-0A29788CF619}"/>
                  </a:ext>
                </a:extLst>
              </p:cNvPr>
              <p:cNvSpPr/>
              <p:nvPr/>
            </p:nvSpPr>
            <p:spPr>
              <a:xfrm>
                <a:off x="10697496" y="756225"/>
                <a:ext cx="914400" cy="914400"/>
              </a:xfrm>
              <a:prstGeom prst="ellipse">
                <a:avLst/>
              </a:prstGeom>
              <a:solidFill>
                <a:srgbClr val="E9713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T" sz="2400" b="1" dirty="0">
                    <a:latin typeface="Montserrat" pitchFamily="2" charset="77"/>
                  </a:rPr>
                  <a:t>01</a:t>
                </a:r>
              </a:p>
            </p:txBody>
          </p:sp>
        </p:grp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33250FB8-6B45-5D35-59E0-610DF410FA85}"/>
                </a:ext>
              </a:extLst>
            </p:cNvPr>
            <p:cNvSpPr/>
            <p:nvPr/>
          </p:nvSpPr>
          <p:spPr>
            <a:xfrm rot="11355175">
              <a:off x="5703014" y="827997"/>
              <a:ext cx="776187" cy="776187"/>
            </a:xfrm>
            <a:prstGeom prst="ellipse">
              <a:avLst/>
            </a:prstGeom>
            <a:noFill/>
            <a:ln>
              <a:solidFill>
                <a:srgbClr val="FFC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sz="2400" b="1" dirty="0">
                <a:latin typeface="Montserrat" pitchFamily="2" charset="77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596F8DC2-E9BC-BB23-D160-AF1EB0D450E1}"/>
              </a:ext>
            </a:extLst>
          </p:cNvPr>
          <p:cNvSpPr/>
          <p:nvPr/>
        </p:nvSpPr>
        <p:spPr>
          <a:xfrm>
            <a:off x="4388177" y="0"/>
            <a:ext cx="1395167" cy="2626733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6A99968-8C84-D2C6-EE6A-41AFD4B9AFBF}"/>
              </a:ext>
            </a:extLst>
          </p:cNvPr>
          <p:cNvSpPr/>
          <p:nvPr/>
        </p:nvSpPr>
        <p:spPr>
          <a:xfrm>
            <a:off x="4388177" y="2187678"/>
            <a:ext cx="1395167" cy="2626733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EC27923-84C1-6A40-24F9-7CC37A00D015}"/>
              </a:ext>
            </a:extLst>
          </p:cNvPr>
          <p:cNvSpPr/>
          <p:nvPr/>
        </p:nvSpPr>
        <p:spPr>
          <a:xfrm>
            <a:off x="4388177" y="4331208"/>
            <a:ext cx="1395167" cy="2626733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C21B2B0-2909-A4F9-F0CB-72F459D96783}"/>
              </a:ext>
            </a:extLst>
          </p:cNvPr>
          <p:cNvGrpSpPr/>
          <p:nvPr/>
        </p:nvGrpSpPr>
        <p:grpSpPr>
          <a:xfrm>
            <a:off x="-644166" y="0"/>
            <a:ext cx="6130566" cy="6957941"/>
            <a:chOff x="-644166" y="0"/>
            <a:chExt cx="6130566" cy="6957941"/>
          </a:xfrm>
          <a:gradFill flip="none" rotWithShape="1">
            <a:gsLst>
              <a:gs pos="0">
                <a:srgbClr val="FF9300">
                  <a:shade val="30000"/>
                  <a:satMod val="115000"/>
                </a:srgbClr>
              </a:gs>
              <a:gs pos="50000">
                <a:srgbClr val="FF9300">
                  <a:shade val="67500"/>
                  <a:satMod val="115000"/>
                </a:srgbClr>
              </a:gs>
              <a:gs pos="100000">
                <a:srgbClr val="FF9300">
                  <a:shade val="100000"/>
                  <a:satMod val="115000"/>
                </a:srgbClr>
              </a:gs>
            </a:gsLst>
            <a:lin ang="0" scaled="1"/>
            <a:tileRect/>
          </a:gra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5EBB864-E226-FF15-5F2A-78B2F3DB21F8}"/>
                </a:ext>
              </a:extLst>
            </p:cNvPr>
            <p:cNvSpPr/>
            <p:nvPr/>
          </p:nvSpPr>
          <p:spPr>
            <a:xfrm>
              <a:off x="-644166" y="0"/>
              <a:ext cx="6130566" cy="262673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ACA835A-152D-0A98-E90B-572D5DD05A6D}"/>
                </a:ext>
              </a:extLst>
            </p:cNvPr>
            <p:cNvSpPr/>
            <p:nvPr/>
          </p:nvSpPr>
          <p:spPr>
            <a:xfrm>
              <a:off x="-644166" y="2187678"/>
              <a:ext cx="6130566" cy="262673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CD1765A8-7007-CC89-6F83-DCA1A7CF6153}"/>
                </a:ext>
              </a:extLst>
            </p:cNvPr>
            <p:cNvSpPr/>
            <p:nvPr/>
          </p:nvSpPr>
          <p:spPr>
            <a:xfrm>
              <a:off x="-644166" y="4331208"/>
              <a:ext cx="6130566" cy="262673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C48D9365-F3B2-0F9D-B142-05E02006E58D}"/>
              </a:ext>
            </a:extLst>
          </p:cNvPr>
          <p:cNvSpPr txBox="1"/>
          <p:nvPr/>
        </p:nvSpPr>
        <p:spPr>
          <a:xfrm>
            <a:off x="768300" y="1452433"/>
            <a:ext cx="33925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sz="4400" b="1" dirty="0">
                <a:solidFill>
                  <a:schemeClr val="bg1"/>
                </a:solidFill>
                <a:latin typeface="Montserrat" pitchFamily="2" charset="77"/>
              </a:rPr>
              <a:t>INDICE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B10448-D8D1-67B7-349C-553BACEC5AA2}"/>
              </a:ext>
            </a:extLst>
          </p:cNvPr>
          <p:cNvGrpSpPr/>
          <p:nvPr/>
        </p:nvGrpSpPr>
        <p:grpSpPr>
          <a:xfrm>
            <a:off x="0" y="-2697"/>
            <a:ext cx="1395166" cy="1452434"/>
            <a:chOff x="0" y="10555"/>
            <a:chExt cx="1395166" cy="1452434"/>
          </a:xfrm>
        </p:grpSpPr>
        <p:sp>
          <p:nvSpPr>
            <p:cNvPr id="13" name="Half-frame 12">
              <a:extLst>
                <a:ext uri="{FF2B5EF4-FFF2-40B4-BE49-F238E27FC236}">
                  <a16:creationId xmlns:a16="http://schemas.microsoft.com/office/drawing/2014/main" id="{8F9D94C4-8E18-7490-0E04-402F585E09C5}"/>
                </a:ext>
              </a:extLst>
            </p:cNvPr>
            <p:cNvSpPr/>
            <p:nvPr/>
          </p:nvSpPr>
          <p:spPr>
            <a:xfrm>
              <a:off x="0" y="10555"/>
              <a:ext cx="1395166" cy="1452434"/>
            </a:xfrm>
            <a:prstGeom prst="halfFrame">
              <a:avLst>
                <a:gd name="adj1" fmla="val 33333"/>
                <a:gd name="adj2" fmla="val 10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tx1"/>
                </a:solidFill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7D7F0F4-95F5-DB18-377B-5F61B2218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755" y="27368"/>
              <a:ext cx="753461" cy="7793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195406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6B788-47D0-5F3E-D699-EF6602D40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>
            <a:extLst>
              <a:ext uri="{FF2B5EF4-FFF2-40B4-BE49-F238E27FC236}">
                <a16:creationId xmlns:a16="http://schemas.microsoft.com/office/drawing/2014/main" id="{443E66FA-B0D6-A8D6-9B54-F9602A2516C8}"/>
              </a:ext>
            </a:extLst>
          </p:cNvPr>
          <p:cNvGrpSpPr/>
          <p:nvPr/>
        </p:nvGrpSpPr>
        <p:grpSpPr>
          <a:xfrm>
            <a:off x="-894712" y="5045108"/>
            <a:ext cx="7669162" cy="1198931"/>
            <a:chOff x="-894712" y="5045108"/>
            <a:chExt cx="7669162" cy="1198931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34519420-DCC6-2F57-3F6E-922C3B0444F3}"/>
                </a:ext>
              </a:extLst>
            </p:cNvPr>
            <p:cNvGrpSpPr/>
            <p:nvPr/>
          </p:nvGrpSpPr>
          <p:grpSpPr>
            <a:xfrm>
              <a:off x="-894712" y="5045108"/>
              <a:ext cx="7669162" cy="1198931"/>
              <a:chOff x="4168876" y="4946992"/>
              <a:chExt cx="7669162" cy="1198931"/>
            </a:xfrm>
            <a:solidFill>
              <a:schemeClr val="bg2">
                <a:lumMod val="90000"/>
              </a:schemeClr>
            </a:solidFill>
          </p:grpSpPr>
          <p:sp useBgFill="1">
            <p:nvSpPr>
              <p:cNvPr id="56" name="Rounded Rectangle 55">
                <a:extLst>
                  <a:ext uri="{FF2B5EF4-FFF2-40B4-BE49-F238E27FC236}">
                    <a16:creationId xmlns:a16="http://schemas.microsoft.com/office/drawing/2014/main" id="{89EA5E48-16F6-D9FE-D907-511FE96E6977}"/>
                  </a:ext>
                </a:extLst>
              </p:cNvPr>
              <p:cNvSpPr/>
              <p:nvPr/>
            </p:nvSpPr>
            <p:spPr>
              <a:xfrm>
                <a:off x="4168876" y="4946992"/>
                <a:ext cx="7669162" cy="1198931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F93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T" dirty="0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F64930F9-55EB-CC8B-93F3-0F4DF550D36F}"/>
                  </a:ext>
                </a:extLst>
              </p:cNvPr>
              <p:cNvSpPr/>
              <p:nvPr/>
            </p:nvSpPr>
            <p:spPr>
              <a:xfrm>
                <a:off x="10697496" y="5089257"/>
                <a:ext cx="914400" cy="914400"/>
              </a:xfrm>
              <a:prstGeom prst="ellipse">
                <a:avLst/>
              </a:prstGeom>
              <a:solidFill>
                <a:srgbClr val="E9713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T" sz="2400" b="1" dirty="0">
                    <a:latin typeface="Montserrat" pitchFamily="2" charset="77"/>
                  </a:rPr>
                  <a:t>03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D6864DA-CC63-DAAC-7F11-0203F99F7AEA}"/>
                  </a:ext>
                </a:extLst>
              </p:cNvPr>
              <p:cNvSpPr txBox="1"/>
              <p:nvPr/>
            </p:nvSpPr>
            <p:spPr>
              <a:xfrm>
                <a:off x="6392944" y="5140587"/>
                <a:ext cx="2989007" cy="338554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IT" sz="1600" b="1" dirty="0">
                    <a:latin typeface="Montserrat" pitchFamily="2" charset="77"/>
                  </a:rPr>
                  <a:t>Scenario advanced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C147D37-212D-6C35-FF57-18E072262686}"/>
                  </a:ext>
                </a:extLst>
              </p:cNvPr>
              <p:cNvSpPr txBox="1"/>
              <p:nvPr/>
            </p:nvSpPr>
            <p:spPr>
              <a:xfrm>
                <a:off x="8003456" y="5448594"/>
                <a:ext cx="2144547" cy="64633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IT" sz="1200" dirty="0">
                    <a:latin typeface="Montserrat" pitchFamily="2" charset="77"/>
                  </a:rPr>
                  <a:t>• Sviluppo collaterali</a:t>
                </a:r>
              </a:p>
              <a:p>
                <a:r>
                  <a:rPr lang="en-IT" sz="1200" dirty="0">
                    <a:latin typeface="Montserrat" pitchFamily="2" charset="77"/>
                  </a:rPr>
                  <a:t>• Partnership</a:t>
                </a:r>
              </a:p>
              <a:p>
                <a:r>
                  <a:rPr lang="en-IT" sz="1200" dirty="0">
                    <a:latin typeface="Montserrat" pitchFamily="2" charset="77"/>
                  </a:rPr>
                  <a:t>• Nuovi servizi</a:t>
                </a:r>
              </a:p>
            </p:txBody>
          </p:sp>
        </p:grp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D4123376-586C-CC7A-F4D7-527B30048039}"/>
                </a:ext>
              </a:extLst>
            </p:cNvPr>
            <p:cNvSpPr/>
            <p:nvPr/>
          </p:nvSpPr>
          <p:spPr>
            <a:xfrm>
              <a:off x="5703012" y="5256479"/>
              <a:ext cx="776187" cy="776187"/>
            </a:xfrm>
            <a:prstGeom prst="ellipse">
              <a:avLst/>
            </a:prstGeom>
            <a:noFill/>
            <a:ln>
              <a:solidFill>
                <a:srgbClr val="FFC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sz="2400" b="1" dirty="0">
                <a:latin typeface="Montserrat" pitchFamily="2" charset="77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AF61AEA0-BFEA-FA1E-8421-D888014D1843}"/>
              </a:ext>
            </a:extLst>
          </p:cNvPr>
          <p:cNvGrpSpPr/>
          <p:nvPr/>
        </p:nvGrpSpPr>
        <p:grpSpPr>
          <a:xfrm>
            <a:off x="3667456" y="2841665"/>
            <a:ext cx="7669162" cy="1198931"/>
            <a:chOff x="-894712" y="2829534"/>
            <a:chExt cx="7669162" cy="1198931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256C8F6B-036A-263D-F0C1-C914426AB7C4}"/>
                </a:ext>
              </a:extLst>
            </p:cNvPr>
            <p:cNvGrpSpPr/>
            <p:nvPr/>
          </p:nvGrpSpPr>
          <p:grpSpPr>
            <a:xfrm>
              <a:off x="-894712" y="2829534"/>
              <a:ext cx="7669162" cy="1198931"/>
              <a:chOff x="4168876" y="2803462"/>
              <a:chExt cx="7669162" cy="1198931"/>
            </a:xfrm>
            <a:solidFill>
              <a:schemeClr val="bg2">
                <a:lumMod val="90000"/>
              </a:schemeClr>
            </a:solidFill>
          </p:grpSpPr>
          <p:sp useBgFill="1">
            <p:nvSpPr>
              <p:cNvPr id="51" name="Rounded Rectangle 50">
                <a:extLst>
                  <a:ext uri="{FF2B5EF4-FFF2-40B4-BE49-F238E27FC236}">
                    <a16:creationId xmlns:a16="http://schemas.microsoft.com/office/drawing/2014/main" id="{DCAFFA14-661C-4BDA-6B0A-464916335609}"/>
                  </a:ext>
                </a:extLst>
              </p:cNvPr>
              <p:cNvSpPr/>
              <p:nvPr/>
            </p:nvSpPr>
            <p:spPr>
              <a:xfrm>
                <a:off x="4168876" y="2803462"/>
                <a:ext cx="7669162" cy="1198931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F93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T" dirty="0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6FA8800C-2D4C-5417-1C6D-6C65A875246B}"/>
                  </a:ext>
                </a:extLst>
              </p:cNvPr>
              <p:cNvSpPr/>
              <p:nvPr/>
            </p:nvSpPr>
            <p:spPr>
              <a:xfrm>
                <a:off x="10697496" y="2945727"/>
                <a:ext cx="914400" cy="914400"/>
              </a:xfrm>
              <a:prstGeom prst="ellipse">
                <a:avLst/>
              </a:prstGeom>
              <a:solidFill>
                <a:srgbClr val="E9713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T" sz="2400" b="1" dirty="0">
                    <a:latin typeface="Montserrat" pitchFamily="2" charset="77"/>
                  </a:rPr>
                  <a:t>02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634154F-BFC6-A8DB-D3A7-BF90847EED2A}"/>
                  </a:ext>
                </a:extLst>
              </p:cNvPr>
              <p:cNvSpPr txBox="1"/>
              <p:nvPr/>
            </p:nvSpPr>
            <p:spPr>
              <a:xfrm>
                <a:off x="6392944" y="2997057"/>
                <a:ext cx="2989007" cy="338554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IT" sz="1600" b="1" dirty="0">
                    <a:latin typeface="Montserrat" pitchFamily="2" charset="77"/>
                  </a:rPr>
                  <a:t>Scenario baseline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6617622-3835-C1C7-A050-D502FE1FF3C0}"/>
                  </a:ext>
                </a:extLst>
              </p:cNvPr>
              <p:cNvSpPr txBox="1"/>
              <p:nvPr/>
            </p:nvSpPr>
            <p:spPr>
              <a:xfrm>
                <a:off x="8003457" y="3305064"/>
                <a:ext cx="2144547" cy="64633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IT" sz="1200" dirty="0">
                    <a:latin typeface="Montserrat" pitchFamily="2" charset="77"/>
                  </a:rPr>
                  <a:t>• Vantaggi competitivi</a:t>
                </a:r>
              </a:p>
              <a:p>
                <a:r>
                  <a:rPr lang="en-IT" sz="1200" dirty="0">
                    <a:latin typeface="Montserrat" pitchFamily="2" charset="77"/>
                  </a:rPr>
                  <a:t>• Drivers</a:t>
                </a:r>
              </a:p>
              <a:p>
                <a:r>
                  <a:rPr lang="en-IT" sz="1200" dirty="0">
                    <a:latin typeface="Montserrat" pitchFamily="2" charset="77"/>
                  </a:rPr>
                  <a:t>• Bilancio previsionale</a:t>
                </a:r>
              </a:p>
            </p:txBody>
          </p:sp>
        </p:grp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51E7F133-6ACB-2B13-4DE8-357F73700C4D}"/>
                </a:ext>
              </a:extLst>
            </p:cNvPr>
            <p:cNvSpPr/>
            <p:nvPr/>
          </p:nvSpPr>
          <p:spPr>
            <a:xfrm rot="12116646">
              <a:off x="5703013" y="3040905"/>
              <a:ext cx="776187" cy="776187"/>
            </a:xfrm>
            <a:prstGeom prst="ellipse">
              <a:avLst/>
            </a:prstGeom>
            <a:noFill/>
            <a:ln>
              <a:solidFill>
                <a:srgbClr val="FFC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sz="2400" b="1" dirty="0">
                <a:latin typeface="Montserrat" pitchFamily="2" charset="77"/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2243CB4D-7133-0F69-9CD1-3ABA97D1AA5B}"/>
              </a:ext>
            </a:extLst>
          </p:cNvPr>
          <p:cNvGrpSpPr/>
          <p:nvPr/>
        </p:nvGrpSpPr>
        <p:grpSpPr>
          <a:xfrm>
            <a:off x="3667456" y="638222"/>
            <a:ext cx="7669162" cy="1198931"/>
            <a:chOff x="-894712" y="612723"/>
            <a:chExt cx="7669162" cy="1198931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E14703E-D00E-C7A1-0F2F-8C0038A6C44A}"/>
                </a:ext>
              </a:extLst>
            </p:cNvPr>
            <p:cNvGrpSpPr/>
            <p:nvPr/>
          </p:nvGrpSpPr>
          <p:grpSpPr>
            <a:xfrm>
              <a:off x="-894712" y="612723"/>
              <a:ext cx="7669162" cy="1198931"/>
              <a:chOff x="4168876" y="615784"/>
              <a:chExt cx="7669162" cy="1198931"/>
            </a:xfrm>
            <a:solidFill>
              <a:schemeClr val="bg2">
                <a:lumMod val="90000"/>
              </a:schemeClr>
            </a:solidFill>
          </p:grpSpPr>
          <p:sp useBgFill="1"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CDE0A966-795E-5C95-C6E8-91F87A6AD6A6}"/>
                  </a:ext>
                </a:extLst>
              </p:cNvPr>
              <p:cNvSpPr/>
              <p:nvPr/>
            </p:nvSpPr>
            <p:spPr>
              <a:xfrm>
                <a:off x="4168876" y="615784"/>
                <a:ext cx="7669162" cy="1198931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F93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T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8D91409-9074-6D27-7E9D-23E1143A5974}"/>
                  </a:ext>
                </a:extLst>
              </p:cNvPr>
              <p:cNvSpPr txBox="1"/>
              <p:nvPr/>
            </p:nvSpPr>
            <p:spPr>
              <a:xfrm>
                <a:off x="6392944" y="809379"/>
                <a:ext cx="2989007" cy="338554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IT" sz="1600" b="1" dirty="0">
                    <a:latin typeface="Montserrat" pitchFamily="2" charset="77"/>
                  </a:rPr>
                  <a:t>Situazione</a:t>
                </a:r>
                <a:r>
                  <a:rPr lang="en-IT" sz="1600" b="1" dirty="0"/>
                  <a:t> </a:t>
                </a:r>
                <a:r>
                  <a:rPr lang="en-IT" sz="1600" b="1" dirty="0">
                    <a:latin typeface="Montserrat" pitchFamily="2" charset="77"/>
                  </a:rPr>
                  <a:t>attuale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39EB50F-F4E3-5978-DF66-060A5BBAEE3F}"/>
                  </a:ext>
                </a:extLst>
              </p:cNvPr>
              <p:cNvSpPr txBox="1"/>
              <p:nvPr/>
            </p:nvSpPr>
            <p:spPr>
              <a:xfrm>
                <a:off x="8003457" y="1117386"/>
                <a:ext cx="2144547" cy="64633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IT" sz="1200" dirty="0">
                    <a:latin typeface="Montserrat" pitchFamily="2" charset="77"/>
                  </a:rPr>
                  <a:t>• Numeri 2025</a:t>
                </a:r>
              </a:p>
              <a:p>
                <a:r>
                  <a:rPr lang="en-IT" sz="1200" dirty="0">
                    <a:latin typeface="Montserrat" pitchFamily="2" charset="77"/>
                  </a:rPr>
                  <a:t>• Business attuale</a:t>
                </a:r>
              </a:p>
              <a:p>
                <a:r>
                  <a:rPr lang="en-IT" sz="1200" dirty="0">
                    <a:latin typeface="Montserrat" pitchFamily="2" charset="77"/>
                  </a:rPr>
                  <a:t>• Analisi SWOT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6810D527-010B-935A-4711-DF61A960497D}"/>
                  </a:ext>
                </a:extLst>
              </p:cNvPr>
              <p:cNvSpPr/>
              <p:nvPr/>
            </p:nvSpPr>
            <p:spPr>
              <a:xfrm>
                <a:off x="10697496" y="756225"/>
                <a:ext cx="914400" cy="914400"/>
              </a:xfrm>
              <a:prstGeom prst="ellipse">
                <a:avLst/>
              </a:prstGeom>
              <a:solidFill>
                <a:srgbClr val="E9713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T" sz="2400" b="1" dirty="0">
                    <a:latin typeface="Montserrat" pitchFamily="2" charset="77"/>
                  </a:rPr>
                  <a:t>01</a:t>
                </a:r>
              </a:p>
            </p:txBody>
          </p:sp>
        </p:grp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51C62F9-C8D0-1FFA-B86A-76690BF49890}"/>
                </a:ext>
              </a:extLst>
            </p:cNvPr>
            <p:cNvSpPr/>
            <p:nvPr/>
          </p:nvSpPr>
          <p:spPr>
            <a:xfrm rot="11355175">
              <a:off x="5703014" y="827997"/>
              <a:ext cx="776187" cy="776187"/>
            </a:xfrm>
            <a:prstGeom prst="ellipse">
              <a:avLst/>
            </a:prstGeom>
            <a:noFill/>
            <a:ln>
              <a:solidFill>
                <a:srgbClr val="FFC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sz="2400" b="1" dirty="0">
                <a:latin typeface="Montserrat" pitchFamily="2" charset="77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8BD4FF38-F0C1-4EE2-59D2-61DC045D3BAD}"/>
              </a:ext>
            </a:extLst>
          </p:cNvPr>
          <p:cNvSpPr/>
          <p:nvPr/>
        </p:nvSpPr>
        <p:spPr>
          <a:xfrm>
            <a:off x="4388177" y="0"/>
            <a:ext cx="1395167" cy="2626733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2B0233F-5C7A-9FB6-282C-E0001AECCD6A}"/>
              </a:ext>
            </a:extLst>
          </p:cNvPr>
          <p:cNvSpPr/>
          <p:nvPr/>
        </p:nvSpPr>
        <p:spPr>
          <a:xfrm>
            <a:off x="4388177" y="2187678"/>
            <a:ext cx="1395167" cy="2626733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CD0DE50-9AB6-1B78-9167-073944765E0E}"/>
              </a:ext>
            </a:extLst>
          </p:cNvPr>
          <p:cNvSpPr/>
          <p:nvPr/>
        </p:nvSpPr>
        <p:spPr>
          <a:xfrm>
            <a:off x="4388177" y="4331208"/>
            <a:ext cx="1395167" cy="2626733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34BB4B7-409A-7369-F787-5D4BE3F38A1D}"/>
              </a:ext>
            </a:extLst>
          </p:cNvPr>
          <p:cNvGrpSpPr/>
          <p:nvPr/>
        </p:nvGrpSpPr>
        <p:grpSpPr>
          <a:xfrm>
            <a:off x="-644166" y="0"/>
            <a:ext cx="6130566" cy="6957941"/>
            <a:chOff x="-644166" y="0"/>
            <a:chExt cx="6130566" cy="6957941"/>
          </a:xfrm>
          <a:gradFill flip="none" rotWithShape="1">
            <a:gsLst>
              <a:gs pos="0">
                <a:srgbClr val="FF9300">
                  <a:shade val="30000"/>
                  <a:satMod val="115000"/>
                </a:srgbClr>
              </a:gs>
              <a:gs pos="50000">
                <a:srgbClr val="FF9300">
                  <a:shade val="67500"/>
                  <a:satMod val="115000"/>
                </a:srgbClr>
              </a:gs>
              <a:gs pos="100000">
                <a:srgbClr val="FF9300">
                  <a:shade val="100000"/>
                  <a:satMod val="115000"/>
                </a:srgbClr>
              </a:gs>
            </a:gsLst>
            <a:lin ang="0" scaled="1"/>
            <a:tileRect/>
          </a:gra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D0C3767-B261-2C63-8505-7FED43734971}"/>
                </a:ext>
              </a:extLst>
            </p:cNvPr>
            <p:cNvSpPr/>
            <p:nvPr/>
          </p:nvSpPr>
          <p:spPr>
            <a:xfrm>
              <a:off x="-644166" y="0"/>
              <a:ext cx="6130566" cy="262673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83687D6-3700-E420-28AE-FE2279643AC2}"/>
                </a:ext>
              </a:extLst>
            </p:cNvPr>
            <p:cNvSpPr/>
            <p:nvPr/>
          </p:nvSpPr>
          <p:spPr>
            <a:xfrm>
              <a:off x="-644166" y="2187678"/>
              <a:ext cx="6130566" cy="262673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3F28B15-EEB0-61C0-0127-F9686F98A033}"/>
                </a:ext>
              </a:extLst>
            </p:cNvPr>
            <p:cNvSpPr/>
            <p:nvPr/>
          </p:nvSpPr>
          <p:spPr>
            <a:xfrm>
              <a:off x="-644166" y="4331208"/>
              <a:ext cx="6130566" cy="262673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E26D078B-B9E4-9F16-BC39-CDCE5D51810E}"/>
              </a:ext>
            </a:extLst>
          </p:cNvPr>
          <p:cNvSpPr txBox="1"/>
          <p:nvPr/>
        </p:nvSpPr>
        <p:spPr>
          <a:xfrm>
            <a:off x="768300" y="1452433"/>
            <a:ext cx="33925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sz="4400" b="1" dirty="0">
                <a:solidFill>
                  <a:schemeClr val="bg1"/>
                </a:solidFill>
                <a:latin typeface="Montserrat" pitchFamily="2" charset="77"/>
              </a:rPr>
              <a:t>INDICE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79909AF-11D0-256B-DE13-F369E9D60C32}"/>
              </a:ext>
            </a:extLst>
          </p:cNvPr>
          <p:cNvGrpSpPr/>
          <p:nvPr/>
        </p:nvGrpSpPr>
        <p:grpSpPr>
          <a:xfrm>
            <a:off x="0" y="-2697"/>
            <a:ext cx="1395166" cy="1452434"/>
            <a:chOff x="0" y="10555"/>
            <a:chExt cx="1395166" cy="1452434"/>
          </a:xfrm>
        </p:grpSpPr>
        <p:sp>
          <p:nvSpPr>
            <p:cNvPr id="5" name="Half-frame 4">
              <a:extLst>
                <a:ext uri="{FF2B5EF4-FFF2-40B4-BE49-F238E27FC236}">
                  <a16:creationId xmlns:a16="http://schemas.microsoft.com/office/drawing/2014/main" id="{EED7B8C6-BAC8-A376-A4E3-90E4AE66F406}"/>
                </a:ext>
              </a:extLst>
            </p:cNvPr>
            <p:cNvSpPr/>
            <p:nvPr/>
          </p:nvSpPr>
          <p:spPr>
            <a:xfrm>
              <a:off x="0" y="10555"/>
              <a:ext cx="1395166" cy="1452434"/>
            </a:xfrm>
            <a:prstGeom prst="halfFrame">
              <a:avLst>
                <a:gd name="adj1" fmla="val 33333"/>
                <a:gd name="adj2" fmla="val 10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tx1"/>
                </a:solidFill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FAE4DC4-52FF-8456-7362-2520151641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755" y="27368"/>
              <a:ext cx="753461" cy="7793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964691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14094-9AD2-D360-5354-DB2B6837A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>
            <a:extLst>
              <a:ext uri="{FF2B5EF4-FFF2-40B4-BE49-F238E27FC236}">
                <a16:creationId xmlns:a16="http://schemas.microsoft.com/office/drawing/2014/main" id="{BDB94934-ABA7-F4CD-8533-0E2AC4BC14CB}"/>
              </a:ext>
            </a:extLst>
          </p:cNvPr>
          <p:cNvGrpSpPr/>
          <p:nvPr/>
        </p:nvGrpSpPr>
        <p:grpSpPr>
          <a:xfrm>
            <a:off x="3667456" y="5105023"/>
            <a:ext cx="7669162" cy="1198931"/>
            <a:chOff x="-894712" y="5045108"/>
            <a:chExt cx="7669162" cy="1198931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05138A91-D808-4C50-9A6F-8C68BD168CED}"/>
                </a:ext>
              </a:extLst>
            </p:cNvPr>
            <p:cNvGrpSpPr/>
            <p:nvPr/>
          </p:nvGrpSpPr>
          <p:grpSpPr>
            <a:xfrm>
              <a:off x="-894712" y="5045108"/>
              <a:ext cx="7669162" cy="1198931"/>
              <a:chOff x="4168876" y="4946992"/>
              <a:chExt cx="7669162" cy="1198931"/>
            </a:xfrm>
            <a:solidFill>
              <a:schemeClr val="bg2">
                <a:lumMod val="90000"/>
              </a:schemeClr>
            </a:solidFill>
          </p:grpSpPr>
          <p:sp useBgFill="1">
            <p:nvSpPr>
              <p:cNvPr id="56" name="Rounded Rectangle 55">
                <a:extLst>
                  <a:ext uri="{FF2B5EF4-FFF2-40B4-BE49-F238E27FC236}">
                    <a16:creationId xmlns:a16="http://schemas.microsoft.com/office/drawing/2014/main" id="{BD748BB2-0A89-78CA-5EE1-D115503169AB}"/>
                  </a:ext>
                </a:extLst>
              </p:cNvPr>
              <p:cNvSpPr/>
              <p:nvPr/>
            </p:nvSpPr>
            <p:spPr>
              <a:xfrm>
                <a:off x="4168876" y="4946992"/>
                <a:ext cx="7669162" cy="1198931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F93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T" dirty="0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81BC1290-5E8C-8E30-0AC0-8B8907541FCB}"/>
                  </a:ext>
                </a:extLst>
              </p:cNvPr>
              <p:cNvSpPr/>
              <p:nvPr/>
            </p:nvSpPr>
            <p:spPr>
              <a:xfrm>
                <a:off x="10697496" y="5089257"/>
                <a:ext cx="914400" cy="914400"/>
              </a:xfrm>
              <a:prstGeom prst="ellipse">
                <a:avLst/>
              </a:prstGeom>
              <a:solidFill>
                <a:srgbClr val="E9713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T" sz="2400" b="1" dirty="0">
                    <a:latin typeface="Montserrat" pitchFamily="2" charset="77"/>
                  </a:rPr>
                  <a:t>03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79D4143-98C0-1CFE-E78A-D531C7300297}"/>
                  </a:ext>
                </a:extLst>
              </p:cNvPr>
              <p:cNvSpPr txBox="1"/>
              <p:nvPr/>
            </p:nvSpPr>
            <p:spPr>
              <a:xfrm>
                <a:off x="6392944" y="5140587"/>
                <a:ext cx="2989007" cy="338554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IT" sz="1600" b="1" dirty="0">
                    <a:latin typeface="Montserrat" pitchFamily="2" charset="77"/>
                  </a:rPr>
                  <a:t>Scenario advanced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3E11A07-A7F6-4083-5BBC-AF736C27872B}"/>
                  </a:ext>
                </a:extLst>
              </p:cNvPr>
              <p:cNvSpPr txBox="1"/>
              <p:nvPr/>
            </p:nvSpPr>
            <p:spPr>
              <a:xfrm>
                <a:off x="8003456" y="5448594"/>
                <a:ext cx="2144547" cy="64633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IT" sz="1200" dirty="0">
                    <a:latin typeface="Montserrat" pitchFamily="2" charset="77"/>
                  </a:rPr>
                  <a:t>• Sviluppo collaterali</a:t>
                </a:r>
              </a:p>
              <a:p>
                <a:r>
                  <a:rPr lang="en-IT" sz="1200" dirty="0">
                    <a:latin typeface="Montserrat" pitchFamily="2" charset="77"/>
                  </a:rPr>
                  <a:t>• Partnership</a:t>
                </a:r>
              </a:p>
              <a:p>
                <a:r>
                  <a:rPr lang="en-IT" sz="1200" dirty="0">
                    <a:latin typeface="Montserrat" pitchFamily="2" charset="77"/>
                  </a:rPr>
                  <a:t>• Nuovi servizi</a:t>
                </a:r>
              </a:p>
            </p:txBody>
          </p:sp>
        </p:grp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BAA17AA6-ACD3-EB08-25C1-03EEABB007F4}"/>
                </a:ext>
              </a:extLst>
            </p:cNvPr>
            <p:cNvSpPr/>
            <p:nvPr/>
          </p:nvSpPr>
          <p:spPr>
            <a:xfrm rot="10800000">
              <a:off x="5703012" y="5256479"/>
              <a:ext cx="776187" cy="776187"/>
            </a:xfrm>
            <a:prstGeom prst="ellipse">
              <a:avLst/>
            </a:prstGeom>
            <a:noFill/>
            <a:ln>
              <a:solidFill>
                <a:srgbClr val="FFC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sz="2400" b="1" dirty="0">
                <a:latin typeface="Montserrat" pitchFamily="2" charset="77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57A8161-75F8-7A32-2362-12BB0F98C0E2}"/>
              </a:ext>
            </a:extLst>
          </p:cNvPr>
          <p:cNvGrpSpPr/>
          <p:nvPr/>
        </p:nvGrpSpPr>
        <p:grpSpPr>
          <a:xfrm>
            <a:off x="3667456" y="2841665"/>
            <a:ext cx="7669162" cy="1198931"/>
            <a:chOff x="-894712" y="2829534"/>
            <a:chExt cx="7669162" cy="1198931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98E0F2E6-2FFE-4C88-4435-42FAF5487550}"/>
                </a:ext>
              </a:extLst>
            </p:cNvPr>
            <p:cNvGrpSpPr/>
            <p:nvPr/>
          </p:nvGrpSpPr>
          <p:grpSpPr>
            <a:xfrm>
              <a:off x="-894712" y="2829534"/>
              <a:ext cx="7669162" cy="1198931"/>
              <a:chOff x="4168876" y="2803462"/>
              <a:chExt cx="7669162" cy="1198931"/>
            </a:xfrm>
            <a:solidFill>
              <a:schemeClr val="bg2">
                <a:lumMod val="90000"/>
              </a:schemeClr>
            </a:solidFill>
          </p:grpSpPr>
          <p:sp useBgFill="1">
            <p:nvSpPr>
              <p:cNvPr id="51" name="Rounded Rectangle 50">
                <a:extLst>
                  <a:ext uri="{FF2B5EF4-FFF2-40B4-BE49-F238E27FC236}">
                    <a16:creationId xmlns:a16="http://schemas.microsoft.com/office/drawing/2014/main" id="{128574D3-4D29-BC49-4EED-9CCB1F56BF6F}"/>
                  </a:ext>
                </a:extLst>
              </p:cNvPr>
              <p:cNvSpPr/>
              <p:nvPr/>
            </p:nvSpPr>
            <p:spPr>
              <a:xfrm>
                <a:off x="4168876" y="2803462"/>
                <a:ext cx="7669162" cy="1198931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F93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T" dirty="0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98DD55F3-9D14-E1B4-0F2D-95AB7CDB67EA}"/>
                  </a:ext>
                </a:extLst>
              </p:cNvPr>
              <p:cNvSpPr/>
              <p:nvPr/>
            </p:nvSpPr>
            <p:spPr>
              <a:xfrm>
                <a:off x="10697496" y="2945727"/>
                <a:ext cx="914400" cy="914400"/>
              </a:xfrm>
              <a:prstGeom prst="ellipse">
                <a:avLst/>
              </a:prstGeom>
              <a:solidFill>
                <a:srgbClr val="E9713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T" sz="2400" b="1" dirty="0">
                    <a:latin typeface="Montserrat" pitchFamily="2" charset="77"/>
                  </a:rPr>
                  <a:t>02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5CD3479-2A34-6DE8-4B74-C0653A71AF15}"/>
                  </a:ext>
                </a:extLst>
              </p:cNvPr>
              <p:cNvSpPr txBox="1"/>
              <p:nvPr/>
            </p:nvSpPr>
            <p:spPr>
              <a:xfrm>
                <a:off x="6392944" y="2997057"/>
                <a:ext cx="2989007" cy="338554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IT" sz="1600" b="1" dirty="0">
                    <a:latin typeface="Montserrat" pitchFamily="2" charset="77"/>
                  </a:rPr>
                  <a:t>Scenario baseline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77A87E9-C01B-A699-E30E-66D18F249E82}"/>
                  </a:ext>
                </a:extLst>
              </p:cNvPr>
              <p:cNvSpPr txBox="1"/>
              <p:nvPr/>
            </p:nvSpPr>
            <p:spPr>
              <a:xfrm>
                <a:off x="8003457" y="3305064"/>
                <a:ext cx="2144547" cy="64633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IT" sz="1200" dirty="0">
                    <a:latin typeface="Montserrat" pitchFamily="2" charset="77"/>
                  </a:rPr>
                  <a:t>• Vantaggi competitivi</a:t>
                </a:r>
              </a:p>
              <a:p>
                <a:r>
                  <a:rPr lang="en-IT" sz="1200" dirty="0">
                    <a:latin typeface="Montserrat" pitchFamily="2" charset="77"/>
                  </a:rPr>
                  <a:t>• Drivers</a:t>
                </a:r>
              </a:p>
              <a:p>
                <a:r>
                  <a:rPr lang="en-IT" sz="1200" dirty="0">
                    <a:latin typeface="Montserrat" pitchFamily="2" charset="77"/>
                  </a:rPr>
                  <a:t>• Bilancio previsionale</a:t>
                </a:r>
              </a:p>
            </p:txBody>
          </p:sp>
        </p:grp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80C4A1B1-4AB5-C91A-A9D0-5B341357F189}"/>
                </a:ext>
              </a:extLst>
            </p:cNvPr>
            <p:cNvSpPr/>
            <p:nvPr/>
          </p:nvSpPr>
          <p:spPr>
            <a:xfrm rot="12116646">
              <a:off x="5703013" y="3040905"/>
              <a:ext cx="776187" cy="776187"/>
            </a:xfrm>
            <a:prstGeom prst="ellipse">
              <a:avLst/>
            </a:prstGeom>
            <a:noFill/>
            <a:ln>
              <a:solidFill>
                <a:srgbClr val="FFC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sz="2400" b="1" dirty="0">
                <a:latin typeface="Montserrat" pitchFamily="2" charset="77"/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8BA5EF84-EF8D-15AD-A622-C34342003F28}"/>
              </a:ext>
            </a:extLst>
          </p:cNvPr>
          <p:cNvGrpSpPr/>
          <p:nvPr/>
        </p:nvGrpSpPr>
        <p:grpSpPr>
          <a:xfrm>
            <a:off x="3667456" y="638222"/>
            <a:ext cx="7669162" cy="1198931"/>
            <a:chOff x="-894712" y="612723"/>
            <a:chExt cx="7669162" cy="1198931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5FDFE68A-667B-021F-64BD-734C5293BDDC}"/>
                </a:ext>
              </a:extLst>
            </p:cNvPr>
            <p:cNvGrpSpPr/>
            <p:nvPr/>
          </p:nvGrpSpPr>
          <p:grpSpPr>
            <a:xfrm>
              <a:off x="-894712" y="612723"/>
              <a:ext cx="7669162" cy="1198931"/>
              <a:chOff x="4168876" y="615784"/>
              <a:chExt cx="7669162" cy="1198931"/>
            </a:xfrm>
            <a:solidFill>
              <a:schemeClr val="bg2">
                <a:lumMod val="90000"/>
              </a:schemeClr>
            </a:solidFill>
          </p:grpSpPr>
          <p:sp useBgFill="1"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1F060ACB-2D90-11BB-6DE4-9F8D2315CA62}"/>
                  </a:ext>
                </a:extLst>
              </p:cNvPr>
              <p:cNvSpPr/>
              <p:nvPr/>
            </p:nvSpPr>
            <p:spPr>
              <a:xfrm>
                <a:off x="4168876" y="615784"/>
                <a:ext cx="7669162" cy="1198931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F93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T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FE73D5A-84C3-DCB7-5D88-C723E94B1930}"/>
                  </a:ext>
                </a:extLst>
              </p:cNvPr>
              <p:cNvSpPr txBox="1"/>
              <p:nvPr/>
            </p:nvSpPr>
            <p:spPr>
              <a:xfrm>
                <a:off x="6392944" y="809379"/>
                <a:ext cx="2989007" cy="338554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IT" sz="1600" b="1" dirty="0">
                    <a:latin typeface="Montserrat" pitchFamily="2" charset="77"/>
                  </a:rPr>
                  <a:t>Situazione</a:t>
                </a:r>
                <a:r>
                  <a:rPr lang="en-IT" sz="1600" b="1" dirty="0"/>
                  <a:t> </a:t>
                </a:r>
                <a:r>
                  <a:rPr lang="en-IT" sz="1600" b="1" dirty="0">
                    <a:latin typeface="Montserrat" pitchFamily="2" charset="77"/>
                  </a:rPr>
                  <a:t>attuale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04DB726-9E31-BBA8-6ADD-C9884A352C9E}"/>
                  </a:ext>
                </a:extLst>
              </p:cNvPr>
              <p:cNvSpPr txBox="1"/>
              <p:nvPr/>
            </p:nvSpPr>
            <p:spPr>
              <a:xfrm>
                <a:off x="8003457" y="1117386"/>
                <a:ext cx="2144547" cy="64633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IT" sz="1200" dirty="0">
                    <a:latin typeface="Montserrat" pitchFamily="2" charset="77"/>
                  </a:rPr>
                  <a:t>• Numeri 2025</a:t>
                </a:r>
              </a:p>
              <a:p>
                <a:r>
                  <a:rPr lang="en-IT" sz="1200" dirty="0">
                    <a:latin typeface="Montserrat" pitchFamily="2" charset="77"/>
                  </a:rPr>
                  <a:t>• Business attuale</a:t>
                </a:r>
              </a:p>
              <a:p>
                <a:r>
                  <a:rPr lang="en-IT" sz="1200" dirty="0">
                    <a:latin typeface="Montserrat" pitchFamily="2" charset="77"/>
                  </a:rPr>
                  <a:t>• Analisi SWOT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E7A1388-AA46-3D16-B947-48CDC51796C2}"/>
                  </a:ext>
                </a:extLst>
              </p:cNvPr>
              <p:cNvSpPr/>
              <p:nvPr/>
            </p:nvSpPr>
            <p:spPr>
              <a:xfrm>
                <a:off x="10697496" y="756225"/>
                <a:ext cx="914400" cy="914400"/>
              </a:xfrm>
              <a:prstGeom prst="ellipse">
                <a:avLst/>
              </a:prstGeom>
              <a:solidFill>
                <a:srgbClr val="E9713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T" sz="2400" b="1" dirty="0">
                    <a:latin typeface="Montserrat" pitchFamily="2" charset="77"/>
                  </a:rPr>
                  <a:t>01</a:t>
                </a:r>
              </a:p>
            </p:txBody>
          </p:sp>
        </p:grp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ECF02BF7-CA9A-0C9F-4622-DA18ABB494A6}"/>
                </a:ext>
              </a:extLst>
            </p:cNvPr>
            <p:cNvSpPr/>
            <p:nvPr/>
          </p:nvSpPr>
          <p:spPr>
            <a:xfrm rot="11355175">
              <a:off x="5703014" y="827997"/>
              <a:ext cx="776187" cy="776187"/>
            </a:xfrm>
            <a:prstGeom prst="ellipse">
              <a:avLst/>
            </a:prstGeom>
            <a:noFill/>
            <a:ln>
              <a:solidFill>
                <a:srgbClr val="FFC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sz="2400" b="1" dirty="0">
                <a:latin typeface="Montserrat" pitchFamily="2" charset="77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72B3BF05-DEEF-C84C-85E3-3E6E57C31410}"/>
              </a:ext>
            </a:extLst>
          </p:cNvPr>
          <p:cNvSpPr/>
          <p:nvPr/>
        </p:nvSpPr>
        <p:spPr>
          <a:xfrm>
            <a:off x="4388177" y="0"/>
            <a:ext cx="1395167" cy="2626733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593594C-7D7F-BBBD-FA1D-9460AFC654C9}"/>
              </a:ext>
            </a:extLst>
          </p:cNvPr>
          <p:cNvSpPr/>
          <p:nvPr/>
        </p:nvSpPr>
        <p:spPr>
          <a:xfrm>
            <a:off x="4388177" y="2187678"/>
            <a:ext cx="1395167" cy="2626733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0EA071C-E6C5-3ED3-9EBB-68908418E333}"/>
              </a:ext>
            </a:extLst>
          </p:cNvPr>
          <p:cNvSpPr/>
          <p:nvPr/>
        </p:nvSpPr>
        <p:spPr>
          <a:xfrm>
            <a:off x="4388177" y="4331208"/>
            <a:ext cx="1395167" cy="2626733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6387994-D26E-50F4-FBEA-25CFC66362AC}"/>
              </a:ext>
            </a:extLst>
          </p:cNvPr>
          <p:cNvGrpSpPr/>
          <p:nvPr/>
        </p:nvGrpSpPr>
        <p:grpSpPr>
          <a:xfrm>
            <a:off x="-644166" y="0"/>
            <a:ext cx="6130566" cy="6957941"/>
            <a:chOff x="-644166" y="0"/>
            <a:chExt cx="6130566" cy="6957941"/>
          </a:xfrm>
          <a:gradFill flip="none" rotWithShape="1">
            <a:gsLst>
              <a:gs pos="0">
                <a:srgbClr val="FF9300">
                  <a:shade val="30000"/>
                  <a:satMod val="115000"/>
                </a:srgbClr>
              </a:gs>
              <a:gs pos="50000">
                <a:srgbClr val="FF9300">
                  <a:shade val="67500"/>
                  <a:satMod val="115000"/>
                </a:srgbClr>
              </a:gs>
              <a:gs pos="100000">
                <a:srgbClr val="FF9300">
                  <a:shade val="100000"/>
                  <a:satMod val="115000"/>
                </a:srgbClr>
              </a:gs>
            </a:gsLst>
            <a:lin ang="0" scaled="1"/>
            <a:tileRect/>
          </a:gra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5A65BA4-868A-DA9D-FEB2-48DC1FAD0CAD}"/>
                </a:ext>
              </a:extLst>
            </p:cNvPr>
            <p:cNvSpPr/>
            <p:nvPr/>
          </p:nvSpPr>
          <p:spPr>
            <a:xfrm>
              <a:off x="-644166" y="0"/>
              <a:ext cx="6130566" cy="262673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5DB7CB41-E23D-66FC-C633-A5D90C939612}"/>
                </a:ext>
              </a:extLst>
            </p:cNvPr>
            <p:cNvSpPr/>
            <p:nvPr/>
          </p:nvSpPr>
          <p:spPr>
            <a:xfrm>
              <a:off x="-644166" y="2187678"/>
              <a:ext cx="6130566" cy="262673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71ABBD34-D265-FF8E-B84B-0CE01B81F2D6}"/>
                </a:ext>
              </a:extLst>
            </p:cNvPr>
            <p:cNvSpPr/>
            <p:nvPr/>
          </p:nvSpPr>
          <p:spPr>
            <a:xfrm>
              <a:off x="-644166" y="4331208"/>
              <a:ext cx="6130566" cy="262673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2A242D36-DE06-0C1D-ABE3-41512946490D}"/>
              </a:ext>
            </a:extLst>
          </p:cNvPr>
          <p:cNvSpPr txBox="1"/>
          <p:nvPr/>
        </p:nvSpPr>
        <p:spPr>
          <a:xfrm>
            <a:off x="768300" y="1452433"/>
            <a:ext cx="33925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sz="4400" b="1" dirty="0">
                <a:solidFill>
                  <a:schemeClr val="bg1"/>
                </a:solidFill>
                <a:latin typeface="Montserrat" pitchFamily="2" charset="77"/>
              </a:rPr>
              <a:t>INDICE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16048A7-E0FF-82EC-00D8-F11F27B9CFEA}"/>
              </a:ext>
            </a:extLst>
          </p:cNvPr>
          <p:cNvGrpSpPr/>
          <p:nvPr/>
        </p:nvGrpSpPr>
        <p:grpSpPr>
          <a:xfrm>
            <a:off x="0" y="-2697"/>
            <a:ext cx="1395166" cy="1452434"/>
            <a:chOff x="0" y="10555"/>
            <a:chExt cx="1395166" cy="1452434"/>
          </a:xfrm>
        </p:grpSpPr>
        <p:sp>
          <p:nvSpPr>
            <p:cNvPr id="4" name="Half-frame 3">
              <a:extLst>
                <a:ext uri="{FF2B5EF4-FFF2-40B4-BE49-F238E27FC236}">
                  <a16:creationId xmlns:a16="http://schemas.microsoft.com/office/drawing/2014/main" id="{4695C4F5-D787-FF50-BA36-7D920D6361B1}"/>
                </a:ext>
              </a:extLst>
            </p:cNvPr>
            <p:cNvSpPr/>
            <p:nvPr/>
          </p:nvSpPr>
          <p:spPr>
            <a:xfrm>
              <a:off x="0" y="10555"/>
              <a:ext cx="1395166" cy="1452434"/>
            </a:xfrm>
            <a:prstGeom prst="halfFrame">
              <a:avLst>
                <a:gd name="adj1" fmla="val 33333"/>
                <a:gd name="adj2" fmla="val 10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tx1"/>
                </a:solidFill>
              </a:endParaRPr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F8DECE3D-6AB9-34CC-4CAC-7660022406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755" y="27368"/>
              <a:ext cx="753461" cy="7793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534487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A7414-FF15-EE42-6ADC-D3420926F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>
            <a:extLst>
              <a:ext uri="{FF2B5EF4-FFF2-40B4-BE49-F238E27FC236}">
                <a16:creationId xmlns:a16="http://schemas.microsoft.com/office/drawing/2014/main" id="{25BF181E-E94F-1906-7069-FA0E60022B8E}"/>
              </a:ext>
            </a:extLst>
          </p:cNvPr>
          <p:cNvGrpSpPr/>
          <p:nvPr/>
        </p:nvGrpSpPr>
        <p:grpSpPr>
          <a:xfrm>
            <a:off x="-894712" y="5045108"/>
            <a:ext cx="7669162" cy="1198931"/>
            <a:chOff x="-894712" y="5045108"/>
            <a:chExt cx="7669162" cy="1198931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5F4F1C17-0563-E5AA-63E1-AD781CAE38B9}"/>
                </a:ext>
              </a:extLst>
            </p:cNvPr>
            <p:cNvGrpSpPr/>
            <p:nvPr/>
          </p:nvGrpSpPr>
          <p:grpSpPr>
            <a:xfrm>
              <a:off x="-894712" y="5045108"/>
              <a:ext cx="7669162" cy="1198931"/>
              <a:chOff x="4168876" y="4946992"/>
              <a:chExt cx="7669162" cy="1198931"/>
            </a:xfrm>
            <a:solidFill>
              <a:schemeClr val="bg2">
                <a:lumMod val="90000"/>
              </a:schemeClr>
            </a:solidFill>
          </p:grpSpPr>
          <p:sp useBgFill="1">
            <p:nvSpPr>
              <p:cNvPr id="56" name="Rounded Rectangle 55">
                <a:extLst>
                  <a:ext uri="{FF2B5EF4-FFF2-40B4-BE49-F238E27FC236}">
                    <a16:creationId xmlns:a16="http://schemas.microsoft.com/office/drawing/2014/main" id="{5CDB2172-6EBE-F6A4-77E7-8672EBEAA52B}"/>
                  </a:ext>
                </a:extLst>
              </p:cNvPr>
              <p:cNvSpPr/>
              <p:nvPr/>
            </p:nvSpPr>
            <p:spPr>
              <a:xfrm>
                <a:off x="4168876" y="4946992"/>
                <a:ext cx="7669162" cy="1198931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F93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T" dirty="0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1B2A8A48-0EC0-9DA1-A9C1-B00B50352666}"/>
                  </a:ext>
                </a:extLst>
              </p:cNvPr>
              <p:cNvSpPr/>
              <p:nvPr/>
            </p:nvSpPr>
            <p:spPr>
              <a:xfrm>
                <a:off x="10697496" y="5089257"/>
                <a:ext cx="914400" cy="914400"/>
              </a:xfrm>
              <a:prstGeom prst="ellipse">
                <a:avLst/>
              </a:prstGeom>
              <a:solidFill>
                <a:srgbClr val="E9713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T" sz="2400" b="1" dirty="0">
                    <a:latin typeface="Montserrat" pitchFamily="2" charset="77"/>
                  </a:rPr>
                  <a:t>03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1E7070D-5BAC-F952-0707-C80B9924B3A1}"/>
                  </a:ext>
                </a:extLst>
              </p:cNvPr>
              <p:cNvSpPr txBox="1"/>
              <p:nvPr/>
            </p:nvSpPr>
            <p:spPr>
              <a:xfrm>
                <a:off x="6392944" y="5140587"/>
                <a:ext cx="2989007" cy="338554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IT" sz="1600" b="1" dirty="0">
                    <a:latin typeface="Montserrat" pitchFamily="2" charset="77"/>
                  </a:rPr>
                  <a:t>Scenario advanced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65EE903-FDB6-B7E8-0C2F-6BD076ADCA85}"/>
                  </a:ext>
                </a:extLst>
              </p:cNvPr>
              <p:cNvSpPr txBox="1"/>
              <p:nvPr/>
            </p:nvSpPr>
            <p:spPr>
              <a:xfrm>
                <a:off x="8003456" y="5448594"/>
                <a:ext cx="2144547" cy="64633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IT" sz="1200" dirty="0">
                    <a:latin typeface="Montserrat" pitchFamily="2" charset="77"/>
                  </a:rPr>
                  <a:t>• Sviluppo collaterali</a:t>
                </a:r>
              </a:p>
              <a:p>
                <a:r>
                  <a:rPr lang="en-IT" sz="1200" dirty="0">
                    <a:latin typeface="Montserrat" pitchFamily="2" charset="77"/>
                  </a:rPr>
                  <a:t>• Partnership</a:t>
                </a:r>
              </a:p>
              <a:p>
                <a:r>
                  <a:rPr lang="en-IT" sz="1200" dirty="0">
                    <a:latin typeface="Montserrat" pitchFamily="2" charset="77"/>
                  </a:rPr>
                  <a:t>• Nuovi servizi</a:t>
                </a:r>
              </a:p>
            </p:txBody>
          </p:sp>
        </p:grp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AC439E00-74C5-52A2-869C-673EB00F14B4}"/>
                </a:ext>
              </a:extLst>
            </p:cNvPr>
            <p:cNvSpPr/>
            <p:nvPr/>
          </p:nvSpPr>
          <p:spPr>
            <a:xfrm>
              <a:off x="5703012" y="5256479"/>
              <a:ext cx="776187" cy="776187"/>
            </a:xfrm>
            <a:prstGeom prst="ellipse">
              <a:avLst/>
            </a:prstGeom>
            <a:noFill/>
            <a:ln>
              <a:solidFill>
                <a:srgbClr val="FFC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sz="2400" b="1" dirty="0">
                <a:latin typeface="Montserrat" pitchFamily="2" charset="77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C67B0B7-7229-4AFA-2050-D91BBE939F2A}"/>
              </a:ext>
            </a:extLst>
          </p:cNvPr>
          <p:cNvGrpSpPr/>
          <p:nvPr/>
        </p:nvGrpSpPr>
        <p:grpSpPr>
          <a:xfrm>
            <a:off x="-894712" y="2829534"/>
            <a:ext cx="7669162" cy="1198931"/>
            <a:chOff x="-894712" y="2829534"/>
            <a:chExt cx="7669162" cy="1198931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DF0F49EF-B3DB-35B5-3B17-7D197B6CAFBF}"/>
                </a:ext>
              </a:extLst>
            </p:cNvPr>
            <p:cNvGrpSpPr/>
            <p:nvPr/>
          </p:nvGrpSpPr>
          <p:grpSpPr>
            <a:xfrm>
              <a:off x="-894712" y="2829534"/>
              <a:ext cx="7669162" cy="1198931"/>
              <a:chOff x="4168876" y="2803462"/>
              <a:chExt cx="7669162" cy="1198931"/>
            </a:xfrm>
            <a:solidFill>
              <a:schemeClr val="bg2">
                <a:lumMod val="90000"/>
              </a:schemeClr>
            </a:solidFill>
          </p:grpSpPr>
          <p:sp useBgFill="1">
            <p:nvSpPr>
              <p:cNvPr id="51" name="Rounded Rectangle 50">
                <a:extLst>
                  <a:ext uri="{FF2B5EF4-FFF2-40B4-BE49-F238E27FC236}">
                    <a16:creationId xmlns:a16="http://schemas.microsoft.com/office/drawing/2014/main" id="{6A704238-9A3F-68C6-3F42-1049B6FDE24D}"/>
                  </a:ext>
                </a:extLst>
              </p:cNvPr>
              <p:cNvSpPr/>
              <p:nvPr/>
            </p:nvSpPr>
            <p:spPr>
              <a:xfrm>
                <a:off x="4168876" y="2803462"/>
                <a:ext cx="7669162" cy="1198931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F93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T" dirty="0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99E444D6-77AC-F5A7-8343-F322102BC768}"/>
                  </a:ext>
                </a:extLst>
              </p:cNvPr>
              <p:cNvSpPr/>
              <p:nvPr/>
            </p:nvSpPr>
            <p:spPr>
              <a:xfrm>
                <a:off x="10697496" y="2945727"/>
                <a:ext cx="914400" cy="914400"/>
              </a:xfrm>
              <a:prstGeom prst="ellipse">
                <a:avLst/>
              </a:prstGeom>
              <a:solidFill>
                <a:srgbClr val="E9713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T" sz="2400" b="1" dirty="0">
                    <a:latin typeface="Montserrat" pitchFamily="2" charset="77"/>
                  </a:rPr>
                  <a:t>02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EC656E1-C30F-28EA-852D-1E8D530A5436}"/>
                  </a:ext>
                </a:extLst>
              </p:cNvPr>
              <p:cNvSpPr txBox="1"/>
              <p:nvPr/>
            </p:nvSpPr>
            <p:spPr>
              <a:xfrm>
                <a:off x="6392944" y="2997057"/>
                <a:ext cx="2989007" cy="338554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IT" sz="1600" b="1" dirty="0">
                    <a:latin typeface="Montserrat" pitchFamily="2" charset="77"/>
                  </a:rPr>
                  <a:t>Scenario baseline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421C037-0378-CDDD-629F-5FBFA3BB8916}"/>
                  </a:ext>
                </a:extLst>
              </p:cNvPr>
              <p:cNvSpPr txBox="1"/>
              <p:nvPr/>
            </p:nvSpPr>
            <p:spPr>
              <a:xfrm>
                <a:off x="8003457" y="3305064"/>
                <a:ext cx="2144547" cy="64633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IT" sz="1200" dirty="0">
                    <a:latin typeface="Montserrat" pitchFamily="2" charset="77"/>
                  </a:rPr>
                  <a:t>• Vantaggi competitivi</a:t>
                </a:r>
              </a:p>
              <a:p>
                <a:r>
                  <a:rPr lang="en-IT" sz="1200" dirty="0">
                    <a:latin typeface="Montserrat" pitchFamily="2" charset="77"/>
                  </a:rPr>
                  <a:t>• Drivers</a:t>
                </a:r>
              </a:p>
              <a:p>
                <a:r>
                  <a:rPr lang="en-IT" sz="1200" dirty="0">
                    <a:latin typeface="Montserrat" pitchFamily="2" charset="77"/>
                  </a:rPr>
                  <a:t>• Bilancio previsionale</a:t>
                </a:r>
              </a:p>
            </p:txBody>
          </p:sp>
        </p:grp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24A8F7E4-F6B3-AF81-7101-37ED0CEE3C4A}"/>
                </a:ext>
              </a:extLst>
            </p:cNvPr>
            <p:cNvSpPr/>
            <p:nvPr/>
          </p:nvSpPr>
          <p:spPr>
            <a:xfrm>
              <a:off x="5703013" y="3040905"/>
              <a:ext cx="776187" cy="776187"/>
            </a:xfrm>
            <a:prstGeom prst="ellipse">
              <a:avLst/>
            </a:prstGeom>
            <a:noFill/>
            <a:ln>
              <a:solidFill>
                <a:srgbClr val="FFC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sz="2400" b="1" dirty="0">
                <a:latin typeface="Montserrat" pitchFamily="2" charset="77"/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42BF5409-C048-81D1-4116-D5C1BA0BC57A}"/>
              </a:ext>
            </a:extLst>
          </p:cNvPr>
          <p:cNvGrpSpPr/>
          <p:nvPr/>
        </p:nvGrpSpPr>
        <p:grpSpPr>
          <a:xfrm>
            <a:off x="-894712" y="612723"/>
            <a:ext cx="7669162" cy="1198931"/>
            <a:chOff x="-894712" y="612723"/>
            <a:chExt cx="7669162" cy="1198931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AF0367EE-7853-89A0-1B59-BCA9DC1165E9}"/>
                </a:ext>
              </a:extLst>
            </p:cNvPr>
            <p:cNvGrpSpPr/>
            <p:nvPr/>
          </p:nvGrpSpPr>
          <p:grpSpPr>
            <a:xfrm>
              <a:off x="-894712" y="612723"/>
              <a:ext cx="7669162" cy="1198931"/>
              <a:chOff x="4168876" y="615784"/>
              <a:chExt cx="7669162" cy="1198931"/>
            </a:xfrm>
            <a:solidFill>
              <a:schemeClr val="bg2">
                <a:lumMod val="90000"/>
              </a:schemeClr>
            </a:solidFill>
          </p:grpSpPr>
          <p:sp useBgFill="1"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AB0EA215-E37F-92ED-12AD-407DAC1B8CFD}"/>
                  </a:ext>
                </a:extLst>
              </p:cNvPr>
              <p:cNvSpPr/>
              <p:nvPr/>
            </p:nvSpPr>
            <p:spPr>
              <a:xfrm>
                <a:off x="4168876" y="615784"/>
                <a:ext cx="7669162" cy="1198931"/>
              </a:xfrm>
              <a:prstGeom prst="roundRect">
                <a:avLst>
                  <a:gd name="adj" fmla="val 50000"/>
                </a:avLst>
              </a:prstGeom>
              <a:grpFill/>
              <a:ln>
                <a:solidFill>
                  <a:srgbClr val="FF93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T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AE2E1EA-A4FE-EE44-5206-03005940D8CD}"/>
                  </a:ext>
                </a:extLst>
              </p:cNvPr>
              <p:cNvSpPr txBox="1"/>
              <p:nvPr/>
            </p:nvSpPr>
            <p:spPr>
              <a:xfrm>
                <a:off x="6392944" y="809379"/>
                <a:ext cx="2989007" cy="338554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IT" sz="1600" b="1" dirty="0">
                    <a:latin typeface="Montserrat" pitchFamily="2" charset="77"/>
                  </a:rPr>
                  <a:t>Situazione</a:t>
                </a:r>
                <a:r>
                  <a:rPr lang="en-IT" sz="1600" b="1" dirty="0"/>
                  <a:t> </a:t>
                </a:r>
                <a:r>
                  <a:rPr lang="en-IT" sz="1600" b="1" dirty="0">
                    <a:latin typeface="Montserrat" pitchFamily="2" charset="77"/>
                  </a:rPr>
                  <a:t>attuale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49893EA-CDD2-99DF-A2CA-EE102CBAF9C6}"/>
                  </a:ext>
                </a:extLst>
              </p:cNvPr>
              <p:cNvSpPr txBox="1"/>
              <p:nvPr/>
            </p:nvSpPr>
            <p:spPr>
              <a:xfrm>
                <a:off x="8003457" y="1117386"/>
                <a:ext cx="2144547" cy="64633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IT" sz="1200" dirty="0">
                    <a:latin typeface="Montserrat" pitchFamily="2" charset="77"/>
                  </a:rPr>
                  <a:t>• Numeri 2025</a:t>
                </a:r>
              </a:p>
              <a:p>
                <a:r>
                  <a:rPr lang="en-IT" sz="1200" dirty="0">
                    <a:latin typeface="Montserrat" pitchFamily="2" charset="77"/>
                  </a:rPr>
                  <a:t>• Business attuale</a:t>
                </a:r>
              </a:p>
              <a:p>
                <a:r>
                  <a:rPr lang="en-IT" sz="1200" dirty="0">
                    <a:latin typeface="Montserrat" pitchFamily="2" charset="77"/>
                  </a:rPr>
                  <a:t>• Analisi SWOT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8A49123-A8DD-4CBF-C6BC-A244737397A4}"/>
                  </a:ext>
                </a:extLst>
              </p:cNvPr>
              <p:cNvSpPr/>
              <p:nvPr/>
            </p:nvSpPr>
            <p:spPr>
              <a:xfrm>
                <a:off x="10697496" y="756225"/>
                <a:ext cx="914400" cy="914400"/>
              </a:xfrm>
              <a:prstGeom prst="ellipse">
                <a:avLst/>
              </a:prstGeom>
              <a:solidFill>
                <a:srgbClr val="E9713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T" sz="2400" b="1" dirty="0">
                    <a:latin typeface="Montserrat" pitchFamily="2" charset="77"/>
                  </a:rPr>
                  <a:t>01</a:t>
                </a:r>
              </a:p>
            </p:txBody>
          </p:sp>
        </p:grp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3A99956D-91CB-F5BA-DD74-A599DF19E6C4}"/>
                </a:ext>
              </a:extLst>
            </p:cNvPr>
            <p:cNvSpPr/>
            <p:nvPr/>
          </p:nvSpPr>
          <p:spPr>
            <a:xfrm>
              <a:off x="5703014" y="827997"/>
              <a:ext cx="776187" cy="776187"/>
            </a:xfrm>
            <a:prstGeom prst="ellipse">
              <a:avLst/>
            </a:prstGeom>
            <a:noFill/>
            <a:ln>
              <a:solidFill>
                <a:srgbClr val="FFC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sz="2400" b="1" dirty="0">
                <a:latin typeface="Montserrat" pitchFamily="2" charset="77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CC5944A-508B-62F6-80A8-B72B2DB3D7DC}"/>
              </a:ext>
            </a:extLst>
          </p:cNvPr>
          <p:cNvSpPr/>
          <p:nvPr/>
        </p:nvSpPr>
        <p:spPr>
          <a:xfrm>
            <a:off x="4388177" y="0"/>
            <a:ext cx="1395167" cy="2626733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D85201E-6FFF-706A-A294-CF5F28FB6AAE}"/>
              </a:ext>
            </a:extLst>
          </p:cNvPr>
          <p:cNvSpPr/>
          <p:nvPr/>
        </p:nvSpPr>
        <p:spPr>
          <a:xfrm>
            <a:off x="4388177" y="2187678"/>
            <a:ext cx="1395167" cy="2626733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2718AC9-DCD5-6172-1A40-51CBDD540BDE}"/>
              </a:ext>
            </a:extLst>
          </p:cNvPr>
          <p:cNvSpPr/>
          <p:nvPr/>
        </p:nvSpPr>
        <p:spPr>
          <a:xfrm>
            <a:off x="4388177" y="4331208"/>
            <a:ext cx="1395167" cy="2626733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2BED6D6-3CE1-1474-8BD9-83C905E49F39}"/>
              </a:ext>
            </a:extLst>
          </p:cNvPr>
          <p:cNvGrpSpPr/>
          <p:nvPr/>
        </p:nvGrpSpPr>
        <p:grpSpPr>
          <a:xfrm>
            <a:off x="-644166" y="0"/>
            <a:ext cx="6130566" cy="6957941"/>
            <a:chOff x="-644166" y="0"/>
            <a:chExt cx="6130566" cy="6957941"/>
          </a:xfrm>
          <a:gradFill flip="none" rotWithShape="1">
            <a:gsLst>
              <a:gs pos="0">
                <a:srgbClr val="FF9300">
                  <a:shade val="30000"/>
                  <a:satMod val="115000"/>
                </a:srgbClr>
              </a:gs>
              <a:gs pos="50000">
                <a:srgbClr val="FF9300">
                  <a:shade val="67500"/>
                  <a:satMod val="115000"/>
                </a:srgbClr>
              </a:gs>
              <a:gs pos="100000">
                <a:srgbClr val="FF9300">
                  <a:shade val="100000"/>
                  <a:satMod val="115000"/>
                </a:srgbClr>
              </a:gs>
            </a:gsLst>
            <a:lin ang="0" scaled="1"/>
            <a:tileRect/>
          </a:gra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F77957-E055-49DF-BC79-E4D53A1DE38C}"/>
                </a:ext>
              </a:extLst>
            </p:cNvPr>
            <p:cNvSpPr/>
            <p:nvPr/>
          </p:nvSpPr>
          <p:spPr>
            <a:xfrm>
              <a:off x="-644166" y="0"/>
              <a:ext cx="6130566" cy="262673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34FDB79-F0DE-6D56-7B91-BF5456C23780}"/>
                </a:ext>
              </a:extLst>
            </p:cNvPr>
            <p:cNvSpPr/>
            <p:nvPr/>
          </p:nvSpPr>
          <p:spPr>
            <a:xfrm>
              <a:off x="-644166" y="2187678"/>
              <a:ext cx="6130566" cy="262673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DFDF958-330E-D046-38FF-E325A675CCDC}"/>
                </a:ext>
              </a:extLst>
            </p:cNvPr>
            <p:cNvSpPr/>
            <p:nvPr/>
          </p:nvSpPr>
          <p:spPr>
            <a:xfrm>
              <a:off x="-644166" y="4331208"/>
              <a:ext cx="6130566" cy="262673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FCEEAA13-04ED-C173-7AEC-A18EE62AD6CF}"/>
              </a:ext>
            </a:extLst>
          </p:cNvPr>
          <p:cNvSpPr txBox="1"/>
          <p:nvPr/>
        </p:nvSpPr>
        <p:spPr>
          <a:xfrm>
            <a:off x="768300" y="1452433"/>
            <a:ext cx="33925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sz="4400" b="1" dirty="0">
                <a:solidFill>
                  <a:schemeClr val="bg1"/>
                </a:solidFill>
                <a:latin typeface="Montserrat" pitchFamily="2" charset="77"/>
              </a:rPr>
              <a:t>INDICE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863C99F-9341-3480-FF05-662A42B1223B}"/>
              </a:ext>
            </a:extLst>
          </p:cNvPr>
          <p:cNvGrpSpPr/>
          <p:nvPr/>
        </p:nvGrpSpPr>
        <p:grpSpPr>
          <a:xfrm>
            <a:off x="0" y="-2697"/>
            <a:ext cx="1395166" cy="1452434"/>
            <a:chOff x="0" y="10555"/>
            <a:chExt cx="1395166" cy="1452434"/>
          </a:xfrm>
        </p:grpSpPr>
        <p:sp>
          <p:nvSpPr>
            <p:cNvPr id="79" name="Half-frame 78">
              <a:extLst>
                <a:ext uri="{FF2B5EF4-FFF2-40B4-BE49-F238E27FC236}">
                  <a16:creationId xmlns:a16="http://schemas.microsoft.com/office/drawing/2014/main" id="{EB04509F-122E-BD07-AD11-1133794EA062}"/>
                </a:ext>
              </a:extLst>
            </p:cNvPr>
            <p:cNvSpPr/>
            <p:nvPr/>
          </p:nvSpPr>
          <p:spPr>
            <a:xfrm>
              <a:off x="0" y="10555"/>
              <a:ext cx="1395166" cy="1452434"/>
            </a:xfrm>
            <a:prstGeom prst="halfFrame">
              <a:avLst>
                <a:gd name="adj1" fmla="val 33333"/>
                <a:gd name="adj2" fmla="val 10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tx1"/>
                </a:solidFill>
              </a:endParaRP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7A88DBC1-ED62-6593-D4FC-A01BB91AE8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755" y="27368"/>
              <a:ext cx="753461" cy="7793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783761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F6DA3-5F66-91AD-5C8A-141266BBC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>
            <a:extLst>
              <a:ext uri="{FF2B5EF4-FFF2-40B4-BE49-F238E27FC236}">
                <a16:creationId xmlns:a16="http://schemas.microsoft.com/office/drawing/2014/main" id="{EA09CDE0-3EB3-87E0-3D99-004FF2161C9F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it-IT" sz="24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5547B6BF-69A1-3153-3ED3-C6302FE7D99D}"/>
              </a:ext>
            </a:extLst>
          </p:cNvPr>
          <p:cNvSpPr/>
          <p:nvPr/>
        </p:nvSpPr>
        <p:spPr>
          <a:xfrm>
            <a:off x="451821" y="3883229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kern="0" spc="400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SCENARIO ADVANCED</a:t>
            </a:r>
            <a:endParaRPr lang="en-US" sz="1600" dirty="0">
              <a:solidFill>
                <a:srgbClr val="ED7D31"/>
              </a:solidFill>
              <a:latin typeface="Calibri" panose="020F0502020204030204"/>
            </a:endParaRPr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2133BD37-EC62-51A5-F3D7-0D371415E6B3}"/>
              </a:ext>
            </a:extLst>
          </p:cNvPr>
          <p:cNvSpPr/>
          <p:nvPr/>
        </p:nvSpPr>
        <p:spPr>
          <a:xfrm>
            <a:off x="475044" y="3912844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56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 DI SVILUPPO</a:t>
            </a:r>
            <a:endParaRPr lang="en-US" sz="5600" dirty="0">
              <a:solidFill>
                <a:srgbClr val="44546A"/>
              </a:solidFill>
              <a:latin typeface="Calibri" panose="020F0502020204030204"/>
            </a:endParaRPr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6940C5B1-B48A-ADC3-F877-A3CDBD464371}"/>
              </a:ext>
            </a:extLst>
          </p:cNvPr>
          <p:cNvSpPr/>
          <p:nvPr/>
        </p:nvSpPr>
        <p:spPr>
          <a:xfrm>
            <a:off x="451821" y="5068021"/>
            <a:ext cx="853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000" i="1" dirty="0" err="1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</a:t>
            </a:r>
            <a:r>
              <a:rPr lang="en-US" sz="20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collateral business · Partnership · </a:t>
            </a:r>
            <a:r>
              <a:rPr lang="en-US" sz="2000" i="1" dirty="0" err="1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Nuove</a:t>
            </a:r>
            <a:r>
              <a:rPr lang="en-US" sz="20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industries</a:t>
            </a:r>
          </a:p>
        </p:txBody>
      </p:sp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5" name="Section Zoom 4">
                <a:extLst>
                  <a:ext uri="{FF2B5EF4-FFF2-40B4-BE49-F238E27FC236}">
                    <a16:creationId xmlns:a16="http://schemas.microsoft.com/office/drawing/2014/main" id="{55EBCF6F-3851-FE95-E3BB-3BBAD13AA32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82596068"/>
                  </p:ext>
                </p:extLst>
              </p:nvPr>
            </p:nvGraphicFramePr>
            <p:xfrm>
              <a:off x="-361863" y="0"/>
              <a:ext cx="1771427" cy="996428"/>
            </p:xfrm>
            <a:graphic>
              <a:graphicData uri="http://schemas.microsoft.com/office/powerpoint/2016/sectionzoom">
                <psez:sectionZm>
                  <psez:sectionZmObj sectionId="{9E1C7026-D389-254E-A79E-C14174470A9C}">
                    <psez:zmPr id="{D0B4A6AB-5C6E-0B4E-A9B3-359CFFE8CB3C}" transitionDur="1000" showBg="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771427" cy="996428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5" name="Section Zoom 4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55EBCF6F-3851-FE95-E3BB-3BBAD13AA32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361863" y="0"/>
                <a:ext cx="1771427" cy="99642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67962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A028850-87F1-4C1C-41E5-716D33655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3985" y="613525"/>
            <a:ext cx="5444030" cy="5630950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8179008F-454F-FAEF-BAD5-E85FD495CD7F}"/>
              </a:ext>
            </a:extLst>
          </p:cNvPr>
          <p:cNvSpPr/>
          <p:nvPr/>
        </p:nvSpPr>
        <p:spPr>
          <a:xfrm>
            <a:off x="8857131" y="3071066"/>
            <a:ext cx="467052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400" b="1" dirty="0">
                <a:latin typeface="Montserrat" pitchFamily="2" charset="77"/>
                <a:ea typeface="Calibri" pitchFamily="34" charset="-122"/>
                <a:cs typeface="Calibri" pitchFamily="34" charset="-120"/>
              </a:rPr>
              <a:t>meta </a:t>
            </a:r>
          </a:p>
          <a:p>
            <a:pPr defTabSz="1219170"/>
            <a:r>
              <a:rPr lang="en-US" sz="4400" b="1" dirty="0">
                <a:latin typeface="Montserrat" pitchFamily="2" charset="77"/>
                <a:ea typeface="Calibri" pitchFamily="34" charset="-122"/>
                <a:cs typeface="Calibri" pitchFamily="34" charset="-120"/>
              </a:rPr>
              <a:t>ADVISORY </a:t>
            </a:r>
          </a:p>
          <a:p>
            <a:pPr defTabSz="1219170"/>
            <a:r>
              <a:rPr lang="en-US" sz="4400" b="1" dirty="0">
                <a:latin typeface="Montserrat" pitchFamily="2" charset="77"/>
                <a:ea typeface="Calibri" pitchFamily="34" charset="-122"/>
                <a:cs typeface="Calibri" pitchFamily="34" charset="-120"/>
              </a:rPr>
              <a:t>&amp; TECH SERVICES</a:t>
            </a:r>
            <a:endParaRPr lang="en-US" sz="4400" dirty="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0536048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9AB59C-3E6E-5B08-CE4E-A171143B3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4">
            <a:extLst>
              <a:ext uri="{FF2B5EF4-FFF2-40B4-BE49-F238E27FC236}">
                <a16:creationId xmlns:a16="http://schemas.microsoft.com/office/drawing/2014/main" id="{F4FBF3A2-9439-7C90-8505-B830B8487537}"/>
              </a:ext>
            </a:extLst>
          </p:cNvPr>
          <p:cNvSpPr/>
          <p:nvPr/>
        </p:nvSpPr>
        <p:spPr>
          <a:xfrm>
            <a:off x="2273860" y="3914402"/>
            <a:ext cx="139137" cy="384048"/>
          </a:xfrm>
          <a:prstGeom prst="rect">
            <a:avLst/>
          </a:prstGeom>
          <a:solidFill>
            <a:schemeClr val="accent2">
              <a:lumMod val="5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2CCB1B2C-61D6-19F3-7A8B-DFFC10677214}"/>
              </a:ext>
            </a:extLst>
          </p:cNvPr>
          <p:cNvSpPr/>
          <p:nvPr/>
        </p:nvSpPr>
        <p:spPr>
          <a:xfrm>
            <a:off x="2552134" y="3914402"/>
            <a:ext cx="139137" cy="384048"/>
          </a:xfrm>
          <a:prstGeom prst="rect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F910E579-4CB8-CBE4-3CD1-C535413398D0}"/>
              </a:ext>
            </a:extLst>
          </p:cNvPr>
          <p:cNvSpPr/>
          <p:nvPr/>
        </p:nvSpPr>
        <p:spPr>
          <a:xfrm>
            <a:off x="2691271" y="3914402"/>
            <a:ext cx="139137" cy="38404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45056A18-3C61-7F01-F08B-7E0B4B36822F}"/>
              </a:ext>
            </a:extLst>
          </p:cNvPr>
          <p:cNvSpPr/>
          <p:nvPr/>
        </p:nvSpPr>
        <p:spPr>
          <a:xfrm>
            <a:off x="2412997" y="3914402"/>
            <a:ext cx="139137" cy="384048"/>
          </a:xfrm>
          <a:prstGeom prst="rect">
            <a:avLst/>
          </a:prstGeom>
          <a:solidFill>
            <a:srgbClr val="E97132"/>
          </a:solidFill>
          <a:ln w="1270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Half-frame 3">
            <a:extLst>
              <a:ext uri="{FF2B5EF4-FFF2-40B4-BE49-F238E27FC236}">
                <a16:creationId xmlns:a16="http://schemas.microsoft.com/office/drawing/2014/main" id="{154B9B20-1739-DA2B-735E-72A398B012D2}"/>
              </a:ext>
            </a:extLst>
          </p:cNvPr>
          <p:cNvSpPr/>
          <p:nvPr/>
        </p:nvSpPr>
        <p:spPr>
          <a:xfrm>
            <a:off x="0" y="-2697"/>
            <a:ext cx="1395166" cy="1452434"/>
          </a:xfrm>
          <a:prstGeom prst="halfFrame">
            <a:avLst>
              <a:gd name="adj1" fmla="val 33333"/>
              <a:gd name="adj2" fmla="val 10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77663E-168C-C384-7B95-BC1CCF8A4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0" y="19250"/>
            <a:ext cx="753462" cy="779332"/>
          </a:xfrm>
          <a:prstGeom prst="rect">
            <a:avLst/>
          </a:prstGeom>
        </p:spPr>
      </p:pic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21CD1F32-BF3F-571F-894D-D42FBEED4C3B}"/>
              </a:ext>
            </a:extLst>
          </p:cNvPr>
          <p:cNvGraphicFramePr>
            <a:graphicFrameLocks noGrp="1"/>
          </p:cNvGraphicFramePr>
          <p:nvPr/>
        </p:nvGraphicFramePr>
        <p:xfrm>
          <a:off x="2139696" y="1825797"/>
          <a:ext cx="8412480" cy="25600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 della Produzione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Costi del personale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Spese per servizi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Costi totali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Utile (ante imposte)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4" name="Group 13">
            <a:extLst>
              <a:ext uri="{FF2B5EF4-FFF2-40B4-BE49-F238E27FC236}">
                <a16:creationId xmlns:a16="http://schemas.microsoft.com/office/drawing/2014/main" id="{0DD05466-DE37-CC84-9593-0BAB4A029A9D}"/>
              </a:ext>
            </a:extLst>
          </p:cNvPr>
          <p:cNvGrpSpPr/>
          <p:nvPr/>
        </p:nvGrpSpPr>
        <p:grpSpPr>
          <a:xfrm>
            <a:off x="5593977" y="-161365"/>
            <a:ext cx="11160972" cy="981895"/>
            <a:chOff x="5593977" y="-258375"/>
            <a:chExt cx="11160972" cy="98189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0E1EF1C-6900-1F66-9A9D-4E632B32557E}"/>
                </a:ext>
              </a:extLst>
            </p:cNvPr>
            <p:cNvSpPr/>
            <p:nvPr/>
          </p:nvSpPr>
          <p:spPr>
            <a:xfrm>
              <a:off x="5593977" y="-258375"/>
              <a:ext cx="8462682" cy="981895"/>
            </a:xfrm>
            <a:prstGeom prst="rect">
              <a:avLst/>
            </a:prstGeom>
            <a:solidFill>
              <a:srgbClr val="FF9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Text 3">
              <a:extLst>
                <a:ext uri="{FF2B5EF4-FFF2-40B4-BE49-F238E27FC236}">
                  <a16:creationId xmlns:a16="http://schemas.microsoft.com/office/drawing/2014/main" id="{081BBF1D-6203-105C-1663-D4DB1F0E22FC}"/>
                </a:ext>
              </a:extLst>
            </p:cNvPr>
            <p:cNvSpPr/>
            <p:nvPr/>
          </p:nvSpPr>
          <p:spPr>
            <a:xfrm>
              <a:off x="5782149" y="-168068"/>
              <a:ext cx="10972800" cy="80127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ontserrat" pitchFamily="2" charset="77"/>
                  <a:ea typeface="Calibri" pitchFamily="34" charset="-122"/>
                  <a:cs typeface="Calibri" pitchFamily="34" charset="-120"/>
                </a:rPr>
                <a:t>STRATEGIE DI SVILUPPO</a:t>
              </a:r>
              <a:endPara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660210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C7FD63-26A5-A296-8ABC-C56F166EB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alf-frame 3">
            <a:extLst>
              <a:ext uri="{FF2B5EF4-FFF2-40B4-BE49-F238E27FC236}">
                <a16:creationId xmlns:a16="http://schemas.microsoft.com/office/drawing/2014/main" id="{22004C55-3548-9B10-EA0F-E2985360E21C}"/>
              </a:ext>
            </a:extLst>
          </p:cNvPr>
          <p:cNvSpPr/>
          <p:nvPr/>
        </p:nvSpPr>
        <p:spPr>
          <a:xfrm>
            <a:off x="0" y="-2697"/>
            <a:ext cx="1395166" cy="1452434"/>
          </a:xfrm>
          <a:prstGeom prst="halfFrame">
            <a:avLst>
              <a:gd name="adj1" fmla="val 33333"/>
              <a:gd name="adj2" fmla="val 10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373965-F31B-7D4E-9406-AFD7A66A8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0" y="19250"/>
            <a:ext cx="753462" cy="779332"/>
          </a:xfrm>
          <a:prstGeom prst="rect">
            <a:avLst/>
          </a:prstGeom>
        </p:spPr>
      </p:pic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A1EDD1C9-0BA3-D209-F8B2-9666FFC36007}"/>
              </a:ext>
            </a:extLst>
          </p:cNvPr>
          <p:cNvGraphicFramePr>
            <a:graphicFrameLocks noGrp="1"/>
          </p:cNvGraphicFramePr>
          <p:nvPr/>
        </p:nvGraphicFramePr>
        <p:xfrm>
          <a:off x="2139696" y="1825797"/>
          <a:ext cx="8412480" cy="25600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 della Produzione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Costi del personale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Spese per servizi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Costi totali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Utile (ante imposte)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4" name="Group 13">
            <a:extLst>
              <a:ext uri="{FF2B5EF4-FFF2-40B4-BE49-F238E27FC236}">
                <a16:creationId xmlns:a16="http://schemas.microsoft.com/office/drawing/2014/main" id="{36B234E7-D905-AF63-33AE-1DB81D77AB36}"/>
              </a:ext>
            </a:extLst>
          </p:cNvPr>
          <p:cNvGrpSpPr/>
          <p:nvPr/>
        </p:nvGrpSpPr>
        <p:grpSpPr>
          <a:xfrm>
            <a:off x="5593977" y="-161365"/>
            <a:ext cx="11160972" cy="981895"/>
            <a:chOff x="5593977" y="-258375"/>
            <a:chExt cx="11160972" cy="98189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343C7DE-F034-FA05-C29D-6A1BFA887265}"/>
                </a:ext>
              </a:extLst>
            </p:cNvPr>
            <p:cNvSpPr/>
            <p:nvPr/>
          </p:nvSpPr>
          <p:spPr>
            <a:xfrm>
              <a:off x="5593977" y="-258375"/>
              <a:ext cx="8462682" cy="981895"/>
            </a:xfrm>
            <a:prstGeom prst="rect">
              <a:avLst/>
            </a:prstGeom>
            <a:solidFill>
              <a:srgbClr val="FF9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Text 3">
              <a:extLst>
                <a:ext uri="{FF2B5EF4-FFF2-40B4-BE49-F238E27FC236}">
                  <a16:creationId xmlns:a16="http://schemas.microsoft.com/office/drawing/2014/main" id="{4744D9D6-B436-3B90-69E3-85B027A05542}"/>
                </a:ext>
              </a:extLst>
            </p:cNvPr>
            <p:cNvSpPr/>
            <p:nvPr/>
          </p:nvSpPr>
          <p:spPr>
            <a:xfrm>
              <a:off x="5782149" y="-168068"/>
              <a:ext cx="10972800" cy="80127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ontserrat" pitchFamily="2" charset="77"/>
                  <a:ea typeface="Calibri" pitchFamily="34" charset="-122"/>
                  <a:cs typeface="Calibri" pitchFamily="34" charset="-120"/>
                </a:rPr>
                <a:t>STRATEGIE DI SVILUPPO</a:t>
              </a:r>
              <a:endPara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endParaRPr>
            </a:p>
          </p:txBody>
        </p:sp>
      </p:grpSp>
      <p:sp>
        <p:nvSpPr>
          <p:cNvPr id="15" name="Shape 4">
            <a:extLst>
              <a:ext uri="{FF2B5EF4-FFF2-40B4-BE49-F238E27FC236}">
                <a16:creationId xmlns:a16="http://schemas.microsoft.com/office/drawing/2014/main" id="{26EEF758-633C-D022-3C05-5DE5704F0CDE}"/>
              </a:ext>
            </a:extLst>
          </p:cNvPr>
          <p:cNvSpPr/>
          <p:nvPr/>
        </p:nvSpPr>
        <p:spPr>
          <a:xfrm>
            <a:off x="3344614" y="5528713"/>
            <a:ext cx="1699318" cy="384048"/>
          </a:xfrm>
          <a:prstGeom prst="rect">
            <a:avLst/>
          </a:prstGeom>
          <a:solidFill>
            <a:schemeClr val="accent2">
              <a:lumMod val="5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67D78C0E-F127-B54D-62C9-E1383AC74554}"/>
              </a:ext>
            </a:extLst>
          </p:cNvPr>
          <p:cNvSpPr/>
          <p:nvPr/>
        </p:nvSpPr>
        <p:spPr>
          <a:xfrm>
            <a:off x="3344614" y="5547001"/>
            <a:ext cx="169931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CAGR: 17,9%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FC1F5AFB-2C9C-D725-7BAC-0EA54625183F}"/>
              </a:ext>
            </a:extLst>
          </p:cNvPr>
          <p:cNvSpPr/>
          <p:nvPr/>
        </p:nvSpPr>
        <p:spPr>
          <a:xfrm>
            <a:off x="7733734" y="5528713"/>
            <a:ext cx="1699318" cy="384048"/>
          </a:xfrm>
          <a:prstGeom prst="rect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E0445C95-F761-2139-0D64-42CF25054F5F}"/>
              </a:ext>
            </a:extLst>
          </p:cNvPr>
          <p:cNvSpPr/>
          <p:nvPr/>
        </p:nvSpPr>
        <p:spPr>
          <a:xfrm>
            <a:off x="7733734" y="5547001"/>
            <a:ext cx="169931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Net Margin 2028: 8,1%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7649ED2D-03A1-1876-61AA-0955D2669CE8}"/>
              </a:ext>
            </a:extLst>
          </p:cNvPr>
          <p:cNvSpPr/>
          <p:nvPr/>
        </p:nvSpPr>
        <p:spPr>
          <a:xfrm>
            <a:off x="9928294" y="5528713"/>
            <a:ext cx="1699318" cy="38404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9C5986BF-10CA-DFC7-B3D5-F39CA15E5E86}"/>
              </a:ext>
            </a:extLst>
          </p:cNvPr>
          <p:cNvSpPr/>
          <p:nvPr/>
        </p:nvSpPr>
        <p:spPr>
          <a:xfrm>
            <a:off x="9928294" y="5547001"/>
            <a:ext cx="169931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Dipendenti 2028: 13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9013D45E-62FA-EF5A-0B30-877FC99D5584}"/>
              </a:ext>
            </a:extLst>
          </p:cNvPr>
          <p:cNvSpPr/>
          <p:nvPr/>
        </p:nvSpPr>
        <p:spPr>
          <a:xfrm>
            <a:off x="5539174" y="5528713"/>
            <a:ext cx="1699318" cy="384048"/>
          </a:xfrm>
          <a:prstGeom prst="rect">
            <a:avLst/>
          </a:prstGeom>
          <a:solidFill>
            <a:srgbClr val="E97132"/>
          </a:solidFill>
          <a:ln w="1270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3756DF6E-1AAF-068C-8321-3177C0AF11E6}"/>
              </a:ext>
            </a:extLst>
          </p:cNvPr>
          <p:cNvSpPr/>
          <p:nvPr/>
        </p:nvSpPr>
        <p:spPr>
          <a:xfrm>
            <a:off x="5539174" y="5547001"/>
            <a:ext cx="1699318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 2028: 16,4%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12872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VanillaVTI [1777590421500]">
  <a:themeElements>
    <a:clrScheme name="Vanilla">
      <a:dk1>
        <a:srgbClr val="000000"/>
      </a:dk1>
      <a:lt1>
        <a:srgbClr val="FFFFFF"/>
      </a:lt1>
      <a:dk2>
        <a:srgbClr val="4A4A4A"/>
      </a:dk2>
      <a:lt2>
        <a:srgbClr val="F5F5F5"/>
      </a:lt2>
      <a:accent1>
        <a:srgbClr val="EA7317"/>
      </a:accent1>
      <a:accent2>
        <a:srgbClr val="F4A261"/>
      </a:accent2>
      <a:accent3>
        <a:srgbClr val="B8541A"/>
      </a:accent3>
      <a:accent4>
        <a:srgbClr val="4A4A4A"/>
      </a:accent4>
      <a:accent5>
        <a:srgbClr val="8C8C8C"/>
      </a:accent5>
      <a:accent6>
        <a:srgbClr val="D9D9D9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D963746-940E-CB41-B04D-2AA4D38732B1}">
  <we:reference id="wa200010001" version="1.0.0.1" store="en-GB" storeType="OMEX"/>
  <we:alternateReferences>
    <we:reference id="WA200010001" version="1.0.0.1" store="WA200010001" storeType="OMEX"/>
  </we:alternateReferences>
  <we:properties>
    <we:property name="claude.fileId" value="&quot;56261e19-4857-4b85-949f-a8434c4e8d6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324</Words>
  <Application>Microsoft Macintosh PowerPoint</Application>
  <PresentationFormat>Widescreen</PresentationFormat>
  <Paragraphs>173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Montserrat</vt:lpstr>
      <vt:lpstr>Neue Haas Grotesk Text Pro</vt:lpstr>
      <vt:lpstr>Office Theme</vt:lpstr>
      <vt:lpstr>VanillaVTI [1777590421500]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Lucchesi</dc:creator>
  <cp:lastModifiedBy>Andrea Lucchesi</cp:lastModifiedBy>
  <cp:revision>4</cp:revision>
  <dcterms:created xsi:type="dcterms:W3CDTF">2026-04-30T23:00:33Z</dcterms:created>
  <dcterms:modified xsi:type="dcterms:W3CDTF">2026-05-01T00:46:26Z</dcterms:modified>
</cp:coreProperties>
</file>