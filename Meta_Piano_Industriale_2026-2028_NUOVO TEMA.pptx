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436" r:id="rId2"/>
    <p:sldId id="435" r:id="rId3"/>
    <p:sldId id="271" r:id="rId4"/>
    <p:sldId id="312" r:id="rId5"/>
    <p:sldId id="317" r:id="rId6"/>
    <p:sldId id="318" r:id="rId7"/>
    <p:sldId id="319" r:id="rId8"/>
    <p:sldId id="320" r:id="rId9"/>
    <p:sldId id="322" r:id="rId10"/>
    <p:sldId id="321" r:id="rId11"/>
    <p:sldId id="324" r:id="rId12"/>
    <p:sldId id="327" r:id="rId13"/>
    <p:sldId id="328" r:id="rId14"/>
    <p:sldId id="329" r:id="rId15"/>
    <p:sldId id="326" r:id="rId16"/>
    <p:sldId id="332" r:id="rId17"/>
    <p:sldId id="333" r:id="rId18"/>
    <p:sldId id="334" r:id="rId19"/>
    <p:sldId id="335" r:id="rId20"/>
    <p:sldId id="336" r:id="rId21"/>
    <p:sldId id="371" r:id="rId22"/>
    <p:sldId id="372" r:id="rId23"/>
    <p:sldId id="373" r:id="rId24"/>
    <p:sldId id="374" r:id="rId25"/>
    <p:sldId id="375" r:id="rId26"/>
    <p:sldId id="325" r:id="rId27"/>
    <p:sldId id="343" r:id="rId28"/>
    <p:sldId id="344" r:id="rId29"/>
    <p:sldId id="345" r:id="rId30"/>
    <p:sldId id="346" r:id="rId31"/>
    <p:sldId id="347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7" r:id="rId40"/>
    <p:sldId id="358" r:id="rId41"/>
    <p:sldId id="359" r:id="rId42"/>
    <p:sldId id="360" r:id="rId43"/>
    <p:sldId id="361" r:id="rId44"/>
    <p:sldId id="362" r:id="rId45"/>
    <p:sldId id="376" r:id="rId46"/>
    <p:sldId id="377" r:id="rId47"/>
    <p:sldId id="378" r:id="rId48"/>
    <p:sldId id="380" r:id="rId49"/>
    <p:sldId id="384" r:id="rId50"/>
    <p:sldId id="382" r:id="rId51"/>
    <p:sldId id="383" r:id="rId52"/>
    <p:sldId id="385" r:id="rId53"/>
    <p:sldId id="386" r:id="rId54"/>
    <p:sldId id="387" r:id="rId55"/>
    <p:sldId id="388" r:id="rId56"/>
    <p:sldId id="390" r:id="rId57"/>
    <p:sldId id="391" r:id="rId58"/>
    <p:sldId id="392" r:id="rId59"/>
    <p:sldId id="394" r:id="rId60"/>
    <p:sldId id="395" r:id="rId61"/>
    <p:sldId id="397" r:id="rId62"/>
    <p:sldId id="398" r:id="rId63"/>
    <p:sldId id="399" r:id="rId64"/>
    <p:sldId id="400" r:id="rId65"/>
    <p:sldId id="405" r:id="rId66"/>
    <p:sldId id="407" r:id="rId67"/>
    <p:sldId id="408" r:id="rId68"/>
    <p:sldId id="423" r:id="rId69"/>
    <p:sldId id="425" r:id="rId70"/>
    <p:sldId id="424" r:id="rId71"/>
    <p:sldId id="426" r:id="rId72"/>
    <p:sldId id="427" r:id="rId73"/>
    <p:sldId id="429" r:id="rId74"/>
    <p:sldId id="403" r:id="rId75"/>
    <p:sldId id="409" r:id="rId76"/>
    <p:sldId id="402" r:id="rId77"/>
    <p:sldId id="404" r:id="rId7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3CC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7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Ricavi 2028</c:v>
                </c:pt>
              </c:strCache>
            </c:strRef>
          </c:tx>
          <c:spPr>
            <a:solidFill>
              <a:schemeClr val="tx2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tx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D3-4842-BDDF-6C4DA3A19CBA}"/>
              </c:ext>
            </c:extLst>
          </c:dPt>
          <c:dPt>
            <c:idx val="1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D3-4842-BDDF-6C4DA3A19CBA}"/>
              </c:ext>
            </c:extLst>
          </c:dPt>
          <c:dPt>
            <c:idx val="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D3-4842-BDDF-6C4DA3A19CB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D3-4842-BDDF-6C4DA3A19CB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D3-4842-BDDF-6C4DA3A19CB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D3-4842-BDDF-6C4DA3A19C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Funzioni di Controllo</c:v>
                </c:pt>
                <c:pt idx="1">
                  <c:v>Consulenza</c:v>
                </c:pt>
                <c:pt idx="2">
                  <c:v>Reg-Tech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D3-4842-BDDF-6C4DA3A19C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Ricavi 2028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tx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D3-4842-BDDF-6C4DA3A19CBA}"/>
              </c:ext>
            </c:extLst>
          </c:dPt>
          <c:dPt>
            <c:idx val="1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D3-4842-BDDF-6C4DA3A19CBA}"/>
              </c:ext>
            </c:extLst>
          </c:dPt>
          <c:dPt>
            <c:idx val="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D3-4842-BDDF-6C4DA3A19CB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D3-4842-BDDF-6C4DA3A19CB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D3-4842-BDDF-6C4DA3A19CB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D3-4842-BDDF-6C4DA3A19C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Funzioni di Controllo</c:v>
                </c:pt>
                <c:pt idx="1">
                  <c:v>Consulenza</c:v>
                </c:pt>
                <c:pt idx="2">
                  <c:v>Reg-Tech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D3-4842-BDDF-6C4DA3A19C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Ricavi 2028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tx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D3-4842-BDDF-6C4DA3A19CBA}"/>
              </c:ext>
            </c:extLst>
          </c:dPt>
          <c:dPt>
            <c:idx val="1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D3-4842-BDDF-6C4DA3A19CBA}"/>
              </c:ext>
            </c:extLst>
          </c:dPt>
          <c:dPt>
            <c:idx val="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D3-4842-BDDF-6C4DA3A19CB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D3-4842-BDDF-6C4DA3A19CB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D3-4842-BDDF-6C4DA3A19CB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D3-4842-BDDF-6C4DA3A19C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Funzioni di Controllo</c:v>
                </c:pt>
                <c:pt idx="1">
                  <c:v>Consulenza</c:v>
                </c:pt>
                <c:pt idx="2">
                  <c:v>Reg-Tech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D3-4842-BDDF-6C4DA3A19C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Ricavi 2028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tx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D3-4842-BDDF-6C4DA3A19CBA}"/>
              </c:ext>
            </c:extLst>
          </c:dPt>
          <c:dPt>
            <c:idx val="1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D3-4842-BDDF-6C4DA3A19CBA}"/>
              </c:ext>
            </c:extLst>
          </c:dPt>
          <c:dPt>
            <c:idx val="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D3-4842-BDDF-6C4DA3A19CB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D3-4842-BDDF-6C4DA3A19CB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D3-4842-BDDF-6C4DA3A19CB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D3-4842-BDDF-6C4DA3A19C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Funzioni di Controllo</c:v>
                </c:pt>
                <c:pt idx="1">
                  <c:v>Consulenza</c:v>
                </c:pt>
                <c:pt idx="2">
                  <c:v>Reg-Tech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D3-4842-BDDF-6C4DA3A19C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Valore produzione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917</c:v>
                </c:pt>
                <c:pt idx="1">
                  <c:v>1196</c:v>
                </c:pt>
                <c:pt idx="2">
                  <c:v>1379</c:v>
                </c:pt>
                <c:pt idx="3">
                  <c:v>1504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3-4F72-965A-06255A917C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Costi del personale</c:v>
                </c:pt>
              </c:strCache>
            </c:strRef>
          </c:tx>
          <c:spPr>
            <a:solidFill>
              <a:srgbClr val="E865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568</c:v>
                </c:pt>
                <c:pt idx="1">
                  <c:v>739</c:v>
                </c:pt>
                <c:pt idx="2">
                  <c:v>921</c:v>
                </c:pt>
                <c:pt idx="3">
                  <c:v>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03-4F72-965A-06255A917C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Costi per servizi</c:v>
                </c:pt>
              </c:strCache>
            </c:strRef>
          </c:tx>
          <c:spPr>
            <a:solidFill>
              <a:srgbClr val="FF91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191</c:v>
                </c:pt>
                <c:pt idx="1">
                  <c:v>249</c:v>
                </c:pt>
                <c:pt idx="2">
                  <c:v>212</c:v>
                </c:pt>
                <c:pt idx="3">
                  <c:v>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3-4F72-965A-06255A917C1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Utile (ante imposte)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</c:v>
                </c:pt>
                <c:pt idx="1">
                  <c:v>127</c:v>
                </c:pt>
                <c:pt idx="2">
                  <c:v>132</c:v>
                </c:pt>
                <c:pt idx="3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03-4F72-965A-06255A917C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Valore produzione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917</c:v>
                </c:pt>
                <c:pt idx="1">
                  <c:v>1196</c:v>
                </c:pt>
                <c:pt idx="2">
                  <c:v>1379</c:v>
                </c:pt>
                <c:pt idx="3">
                  <c:v>1504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3-4F72-965A-06255A917C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Costi del personale</c:v>
                </c:pt>
              </c:strCache>
            </c:strRef>
          </c:tx>
          <c:spPr>
            <a:solidFill>
              <a:srgbClr val="E8650A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568</c:v>
                </c:pt>
                <c:pt idx="1">
                  <c:v>739</c:v>
                </c:pt>
                <c:pt idx="2">
                  <c:v>921</c:v>
                </c:pt>
                <c:pt idx="3">
                  <c:v>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03-4F72-965A-06255A917C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Costi per servizi</c:v>
                </c:pt>
              </c:strCache>
            </c:strRef>
          </c:tx>
          <c:spPr>
            <a:solidFill>
              <a:srgbClr val="FF914D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191</c:v>
                </c:pt>
                <c:pt idx="1">
                  <c:v>249</c:v>
                </c:pt>
                <c:pt idx="2">
                  <c:v>212</c:v>
                </c:pt>
                <c:pt idx="3">
                  <c:v>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3-4F72-965A-06255A917C1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Utile (ante imposte)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</c:v>
                </c:pt>
                <c:pt idx="1">
                  <c:v>127</c:v>
                </c:pt>
                <c:pt idx="2">
                  <c:v>132</c:v>
                </c:pt>
                <c:pt idx="3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03-4F72-965A-06255A917C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Valore produzione</c:v>
                </c:pt>
              </c:strCache>
            </c:strRef>
          </c:tx>
          <c:spPr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917</c:v>
                </c:pt>
                <c:pt idx="1">
                  <c:v>1196</c:v>
                </c:pt>
                <c:pt idx="2">
                  <c:v>1379</c:v>
                </c:pt>
                <c:pt idx="3">
                  <c:v>1504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36-4A85-8B04-120A9950EA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Costi del personale</c:v>
                </c:pt>
              </c:strCache>
            </c:strRef>
          </c:tx>
          <c:spPr>
            <a:ln w="38100" cap="flat">
              <a:solidFill>
                <a:srgbClr val="E865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650A"/>
              </a:solidFill>
              <a:ln w="9525" cap="flat">
                <a:solidFill>
                  <a:srgbClr val="E8650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568</c:v>
                </c:pt>
                <c:pt idx="1">
                  <c:v>739</c:v>
                </c:pt>
                <c:pt idx="2">
                  <c:v>921</c:v>
                </c:pt>
                <c:pt idx="3">
                  <c:v>958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36-4A85-8B04-120A9950EA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Costi per servizi</c:v>
                </c:pt>
              </c:strCache>
            </c:strRef>
          </c:tx>
          <c:spPr>
            <a:ln w="38100" cap="flat">
              <a:solidFill>
                <a:srgbClr val="FF91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14D"/>
              </a:solidFill>
              <a:ln w="9525" cap="flat">
                <a:solidFill>
                  <a:srgbClr val="FF914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191</c:v>
                </c:pt>
                <c:pt idx="1">
                  <c:v>249</c:v>
                </c:pt>
                <c:pt idx="2">
                  <c:v>218</c:v>
                </c:pt>
                <c:pt idx="3">
                  <c:v>239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36-4A85-8B04-120A9950EA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Utile (ante imposte)</c:v>
                </c:pt>
              </c:strCache>
            </c:strRef>
          </c:tx>
          <c:spPr>
            <a:ln w="381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</c:v>
                </c:pt>
                <c:pt idx="1">
                  <c:v>127</c:v>
                </c:pt>
                <c:pt idx="2">
                  <c:v>135</c:v>
                </c:pt>
                <c:pt idx="3">
                  <c:v>184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36-4A85-8B04-120A9950E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Valore produzione</c:v>
                </c:pt>
              </c:strCache>
            </c:strRef>
          </c:tx>
          <c:spPr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917</c:v>
                </c:pt>
                <c:pt idx="1">
                  <c:v>1196</c:v>
                </c:pt>
                <c:pt idx="2">
                  <c:v>1379</c:v>
                </c:pt>
                <c:pt idx="3">
                  <c:v>1504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36-4A85-8B04-120A9950EA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Costi del personale</c:v>
                </c:pt>
              </c:strCache>
            </c:strRef>
          </c:tx>
          <c:spPr>
            <a:ln w="38100" cap="flat">
              <a:solidFill>
                <a:srgbClr val="E865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650A"/>
              </a:solidFill>
              <a:ln w="9525" cap="flat">
                <a:solidFill>
                  <a:srgbClr val="E8650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568</c:v>
                </c:pt>
                <c:pt idx="1">
                  <c:v>739</c:v>
                </c:pt>
                <c:pt idx="2">
                  <c:v>921</c:v>
                </c:pt>
                <c:pt idx="3">
                  <c:v>958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36-4A85-8B04-120A9950EA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Costi per servizi</c:v>
                </c:pt>
              </c:strCache>
            </c:strRef>
          </c:tx>
          <c:spPr>
            <a:ln w="38100" cap="flat">
              <a:solidFill>
                <a:srgbClr val="FF91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14D"/>
              </a:solidFill>
              <a:ln w="9525" cap="flat">
                <a:solidFill>
                  <a:srgbClr val="FF914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191</c:v>
                </c:pt>
                <c:pt idx="1">
                  <c:v>249</c:v>
                </c:pt>
                <c:pt idx="2">
                  <c:v>212</c:v>
                </c:pt>
                <c:pt idx="3">
                  <c:v>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36-4A85-8B04-120A9950EA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Utile (ante imposte)</c:v>
                </c:pt>
              </c:strCache>
            </c:strRef>
          </c:tx>
          <c:spPr>
            <a:ln w="381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</c:v>
                </c:pt>
                <c:pt idx="1">
                  <c:v>127</c:v>
                </c:pt>
                <c:pt idx="2">
                  <c:v>132</c:v>
                </c:pt>
                <c:pt idx="3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36-4A85-8B04-120A9950E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33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31246-79CF-6D80-6BC3-4910C444A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2EEC5940-BC6B-C3F6-5C22-54B0C0154DC2}"/>
              </a:ext>
            </a:extLst>
          </p:cNvPr>
          <p:cNvSpPr/>
          <p:nvPr/>
        </p:nvSpPr>
        <p:spPr>
          <a:xfrm>
            <a:off x="6705629" y="-1166690"/>
            <a:ext cx="1627671" cy="1627671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noFill/>
          <a:ln w="1905000">
            <a:noFill/>
          </a:ln>
        </p:spPr>
        <p:txBody>
          <a:bodyPr/>
          <a:lstStyle/>
          <a:p>
            <a:endParaRPr lang="it-IT" sz="9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DBAA4A1A-68F4-D9CF-6686-11D8DC9BDC53}"/>
              </a:ext>
            </a:extLst>
          </p:cNvPr>
          <p:cNvSpPr/>
          <p:nvPr/>
        </p:nvSpPr>
        <p:spPr>
          <a:xfrm rot="4975291">
            <a:off x="5671502" y="31950"/>
            <a:ext cx="1014083" cy="1014083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noFill/>
          <a:ln w="76200">
            <a:noFill/>
            <a:prstDash val="dash"/>
          </a:ln>
        </p:spPr>
        <p:txBody>
          <a:bodyPr/>
          <a:lstStyle/>
          <a:p>
            <a:endParaRPr lang="it-IT" sz="900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FDAABE27-8C26-1D7D-F889-13697F78F3D2}"/>
              </a:ext>
            </a:extLst>
          </p:cNvPr>
          <p:cNvSpPr/>
          <p:nvPr/>
        </p:nvSpPr>
        <p:spPr>
          <a:xfrm>
            <a:off x="4362449" y="2400301"/>
            <a:ext cx="342899" cy="342899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5042C465-85DD-9F4B-154D-8CF424D61954}"/>
              </a:ext>
            </a:extLst>
          </p:cNvPr>
          <p:cNvSpPr/>
          <p:nvPr/>
        </p:nvSpPr>
        <p:spPr>
          <a:xfrm>
            <a:off x="4417209" y="2435147"/>
            <a:ext cx="253293" cy="253293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C4EE8ED0-AB21-9C34-6351-72263FFE9E76}"/>
              </a:ext>
            </a:extLst>
          </p:cNvPr>
          <p:cNvSpPr/>
          <p:nvPr/>
        </p:nvSpPr>
        <p:spPr>
          <a:xfrm>
            <a:off x="4475767" y="2472411"/>
            <a:ext cx="157472" cy="157472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5551D3E-EE70-B676-6A17-45C3EF9A4A3A}"/>
              </a:ext>
            </a:extLst>
          </p:cNvPr>
          <p:cNvSpPr/>
          <p:nvPr/>
        </p:nvSpPr>
        <p:spPr>
          <a:xfrm rot="15872510">
            <a:off x="4524739" y="2528577"/>
            <a:ext cx="78762" cy="78762"/>
          </a:xfrm>
          <a:prstGeom prst="ellipse">
            <a:avLst/>
          </a:prstGeom>
          <a:noFill/>
          <a:ln w="762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7294ADBD-5D26-E47D-3309-1EE20F095A02}"/>
              </a:ext>
            </a:extLst>
          </p:cNvPr>
          <p:cNvSpPr/>
          <p:nvPr/>
        </p:nvSpPr>
        <p:spPr>
          <a:xfrm>
            <a:off x="4220226" y="2246855"/>
            <a:ext cx="627343" cy="649790"/>
          </a:xfrm>
          <a:custGeom>
            <a:avLst/>
            <a:gdLst/>
            <a:ahLst/>
            <a:cxnLst/>
            <a:rect l="l" t="t" r="r" b="b"/>
            <a:pathLst>
              <a:path w="5937764" h="6150226">
                <a:moveTo>
                  <a:pt x="0" y="0"/>
                </a:moveTo>
                <a:lnTo>
                  <a:pt x="5937764" y="0"/>
                </a:lnTo>
                <a:lnTo>
                  <a:pt x="5937764" y="6150227"/>
                </a:lnTo>
                <a:lnTo>
                  <a:pt x="0" y="6150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lum bright="-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sz="900" dirty="0"/>
          </a:p>
        </p:txBody>
      </p:sp>
    </p:spTree>
    <p:extLst>
      <p:ext uri="{BB962C8B-B14F-4D97-AF65-F5344CB8AC3E}">
        <p14:creationId xmlns:p14="http://schemas.microsoft.com/office/powerpoint/2010/main" val="62692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6C14-5A5D-F631-7603-98555832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F3536B06-50CD-1263-84F1-6F40ABAEB6A9}"/>
              </a:ext>
            </a:extLst>
          </p:cNvPr>
          <p:cNvSpPr/>
          <p:nvPr/>
        </p:nvSpPr>
        <p:spPr>
          <a:xfrm>
            <a:off x="6705629" y="-1166690"/>
            <a:ext cx="1627671" cy="1627671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noFill/>
          <a:ln w="1905000">
            <a:noFill/>
          </a:ln>
        </p:spPr>
        <p:txBody>
          <a:bodyPr/>
          <a:lstStyle/>
          <a:p>
            <a:endParaRPr lang="it-IT" sz="9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1D3427E-F674-34A6-567B-5C37F00D1D00}"/>
              </a:ext>
            </a:extLst>
          </p:cNvPr>
          <p:cNvSpPr/>
          <p:nvPr/>
        </p:nvSpPr>
        <p:spPr>
          <a:xfrm rot="4975291">
            <a:off x="5671502" y="31950"/>
            <a:ext cx="1014083" cy="1014083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noFill/>
          <a:ln w="76200">
            <a:noFill/>
            <a:prstDash val="dash"/>
          </a:ln>
        </p:spPr>
        <p:txBody>
          <a:bodyPr/>
          <a:lstStyle/>
          <a:p>
            <a:endParaRPr lang="it-IT" sz="9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CB06830-9302-5678-94E0-49C55FA5F787}"/>
              </a:ext>
            </a:extLst>
          </p:cNvPr>
          <p:cNvSpPr/>
          <p:nvPr/>
        </p:nvSpPr>
        <p:spPr>
          <a:xfrm>
            <a:off x="-247650" y="-26668"/>
            <a:ext cx="9391650" cy="5170168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F90AB11-03EA-F8E8-0B3B-94639BD44C3A}"/>
              </a:ext>
            </a:extLst>
          </p:cNvPr>
          <p:cNvSpPr/>
          <p:nvPr/>
        </p:nvSpPr>
        <p:spPr>
          <a:xfrm>
            <a:off x="-549400" y="-2587750"/>
            <a:ext cx="10242799" cy="10242799"/>
          </a:xfrm>
          <a:prstGeom prst="ellipse">
            <a:avLst/>
          </a:prstGeom>
          <a:noFill/>
          <a:ln w="1905000">
            <a:gradFill>
              <a:gsLst>
                <a:gs pos="0">
                  <a:schemeClr val="accent2"/>
                </a:gs>
                <a:gs pos="49000">
                  <a:schemeClr val="accent2">
                    <a:lumMod val="60000"/>
                    <a:lumOff val="40000"/>
                  </a:schemeClr>
                </a:gs>
                <a:gs pos="83000">
                  <a:schemeClr val="accent3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800061EF-9E2D-6AA7-A967-F1854E2B0564}"/>
              </a:ext>
            </a:extLst>
          </p:cNvPr>
          <p:cNvSpPr/>
          <p:nvPr/>
        </p:nvSpPr>
        <p:spPr>
          <a:xfrm>
            <a:off x="788925" y="-1249425"/>
            <a:ext cx="7566149" cy="7566149"/>
          </a:xfrm>
          <a:prstGeom prst="ellipse">
            <a:avLst/>
          </a:prstGeom>
          <a:noFill/>
          <a:ln w="1905000">
            <a:gradFill>
              <a:gsLst>
                <a:gs pos="0">
                  <a:schemeClr val="accent2"/>
                </a:gs>
                <a:gs pos="49000">
                  <a:schemeClr val="accent2">
                    <a:lumMod val="60000"/>
                    <a:lumOff val="40000"/>
                  </a:schemeClr>
                </a:gs>
                <a:gs pos="2000">
                  <a:schemeClr val="accent3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7D1DAC13-8C7B-3D76-E15E-5C6660172F0F}"/>
              </a:ext>
            </a:extLst>
          </p:cNvPr>
          <p:cNvSpPr/>
          <p:nvPr/>
        </p:nvSpPr>
        <p:spPr>
          <a:xfrm>
            <a:off x="2220057" y="181707"/>
            <a:ext cx="4703885" cy="4703885"/>
          </a:xfrm>
          <a:prstGeom prst="ellipse">
            <a:avLst/>
          </a:prstGeom>
          <a:noFill/>
          <a:ln w="1905000">
            <a:gradFill>
              <a:gsLst>
                <a:gs pos="0">
                  <a:schemeClr val="accent2"/>
                </a:gs>
                <a:gs pos="49000">
                  <a:schemeClr val="accent2">
                    <a:lumMod val="60000"/>
                    <a:lumOff val="40000"/>
                  </a:schemeClr>
                </a:gs>
                <a:gs pos="83000">
                  <a:schemeClr val="accent3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BB2BD7D-AD3D-1B64-C4DF-EE03D97817DA}"/>
              </a:ext>
            </a:extLst>
          </p:cNvPr>
          <p:cNvSpPr/>
          <p:nvPr/>
        </p:nvSpPr>
        <p:spPr>
          <a:xfrm>
            <a:off x="3395645" y="1382062"/>
            <a:ext cx="2352707" cy="2352707"/>
          </a:xfrm>
          <a:prstGeom prst="ellipse">
            <a:avLst/>
          </a:prstGeom>
          <a:noFill/>
          <a:ln w="76200">
            <a:gradFill>
              <a:gsLst>
                <a:gs pos="0">
                  <a:schemeClr val="accent2">
                    <a:lumMod val="50000"/>
                  </a:schemeClr>
                </a:gs>
                <a:gs pos="49000">
                  <a:schemeClr val="accent2">
                    <a:lumMod val="60000"/>
                    <a:lumOff val="40000"/>
                  </a:schemeClr>
                </a:gs>
                <a:gs pos="29000">
                  <a:schemeClr val="accent3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B4A71EF4-3F01-EF0D-F3BD-F2F3938E3567}"/>
              </a:ext>
            </a:extLst>
          </p:cNvPr>
          <p:cNvSpPr/>
          <p:nvPr/>
        </p:nvSpPr>
        <p:spPr>
          <a:xfrm>
            <a:off x="3474032" y="1349540"/>
            <a:ext cx="2286406" cy="2368217"/>
          </a:xfrm>
          <a:custGeom>
            <a:avLst/>
            <a:gdLst/>
            <a:ahLst/>
            <a:cxnLst/>
            <a:rect l="l" t="t" r="r" b="b"/>
            <a:pathLst>
              <a:path w="5937764" h="6150226">
                <a:moveTo>
                  <a:pt x="0" y="0"/>
                </a:moveTo>
                <a:lnTo>
                  <a:pt x="5937764" y="0"/>
                </a:lnTo>
                <a:lnTo>
                  <a:pt x="5937764" y="6150227"/>
                </a:lnTo>
                <a:lnTo>
                  <a:pt x="0" y="6150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sz="900" dirty="0"/>
          </a:p>
        </p:txBody>
      </p:sp>
    </p:spTree>
    <p:extLst>
      <p:ext uri="{BB962C8B-B14F-4D97-AF65-F5344CB8AC3E}">
        <p14:creationId xmlns:p14="http://schemas.microsoft.com/office/powerpoint/2010/main" val="33050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0526D8-DAC3-5C7F-1199-682945C2A82D}"/>
              </a:ext>
            </a:extLst>
          </p:cNvPr>
          <p:cNvSpPr/>
          <p:nvPr/>
        </p:nvSpPr>
        <p:spPr>
          <a:xfrm>
            <a:off x="0" y="3328432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54FE9B23-59D2-48DC-5E67-25A7A19AE4DC}"/>
              </a:ext>
            </a:extLst>
          </p:cNvPr>
          <p:cNvGrpSpPr/>
          <p:nvPr/>
        </p:nvGrpSpPr>
        <p:grpSpPr>
          <a:xfrm>
            <a:off x="5486400" y="-1302816"/>
            <a:ext cx="7764617" cy="720299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3D1A301-7AC8-0850-97EF-A84E3E291E2D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06289F17-4A7A-C508-27B5-25C70163BA55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6746D69D-E99C-F046-FC4D-452FF34B69C6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EF6785B-AE59-7895-3ABF-0C514D3CCE2E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4701254F-BCE3-BE93-37C1-7D370A2D851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0303EA68-18FF-987B-4367-5C19D45606BA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7D6CBCA6-00F0-EDF5-D958-DC0FE382417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1BE496D-3DCF-B3C1-F918-F455B1B833F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3" name="Text 2">
            <a:extLst>
              <a:ext uri="{FF2B5EF4-FFF2-40B4-BE49-F238E27FC236}">
                <a16:creationId xmlns:a16="http://schemas.microsoft.com/office/drawing/2014/main" id="{2FEE88E9-BD6F-4BFB-5B2F-DEBC9D559D9E}"/>
              </a:ext>
            </a:extLst>
          </p:cNvPr>
          <p:cNvSpPr/>
          <p:nvPr/>
        </p:nvSpPr>
        <p:spPr>
          <a:xfrm>
            <a:off x="360077" y="69013"/>
            <a:ext cx="611046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latin typeface="Georgia" pitchFamily="34" charset="0"/>
              </a:rPr>
              <a:t>Piano </a:t>
            </a:r>
            <a:r>
              <a:rPr lang="en-US" sz="4000" b="1" dirty="0" err="1">
                <a:latin typeface="Georgia" pitchFamily="34" charset="0"/>
              </a:rPr>
              <a:t>Industriale</a:t>
            </a:r>
            <a:endParaRPr lang="en-US" sz="4000" dirty="0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4BDF811E-34A9-DC88-4A3B-9AB50C8E0499}"/>
              </a:ext>
            </a:extLst>
          </p:cNvPr>
          <p:cNvCxnSpPr>
            <a:cxnSpLocks/>
          </p:cNvCxnSpPr>
          <p:nvPr/>
        </p:nvCxnSpPr>
        <p:spPr>
          <a:xfrm>
            <a:off x="360077" y="1380115"/>
            <a:ext cx="46924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 7">
            <a:extLst>
              <a:ext uri="{FF2B5EF4-FFF2-40B4-BE49-F238E27FC236}">
                <a16:creationId xmlns:a16="http://schemas.microsoft.com/office/drawing/2014/main" id="{99FD9317-CC02-ACDB-CA08-420E7FF4325A}"/>
              </a:ext>
            </a:extLst>
          </p:cNvPr>
          <p:cNvSpPr/>
          <p:nvPr/>
        </p:nvSpPr>
        <p:spPr>
          <a:xfrm>
            <a:off x="300630" y="1439356"/>
            <a:ext cx="314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Crescita · Innovazione · Qualità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1F4DE29-0413-B33E-9A28-163C20E04387}"/>
              </a:ext>
            </a:extLst>
          </p:cNvPr>
          <p:cNvSpPr/>
          <p:nvPr/>
        </p:nvSpPr>
        <p:spPr>
          <a:xfrm>
            <a:off x="323217" y="3381498"/>
            <a:ext cx="68407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Piano Triennale - </a:t>
            </a:r>
            <a:r>
              <a:rPr lang="en-US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Documento</a:t>
            </a:r>
            <a:r>
              <a:rPr lang="en-US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riservato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FA132E5C-77C4-930A-9DD7-B09F78DC994F}"/>
              </a:ext>
            </a:extLst>
          </p:cNvPr>
          <p:cNvSpPr/>
          <p:nvPr/>
        </p:nvSpPr>
        <p:spPr>
          <a:xfrm>
            <a:off x="3743597" y="5270574"/>
            <a:ext cx="1656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2026 · 2028</a:t>
            </a:r>
            <a:endParaRPr lang="en-US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501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D62C-CD48-AB19-9D53-7B051D9B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6">
            <a:extLst>
              <a:ext uri="{FF2B5EF4-FFF2-40B4-BE49-F238E27FC236}">
                <a16:creationId xmlns:a16="http://schemas.microsoft.com/office/drawing/2014/main" id="{165695DB-15C1-E241-8E73-1ED167BE01A0}"/>
              </a:ext>
            </a:extLst>
          </p:cNvPr>
          <p:cNvSpPr/>
          <p:nvPr/>
        </p:nvSpPr>
        <p:spPr>
          <a:xfrm>
            <a:off x="6733578" y="2554728"/>
            <a:ext cx="1502215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Sviluppo collaterali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nuovi servizi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C73D8FD-C3A8-57A6-C583-D067ECFDB618}"/>
              </a:ext>
            </a:extLst>
          </p:cNvPr>
          <p:cNvSpPr txBox="1"/>
          <p:nvPr/>
        </p:nvSpPr>
        <p:spPr>
          <a:xfrm>
            <a:off x="6320226" y="1402990"/>
            <a:ext cx="2196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ADVANCED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3CFDD659-95C0-ED25-5108-92AF8AA8F4A7}"/>
              </a:ext>
            </a:extLst>
          </p:cNvPr>
          <p:cNvSpPr/>
          <p:nvPr/>
        </p:nvSpPr>
        <p:spPr>
          <a:xfrm>
            <a:off x="3802911" y="2627790"/>
            <a:ext cx="1637512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Vantaggi competitivi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Bilancio </a:t>
            </a: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previsionale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D3BDE3-6DA8-FA90-C96C-D931E37684DB}"/>
              </a:ext>
            </a:extLst>
          </p:cNvPr>
          <p:cNvSpPr txBox="1"/>
          <p:nvPr/>
        </p:nvSpPr>
        <p:spPr>
          <a:xfrm>
            <a:off x="3491876" y="140299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BASELINE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D75F1E-D20C-1D3D-E4D3-91AA96EEA449}"/>
              </a:ext>
            </a:extLst>
          </p:cNvPr>
          <p:cNvSpPr txBox="1"/>
          <p:nvPr/>
        </p:nvSpPr>
        <p:spPr>
          <a:xfrm>
            <a:off x="754482" y="2507277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Numeri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business attuale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analisi SWOT</a:t>
            </a:r>
            <a:endParaRPr lang="it-IT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1AB7C7-FCFB-B96E-43AD-B5420BC2E544}"/>
              </a:ext>
            </a:extLst>
          </p:cNvPr>
          <p:cNvSpPr txBox="1"/>
          <p:nvPr/>
        </p:nvSpPr>
        <p:spPr>
          <a:xfrm>
            <a:off x="578505" y="1390569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SITUAZIONE ATTUALE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4BF47BB-194D-D831-C324-F30928AD937A}"/>
              </a:ext>
            </a:extLst>
          </p:cNvPr>
          <p:cNvSpPr/>
          <p:nvPr/>
        </p:nvSpPr>
        <p:spPr>
          <a:xfrm>
            <a:off x="6320227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DBADB8A-98A5-97F1-F3FE-12F335A36AF5}"/>
              </a:ext>
            </a:extLst>
          </p:cNvPr>
          <p:cNvSpPr/>
          <p:nvPr/>
        </p:nvSpPr>
        <p:spPr>
          <a:xfrm>
            <a:off x="3416170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B4589D30-B08D-4B11-2B7A-6F5A6EF5872C}"/>
              </a:ext>
            </a:extLst>
          </p:cNvPr>
          <p:cNvSpPr/>
          <p:nvPr/>
        </p:nvSpPr>
        <p:spPr>
          <a:xfrm>
            <a:off x="512113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D511F31-D45F-23E6-3CDF-D4572CB06604}"/>
              </a:ext>
            </a:extLst>
          </p:cNvPr>
          <p:cNvGrpSpPr/>
          <p:nvPr/>
        </p:nvGrpSpPr>
        <p:grpSpPr>
          <a:xfrm rot="15234470" flipH="1" flipV="1">
            <a:off x="7411900" y="3939492"/>
            <a:ext cx="3103302" cy="2916101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533018F-6427-648E-52C4-DADA3D867A09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C68F7F07-5DE4-6ABA-73A4-19581CA5B411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D74D4E1A-3AF2-032B-6333-02C58F2E13FF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105FA64A-3FB2-EEB1-AF7D-FEF784203451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2EB8D1FB-C8CF-E5AE-F87C-EF7A52606F59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26551298-5AF9-027B-A04A-B6EAF32D01FC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17395025-9A08-C222-08FC-0BB1F3B63A19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94724447-7F4B-072A-0C32-3CB56367A3B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2CBE9F6A-2FAD-8CBA-FBD1-DA5185CFCA95}"/>
              </a:ext>
            </a:extLst>
          </p:cNvPr>
          <p:cNvSpPr/>
          <p:nvPr/>
        </p:nvSpPr>
        <p:spPr>
          <a:xfrm>
            <a:off x="1536259" y="2086700"/>
            <a:ext cx="39690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E8729EA-5FE2-D356-DCCA-AD9B527F4765}"/>
              </a:ext>
            </a:extLst>
          </p:cNvPr>
          <p:cNvSpPr/>
          <p:nvPr/>
        </p:nvSpPr>
        <p:spPr>
          <a:xfrm>
            <a:off x="4055925" y="2086700"/>
            <a:ext cx="103214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AEF3B38-A910-9056-CB3A-1B1826771204}"/>
              </a:ext>
            </a:extLst>
          </p:cNvPr>
          <p:cNvSpPr/>
          <p:nvPr/>
        </p:nvSpPr>
        <p:spPr>
          <a:xfrm>
            <a:off x="6939453" y="2081393"/>
            <a:ext cx="103214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3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E15E38CE-B268-A76C-E61C-C2621AED39EE}"/>
              </a:ext>
            </a:extLst>
          </p:cNvPr>
          <p:cNvGrpSpPr/>
          <p:nvPr/>
        </p:nvGrpSpPr>
        <p:grpSpPr>
          <a:xfrm>
            <a:off x="-824962" y="-71985"/>
            <a:ext cx="5821045" cy="784830"/>
            <a:chOff x="-821871" y="-92503"/>
            <a:chExt cx="3196771" cy="78483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5E1FDCDE-334A-AE78-C576-3726F1455B9F}"/>
                </a:ext>
              </a:extLst>
            </p:cNvPr>
            <p:cNvSpPr/>
            <p:nvPr/>
          </p:nvSpPr>
          <p:spPr>
            <a:xfrm>
              <a:off x="-821871" y="-92503"/>
              <a:ext cx="2942771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2B551A14-6563-940D-4FBA-158ED9F20E62}"/>
                </a:ext>
              </a:extLst>
            </p:cNvPr>
            <p:cNvSpPr txBox="1"/>
            <p:nvPr/>
          </p:nvSpPr>
          <p:spPr>
            <a:xfrm>
              <a:off x="0" y="0"/>
              <a:ext cx="23749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latin typeface="Georgia Pro" panose="02040502050405020303" pitchFamily="18" charset="0"/>
                </a:rPr>
                <a:t>INDICE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426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78AD-B4B3-84C7-6F94-87F01CEF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6">
            <a:extLst>
              <a:ext uri="{FF2B5EF4-FFF2-40B4-BE49-F238E27FC236}">
                <a16:creationId xmlns:a16="http://schemas.microsoft.com/office/drawing/2014/main" id="{7670C89D-55E0-949E-C6E4-92D357CF7DFB}"/>
              </a:ext>
            </a:extLst>
          </p:cNvPr>
          <p:cNvSpPr/>
          <p:nvPr/>
        </p:nvSpPr>
        <p:spPr>
          <a:xfrm>
            <a:off x="6733578" y="2554728"/>
            <a:ext cx="1502215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Sviluppo collaterali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nuovi servizi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597B460-DDF8-3409-F2A6-C227182E6E6A}"/>
              </a:ext>
            </a:extLst>
          </p:cNvPr>
          <p:cNvSpPr txBox="1"/>
          <p:nvPr/>
        </p:nvSpPr>
        <p:spPr>
          <a:xfrm>
            <a:off x="6320226" y="1402990"/>
            <a:ext cx="2196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ADVANCED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D3B2F338-9F15-7928-1474-F896FF1A1D14}"/>
              </a:ext>
            </a:extLst>
          </p:cNvPr>
          <p:cNvSpPr/>
          <p:nvPr/>
        </p:nvSpPr>
        <p:spPr>
          <a:xfrm>
            <a:off x="3802911" y="2627790"/>
            <a:ext cx="1637512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Vantaggi competitivi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Bilancio </a:t>
            </a: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previsionale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68AE5E7-DD3B-3CB7-14E1-7A147E32A616}"/>
              </a:ext>
            </a:extLst>
          </p:cNvPr>
          <p:cNvSpPr txBox="1"/>
          <p:nvPr/>
        </p:nvSpPr>
        <p:spPr>
          <a:xfrm>
            <a:off x="3491876" y="140299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BASELINE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11475F6-D96B-E04B-FE60-5A6C7853F52B}"/>
              </a:ext>
            </a:extLst>
          </p:cNvPr>
          <p:cNvSpPr/>
          <p:nvPr/>
        </p:nvSpPr>
        <p:spPr>
          <a:xfrm>
            <a:off x="3766368" y="2119368"/>
            <a:ext cx="1849794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 competitivi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Bilancio </a:t>
            </a: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previsionale</a:t>
            </a:r>
            <a:endParaRPr lang="it-IT" sz="800" b="1" noProof="0" dirty="0">
              <a:solidFill>
                <a:schemeClr val="bg1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BC830479-9EC2-AF59-A5FB-E3F87613A1D1}"/>
              </a:ext>
            </a:extLst>
          </p:cNvPr>
          <p:cNvSpPr/>
          <p:nvPr/>
        </p:nvSpPr>
        <p:spPr>
          <a:xfrm>
            <a:off x="3416170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B32775C4-34D8-FB24-A078-73D9FE9EE810}"/>
              </a:ext>
            </a:extLst>
          </p:cNvPr>
          <p:cNvSpPr/>
          <p:nvPr/>
        </p:nvSpPr>
        <p:spPr>
          <a:xfrm>
            <a:off x="6952653" y="2106982"/>
            <a:ext cx="1502215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collaterali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servizi</a:t>
            </a:r>
            <a:endParaRPr lang="it-IT" sz="800" b="1" noProof="0" dirty="0">
              <a:solidFill>
                <a:schemeClr val="bg1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DA2206A-AC08-51E2-6744-E5791F48F8A6}"/>
              </a:ext>
            </a:extLst>
          </p:cNvPr>
          <p:cNvSpPr/>
          <p:nvPr/>
        </p:nvSpPr>
        <p:spPr>
          <a:xfrm>
            <a:off x="6320227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7F494FB-B0F1-2F31-17D9-493513D8F1F8}"/>
              </a:ext>
            </a:extLst>
          </p:cNvPr>
          <p:cNvSpPr/>
          <p:nvPr/>
        </p:nvSpPr>
        <p:spPr>
          <a:xfrm flipH="1">
            <a:off x="512113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D7977F8-7A5F-AC3D-E607-1CCA6E505155}"/>
              </a:ext>
            </a:extLst>
          </p:cNvPr>
          <p:cNvSpPr txBox="1"/>
          <p:nvPr/>
        </p:nvSpPr>
        <p:spPr>
          <a:xfrm>
            <a:off x="754482" y="2507277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Numeri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business attuale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analisi SWOT</a:t>
            </a:r>
            <a:endParaRPr lang="it-IT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4732C81-6502-E9B8-E6EA-CA94E19E9555}"/>
              </a:ext>
            </a:extLst>
          </p:cNvPr>
          <p:cNvGrpSpPr/>
          <p:nvPr/>
        </p:nvGrpSpPr>
        <p:grpSpPr>
          <a:xfrm rot="15234470" flipH="1" flipV="1">
            <a:off x="7411900" y="3939492"/>
            <a:ext cx="3103302" cy="2916101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900AF20-DCB9-A77E-D793-1107B54F020E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1A810655-C0A3-4ADD-6BE3-CDBC2E62486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022A71C-323F-C354-0EA0-A98E22A72342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C987853-9A5C-ABCB-304D-C1C7B96CA201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A4B31DD-1247-30C6-BAF2-3BEC9F9C0C49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A9E84F2B-0AAD-B009-BCA6-97DDDABA53F4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83CB0D91-294C-30F7-0C47-63F8A96A1D7C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3CFB04A-4C6E-E0DB-0F69-8F1325CE2581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CE61FA0C-5511-414B-E72B-38CD7A19ED7E}"/>
              </a:ext>
            </a:extLst>
          </p:cNvPr>
          <p:cNvSpPr/>
          <p:nvPr/>
        </p:nvSpPr>
        <p:spPr>
          <a:xfrm>
            <a:off x="1358276" y="1592214"/>
            <a:ext cx="3969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400" b="0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E46B6A9-188F-FBE8-996E-C9F124985920}"/>
              </a:ext>
            </a:extLst>
          </p:cNvPr>
          <p:cNvSpPr/>
          <p:nvPr/>
        </p:nvSpPr>
        <p:spPr>
          <a:xfrm>
            <a:off x="4055925" y="2086700"/>
            <a:ext cx="103214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631E21B-2EC3-CBD2-2D72-C3BD6C685310}"/>
              </a:ext>
            </a:extLst>
          </p:cNvPr>
          <p:cNvSpPr/>
          <p:nvPr/>
        </p:nvSpPr>
        <p:spPr>
          <a:xfrm>
            <a:off x="6939453" y="2081393"/>
            <a:ext cx="103214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3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FB94E7D3-33EF-729F-AB2A-DD07644A8084}"/>
              </a:ext>
            </a:extLst>
          </p:cNvPr>
          <p:cNvGrpSpPr/>
          <p:nvPr/>
        </p:nvGrpSpPr>
        <p:grpSpPr>
          <a:xfrm>
            <a:off x="-824962" y="-71985"/>
            <a:ext cx="5821045" cy="784830"/>
            <a:chOff x="-821871" y="-92503"/>
            <a:chExt cx="3196771" cy="78483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FE2C8456-561E-303E-7490-CE0090407210}"/>
                </a:ext>
              </a:extLst>
            </p:cNvPr>
            <p:cNvSpPr/>
            <p:nvPr/>
          </p:nvSpPr>
          <p:spPr>
            <a:xfrm>
              <a:off x="-821871" y="-92503"/>
              <a:ext cx="2942771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E6819B39-D8B9-53A5-5805-E92798CAEB39}"/>
                </a:ext>
              </a:extLst>
            </p:cNvPr>
            <p:cNvSpPr txBox="1"/>
            <p:nvPr/>
          </p:nvSpPr>
          <p:spPr>
            <a:xfrm>
              <a:off x="0" y="0"/>
              <a:ext cx="23749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latin typeface="Georgia Pro" panose="02040502050405020303" pitchFamily="18" charset="0"/>
                </a:rPr>
                <a:t>INDICE</a:t>
              </a:r>
            </a:p>
          </p:txBody>
        </p:sp>
      </p:grp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B63D0612-A170-EB52-784A-B8DF3F830AFA}"/>
              </a:ext>
            </a:extLst>
          </p:cNvPr>
          <p:cNvSpPr txBox="1"/>
          <p:nvPr/>
        </p:nvSpPr>
        <p:spPr>
          <a:xfrm>
            <a:off x="578505" y="1390569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SITUAZIONE ATTUALE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260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64D03-C808-CDB2-EF13-5A6B6005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6">
            <a:extLst>
              <a:ext uri="{FF2B5EF4-FFF2-40B4-BE49-F238E27FC236}">
                <a16:creationId xmlns:a16="http://schemas.microsoft.com/office/drawing/2014/main" id="{21BDF546-8D85-6CE4-3613-62F430ADF182}"/>
              </a:ext>
            </a:extLst>
          </p:cNvPr>
          <p:cNvSpPr/>
          <p:nvPr/>
        </p:nvSpPr>
        <p:spPr>
          <a:xfrm>
            <a:off x="6733578" y="2554728"/>
            <a:ext cx="1502215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Sviluppo collaterali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nuovi servizi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E63C994-6BAB-ABCC-197A-EA12204CACA1}"/>
              </a:ext>
            </a:extLst>
          </p:cNvPr>
          <p:cNvSpPr txBox="1"/>
          <p:nvPr/>
        </p:nvSpPr>
        <p:spPr>
          <a:xfrm>
            <a:off x="6320226" y="1402990"/>
            <a:ext cx="2196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ADVANCED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6B872081-8190-5815-A387-2C61B102038A}"/>
              </a:ext>
            </a:extLst>
          </p:cNvPr>
          <p:cNvSpPr/>
          <p:nvPr/>
        </p:nvSpPr>
        <p:spPr>
          <a:xfrm>
            <a:off x="6952653" y="2106982"/>
            <a:ext cx="1502215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collaterali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servizi</a:t>
            </a:r>
            <a:endParaRPr lang="it-IT" sz="800" b="1" noProof="0" dirty="0">
              <a:solidFill>
                <a:schemeClr val="bg1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C0F040B-B94A-0D79-0EB0-737843FA98A1}"/>
              </a:ext>
            </a:extLst>
          </p:cNvPr>
          <p:cNvSpPr/>
          <p:nvPr/>
        </p:nvSpPr>
        <p:spPr>
          <a:xfrm>
            <a:off x="6320227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42E5592-FD72-0C1C-7ABD-C1FEA810AC8C}"/>
              </a:ext>
            </a:extLst>
          </p:cNvPr>
          <p:cNvSpPr/>
          <p:nvPr/>
        </p:nvSpPr>
        <p:spPr>
          <a:xfrm flipH="1">
            <a:off x="512113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6197F6-CCF2-4051-C893-11607327ACF5}"/>
              </a:ext>
            </a:extLst>
          </p:cNvPr>
          <p:cNvSpPr txBox="1"/>
          <p:nvPr/>
        </p:nvSpPr>
        <p:spPr>
          <a:xfrm>
            <a:off x="754482" y="2507277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Numeri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business attuale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analisi SWOT</a:t>
            </a:r>
            <a:endParaRPr lang="it-IT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4596716-B4B9-910C-FCEE-8E775B0EEC13}"/>
              </a:ext>
            </a:extLst>
          </p:cNvPr>
          <p:cNvSpPr/>
          <p:nvPr/>
        </p:nvSpPr>
        <p:spPr>
          <a:xfrm flipH="1">
            <a:off x="3448888" y="1197191"/>
            <a:ext cx="2134556" cy="3358836"/>
          </a:xfrm>
          <a:prstGeom prst="roundRect">
            <a:avLst>
              <a:gd name="adj" fmla="val 5237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C4F5FB4-2AC5-1F9A-2C29-65D00EEC1EB0}"/>
              </a:ext>
            </a:extLst>
          </p:cNvPr>
          <p:cNvGrpSpPr/>
          <p:nvPr/>
        </p:nvGrpSpPr>
        <p:grpSpPr>
          <a:xfrm rot="15234470" flipH="1" flipV="1">
            <a:off x="7411900" y="3939492"/>
            <a:ext cx="3103302" cy="2916101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C6820B4-EBF1-AB78-2FC9-370331037522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9220A5F-585A-71F1-6806-10056C0D05F7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75200404-08EE-9030-1B44-70373FD6522D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DF564E6-B6B7-EEB6-BAF1-424523D569DC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891E0FB-C639-6432-C812-C73EAE37E9E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A6CA1905-AFE0-E5EA-B0C0-AD119A2939C2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1C3AD591-1334-ED55-3B77-09B7CD4E2224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D23FD6D-FD2A-6A03-E12D-1F9F6AD220EA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Rettangolo 6">
            <a:extLst>
              <a:ext uri="{FF2B5EF4-FFF2-40B4-BE49-F238E27FC236}">
                <a16:creationId xmlns:a16="http://schemas.microsoft.com/office/drawing/2014/main" id="{7D4C4155-2651-A3D0-65B6-66730AC59031}"/>
              </a:ext>
            </a:extLst>
          </p:cNvPr>
          <p:cNvSpPr/>
          <p:nvPr/>
        </p:nvSpPr>
        <p:spPr>
          <a:xfrm>
            <a:off x="4017496" y="1592214"/>
            <a:ext cx="103214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400" b="0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B68DE9B-2AE6-BD8D-8BB1-EC635715B0BC}"/>
              </a:ext>
            </a:extLst>
          </p:cNvPr>
          <p:cNvSpPr/>
          <p:nvPr/>
        </p:nvSpPr>
        <p:spPr>
          <a:xfrm>
            <a:off x="6939453" y="2081393"/>
            <a:ext cx="103214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3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AEFB0E78-9D34-E4AB-E94E-AE75B164ADEF}"/>
              </a:ext>
            </a:extLst>
          </p:cNvPr>
          <p:cNvSpPr/>
          <p:nvPr/>
        </p:nvSpPr>
        <p:spPr>
          <a:xfrm>
            <a:off x="3802911" y="2627790"/>
            <a:ext cx="1637512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Vantaggi competitivi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Bilancio </a:t>
            </a: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previsionale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96F1DC4-5DDB-3ADA-CA65-60EF76A351B4}"/>
              </a:ext>
            </a:extLst>
          </p:cNvPr>
          <p:cNvGrpSpPr/>
          <p:nvPr/>
        </p:nvGrpSpPr>
        <p:grpSpPr>
          <a:xfrm>
            <a:off x="-824962" y="-71985"/>
            <a:ext cx="5821045" cy="784830"/>
            <a:chOff x="-821871" y="-92503"/>
            <a:chExt cx="3196771" cy="78483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CC61DCA6-490B-26DE-EABE-3141D5C9049A}"/>
                </a:ext>
              </a:extLst>
            </p:cNvPr>
            <p:cNvSpPr/>
            <p:nvPr/>
          </p:nvSpPr>
          <p:spPr>
            <a:xfrm>
              <a:off x="-821871" y="-92503"/>
              <a:ext cx="2942771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A81C6309-FB2B-0F45-BE3F-E8C9AB5ACEEA}"/>
                </a:ext>
              </a:extLst>
            </p:cNvPr>
            <p:cNvSpPr txBox="1"/>
            <p:nvPr/>
          </p:nvSpPr>
          <p:spPr>
            <a:xfrm>
              <a:off x="0" y="0"/>
              <a:ext cx="23749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latin typeface="Georgia Pro" panose="02040502050405020303" pitchFamily="18" charset="0"/>
                </a:rPr>
                <a:t>INDICE</a:t>
              </a:r>
            </a:p>
          </p:txBody>
        </p:sp>
      </p:grpSp>
      <p:sp>
        <p:nvSpPr>
          <p:cNvPr id="27" name="Rettangolo 26">
            <a:extLst>
              <a:ext uri="{FF2B5EF4-FFF2-40B4-BE49-F238E27FC236}">
                <a16:creationId xmlns:a16="http://schemas.microsoft.com/office/drawing/2014/main" id="{CBE545C2-5975-B62B-5EE3-A744D86941D0}"/>
              </a:ext>
            </a:extLst>
          </p:cNvPr>
          <p:cNvSpPr/>
          <p:nvPr/>
        </p:nvSpPr>
        <p:spPr>
          <a:xfrm>
            <a:off x="1358276" y="1592214"/>
            <a:ext cx="3969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400" b="0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322D610-6D0E-C260-560E-17775AA0954E}"/>
              </a:ext>
            </a:extLst>
          </p:cNvPr>
          <p:cNvSpPr txBox="1"/>
          <p:nvPr/>
        </p:nvSpPr>
        <p:spPr>
          <a:xfrm>
            <a:off x="578505" y="1390569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SITUAZIONE ATTUALE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E5DF706-346C-0B4E-3CB8-CDD37FD32B9B}"/>
              </a:ext>
            </a:extLst>
          </p:cNvPr>
          <p:cNvSpPr txBox="1"/>
          <p:nvPr/>
        </p:nvSpPr>
        <p:spPr>
          <a:xfrm>
            <a:off x="3491876" y="140299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BASELINE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3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C10E-D2FE-0D7D-15D6-B4F226D0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E83F1E8-A92B-F574-543C-5F88D534B903}"/>
              </a:ext>
            </a:extLst>
          </p:cNvPr>
          <p:cNvSpPr/>
          <p:nvPr/>
        </p:nvSpPr>
        <p:spPr>
          <a:xfrm flipH="1">
            <a:off x="6320226" y="1197191"/>
            <a:ext cx="2134556" cy="3358836"/>
          </a:xfrm>
          <a:prstGeom prst="roundRect">
            <a:avLst>
              <a:gd name="adj" fmla="val 5237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F2B0D9D1-9851-99D2-B674-543E55374C3F}"/>
              </a:ext>
            </a:extLst>
          </p:cNvPr>
          <p:cNvSpPr/>
          <p:nvPr/>
        </p:nvSpPr>
        <p:spPr>
          <a:xfrm>
            <a:off x="6733578" y="2554728"/>
            <a:ext cx="1502215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Sviluppo collaterali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nuovi servizi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45C2AA1-10E0-FA6C-BEA5-E1451CC8BB52}"/>
              </a:ext>
            </a:extLst>
          </p:cNvPr>
          <p:cNvSpPr/>
          <p:nvPr/>
        </p:nvSpPr>
        <p:spPr>
          <a:xfrm flipH="1">
            <a:off x="512113" y="1197191"/>
            <a:ext cx="2199992" cy="3358836"/>
          </a:xfrm>
          <a:prstGeom prst="roundRect">
            <a:avLst>
              <a:gd name="adj" fmla="val 5237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0004704-8133-AAC3-252D-AD59C8F88A19}"/>
              </a:ext>
            </a:extLst>
          </p:cNvPr>
          <p:cNvSpPr txBox="1"/>
          <p:nvPr/>
        </p:nvSpPr>
        <p:spPr>
          <a:xfrm>
            <a:off x="754482" y="2507277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Numeri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business attuale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analisi SWOT</a:t>
            </a:r>
            <a:endParaRPr lang="it-IT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0C494FE-B6CC-7F1A-43F3-CC9BE88AB046}"/>
              </a:ext>
            </a:extLst>
          </p:cNvPr>
          <p:cNvSpPr/>
          <p:nvPr/>
        </p:nvSpPr>
        <p:spPr>
          <a:xfrm flipH="1">
            <a:off x="3448888" y="1197191"/>
            <a:ext cx="2134556" cy="3358836"/>
          </a:xfrm>
          <a:prstGeom prst="roundRect">
            <a:avLst>
              <a:gd name="adj" fmla="val 5237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040F7CB-6137-21B4-6B6F-54A774CAF77E}"/>
              </a:ext>
            </a:extLst>
          </p:cNvPr>
          <p:cNvGrpSpPr/>
          <p:nvPr/>
        </p:nvGrpSpPr>
        <p:grpSpPr>
          <a:xfrm rot="15234470" flipH="1" flipV="1">
            <a:off x="7411900" y="3939492"/>
            <a:ext cx="3103302" cy="2916101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3DD06665-E2AB-06CE-18A6-CB241BA06427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8AB479B-4C6A-5A5B-F2B6-AB8F9389BFA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59EB9F4-91F5-0B6C-B71F-F399ACC08D7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1F6FA7C6-14AE-06D3-E227-BD22579167D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5F3DD620-0F8F-BD30-E34C-6725E4F22D25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D515C4A6-533F-B922-D024-5AEAA6E0198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043E4407-7177-0206-8F8D-1C228FC6C68A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04061F5D-77A7-07C4-0F9F-6B4E8016F70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8" name="Rettangolo 7">
            <a:extLst>
              <a:ext uri="{FF2B5EF4-FFF2-40B4-BE49-F238E27FC236}">
                <a16:creationId xmlns:a16="http://schemas.microsoft.com/office/drawing/2014/main" id="{E4FBFB1C-0B5A-3D3F-F5E8-44F553E762D6}"/>
              </a:ext>
            </a:extLst>
          </p:cNvPr>
          <p:cNvSpPr/>
          <p:nvPr/>
        </p:nvSpPr>
        <p:spPr>
          <a:xfrm>
            <a:off x="6871429" y="1594455"/>
            <a:ext cx="103214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400" b="0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3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DCD6B2E6-4484-5206-3470-60B0EA628F9F}"/>
              </a:ext>
            </a:extLst>
          </p:cNvPr>
          <p:cNvSpPr/>
          <p:nvPr/>
        </p:nvSpPr>
        <p:spPr>
          <a:xfrm>
            <a:off x="3802911" y="2627790"/>
            <a:ext cx="1637512" cy="92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Vantaggi competitivi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Bilancio </a:t>
            </a:r>
            <a:r>
              <a:rPr lang="it-IT" sz="14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previsionale</a:t>
            </a:r>
            <a:endParaRPr lang="it-IT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B31CEFE-FCF6-1F90-C051-5B67B0A0CDF7}"/>
              </a:ext>
            </a:extLst>
          </p:cNvPr>
          <p:cNvSpPr/>
          <p:nvPr/>
        </p:nvSpPr>
        <p:spPr>
          <a:xfrm>
            <a:off x="1358276" y="1592214"/>
            <a:ext cx="3969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400" b="0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DC31523-AB61-EB1E-423E-D9C907A59A29}"/>
              </a:ext>
            </a:extLst>
          </p:cNvPr>
          <p:cNvSpPr txBox="1"/>
          <p:nvPr/>
        </p:nvSpPr>
        <p:spPr>
          <a:xfrm>
            <a:off x="578505" y="1390569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SITUAZIONE ATTUALE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8431F00-4B1C-4566-757F-1E8DA8A35B0D}"/>
              </a:ext>
            </a:extLst>
          </p:cNvPr>
          <p:cNvSpPr/>
          <p:nvPr/>
        </p:nvSpPr>
        <p:spPr>
          <a:xfrm>
            <a:off x="4017496" y="1592214"/>
            <a:ext cx="103214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400" b="0" cap="none" spc="0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2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BA25740-7CB1-9B30-A8E7-662A583F9631}"/>
              </a:ext>
            </a:extLst>
          </p:cNvPr>
          <p:cNvSpPr txBox="1"/>
          <p:nvPr/>
        </p:nvSpPr>
        <p:spPr>
          <a:xfrm>
            <a:off x="3491876" y="140299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BASELINE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0DC4BFB-2A29-AC0B-B8C1-257402E92F12}"/>
              </a:ext>
            </a:extLst>
          </p:cNvPr>
          <p:cNvSpPr txBox="1"/>
          <p:nvPr/>
        </p:nvSpPr>
        <p:spPr>
          <a:xfrm>
            <a:off x="6320226" y="1402990"/>
            <a:ext cx="2196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SCENARIO ADVANCED</a:t>
            </a:r>
            <a:endParaRPr lang="it-IT" sz="1400" b="1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C8D5A791-7545-3AD8-AC46-CEA86E808573}"/>
              </a:ext>
            </a:extLst>
          </p:cNvPr>
          <p:cNvGrpSpPr/>
          <p:nvPr/>
        </p:nvGrpSpPr>
        <p:grpSpPr>
          <a:xfrm>
            <a:off x="-824962" y="-71985"/>
            <a:ext cx="5821045" cy="784830"/>
            <a:chOff x="-821871" y="-92503"/>
            <a:chExt cx="3196771" cy="78483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79302579-B0DC-4CF1-4A7C-B600565A85BF}"/>
                </a:ext>
              </a:extLst>
            </p:cNvPr>
            <p:cNvSpPr/>
            <p:nvPr/>
          </p:nvSpPr>
          <p:spPr>
            <a:xfrm>
              <a:off x="-821871" y="-92503"/>
              <a:ext cx="2942771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6E18638E-1C1F-6C8D-A5BB-83926426702E}"/>
                </a:ext>
              </a:extLst>
            </p:cNvPr>
            <p:cNvSpPr txBox="1"/>
            <p:nvPr/>
          </p:nvSpPr>
          <p:spPr>
            <a:xfrm>
              <a:off x="0" y="0"/>
              <a:ext cx="23749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latin typeface="Georgia Pro" panose="02040502050405020303" pitchFamily="18" charset="0"/>
                </a:rPr>
                <a:t>INDICE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092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00DC7-48FB-BD37-C41C-E245AA2A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69177774-648E-7539-2930-B519287CAFC9}"/>
              </a:ext>
            </a:extLst>
          </p:cNvPr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0AAD040-D7C4-2198-86AF-AEF8C0B2355A}"/>
              </a:ext>
            </a:extLst>
          </p:cNvPr>
          <p:cNvGrpSpPr/>
          <p:nvPr/>
        </p:nvGrpSpPr>
        <p:grpSpPr>
          <a:xfrm rot="6050186" flipH="1" flipV="1">
            <a:off x="1940700" y="-1603588"/>
            <a:ext cx="5341916" cy="5080039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B0C34CA-BA50-4A47-A7FC-60A33F5B7C2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410A00FC-D527-77BF-3B44-679ABE5C3973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B8BC2B9-1694-9A0A-EF57-A815CA361DE8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58D1B29-A62B-B92F-D792-433F93FADDA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BDF4EB5-1425-F149-4E46-098CE66033C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6A708086-3398-8C3D-3038-1A28635F7A0C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E43B7ECB-1A8A-58B6-7824-E7A5C9ABD5B0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63351F78-8E92-FE22-6F93-B5CF2EDC6CE2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13" name="Text 2">
            <a:extLst>
              <a:ext uri="{FF2B5EF4-FFF2-40B4-BE49-F238E27FC236}">
                <a16:creationId xmlns:a16="http://schemas.microsoft.com/office/drawing/2014/main" id="{1C04BC50-5EA0-81A5-C0F5-B18534DCDBAD}"/>
              </a:ext>
            </a:extLst>
          </p:cNvPr>
          <p:cNvSpPr/>
          <p:nvPr/>
        </p:nvSpPr>
        <p:spPr>
          <a:xfrm>
            <a:off x="365760" y="339749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SITUAZIONE ATTUALE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A5B516F-9E78-5E9B-D257-E30DC0DD1E25}"/>
              </a:ext>
            </a:extLst>
          </p:cNvPr>
          <p:cNvSpPr/>
          <p:nvPr/>
        </p:nvSpPr>
        <p:spPr>
          <a:xfrm>
            <a:off x="383177" y="341971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4200" dirty="0">
              <a:solidFill>
                <a:schemeClr val="tx2"/>
              </a:solidFill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036F0B4-6AF5-3FAE-5C82-C22FFE9896B3}"/>
              </a:ext>
            </a:extLst>
          </p:cNvPr>
          <p:cNvSpPr/>
          <p:nvPr/>
        </p:nvSpPr>
        <p:spPr>
          <a:xfrm>
            <a:off x="365760" y="4286093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della situazione corrente e del business attuale</a:t>
            </a:r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40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B191-4AF2-0ADA-FA93-8D9195D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uppo 71">
            <a:extLst>
              <a:ext uri="{FF2B5EF4-FFF2-40B4-BE49-F238E27FC236}">
                <a16:creationId xmlns:a16="http://schemas.microsoft.com/office/drawing/2014/main" id="{2BDD4482-FC0E-6E00-FCE4-FA82E9A637EE}"/>
              </a:ext>
            </a:extLst>
          </p:cNvPr>
          <p:cNvGrpSpPr/>
          <p:nvPr/>
        </p:nvGrpSpPr>
        <p:grpSpPr>
          <a:xfrm>
            <a:off x="-1320802" y="-4602"/>
            <a:ext cx="8144994" cy="784830"/>
            <a:chOff x="-821871" y="-92503"/>
            <a:chExt cx="4473025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3" name="Rettangolo 72">
              <a:extLst>
                <a:ext uri="{FF2B5EF4-FFF2-40B4-BE49-F238E27FC236}">
                  <a16:creationId xmlns:a16="http://schemas.microsoft.com/office/drawing/2014/main" id="{07197F05-52AA-6F22-C88E-86709DAC8A6E}"/>
                </a:ext>
              </a:extLst>
            </p:cNvPr>
            <p:cNvSpPr/>
            <p:nvPr/>
          </p:nvSpPr>
          <p:spPr>
            <a:xfrm>
              <a:off x="-821871" y="-92503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CasellaDiTesto 73">
              <a:extLst>
                <a:ext uri="{FF2B5EF4-FFF2-40B4-BE49-F238E27FC236}">
                  <a16:creationId xmlns:a16="http://schemas.microsoft.com/office/drawing/2014/main" id="{33993BB9-4065-FF42-4336-9876E7FAF00B}"/>
                </a:ext>
              </a:extLst>
            </p:cNvPr>
            <p:cNvSpPr txBox="1"/>
            <p:nvPr/>
          </p:nvSpPr>
          <p:spPr>
            <a:xfrm>
              <a:off x="1276254" y="30235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Alcuni numeri 2025</a:t>
              </a:r>
            </a:p>
          </p:txBody>
        </p:sp>
      </p:grpSp>
      <p:sp>
        <p:nvSpPr>
          <p:cNvPr id="12" name="Shape 26">
            <a:extLst>
              <a:ext uri="{FF2B5EF4-FFF2-40B4-BE49-F238E27FC236}">
                <a16:creationId xmlns:a16="http://schemas.microsoft.com/office/drawing/2014/main" id="{2CEB75C3-5AAC-B48E-628C-6DC09838896E}"/>
              </a:ext>
            </a:extLst>
          </p:cNvPr>
          <p:cNvSpPr/>
          <p:nvPr/>
        </p:nvSpPr>
        <p:spPr>
          <a:xfrm>
            <a:off x="6182679" y="1761561"/>
            <a:ext cx="27432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0BC6CDC4-8202-04B5-3A0B-8488651198D7}"/>
              </a:ext>
            </a:extLst>
          </p:cNvPr>
          <p:cNvSpPr/>
          <p:nvPr/>
        </p:nvSpPr>
        <p:spPr>
          <a:xfrm>
            <a:off x="6274119" y="1990161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risorse</a:t>
            </a:r>
            <a:endParaRPr lang="en-US" sz="22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D48B803-D9BB-CCBD-0D9A-DD6CE95CB1C9}"/>
              </a:ext>
            </a:extLst>
          </p:cNvPr>
          <p:cNvSpPr/>
          <p:nvPr/>
        </p:nvSpPr>
        <p:spPr>
          <a:xfrm>
            <a:off x="6274119" y="2511369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31/12/2025</a:t>
            </a:r>
            <a:endParaRPr lang="en-US" sz="100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F1A76610-C97A-E2C4-F302-FE930E5471D0}"/>
              </a:ext>
            </a:extLst>
          </p:cNvPr>
          <p:cNvSpPr/>
          <p:nvPr/>
        </p:nvSpPr>
        <p:spPr>
          <a:xfrm>
            <a:off x="6182679" y="1753888"/>
            <a:ext cx="2743200" cy="20116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B3886621-9282-AD3B-F487-D8362811A269}"/>
              </a:ext>
            </a:extLst>
          </p:cNvPr>
          <p:cNvSpPr txBox="1"/>
          <p:nvPr/>
        </p:nvSpPr>
        <p:spPr>
          <a:xfrm>
            <a:off x="6165726" y="1722196"/>
            <a:ext cx="17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DIPENDENTI</a:t>
            </a:r>
          </a:p>
        </p:txBody>
      </p:sp>
      <p:sp>
        <p:nvSpPr>
          <p:cNvPr id="6" name="Shape 21">
            <a:extLst>
              <a:ext uri="{FF2B5EF4-FFF2-40B4-BE49-F238E27FC236}">
                <a16:creationId xmlns:a16="http://schemas.microsoft.com/office/drawing/2014/main" id="{3F966A64-2A53-0AC2-05CD-F0500F21F3E0}"/>
              </a:ext>
            </a:extLst>
          </p:cNvPr>
          <p:cNvSpPr/>
          <p:nvPr/>
        </p:nvSpPr>
        <p:spPr>
          <a:xfrm>
            <a:off x="3195828" y="1731667"/>
            <a:ext cx="27432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22">
            <a:extLst>
              <a:ext uri="{FF2B5EF4-FFF2-40B4-BE49-F238E27FC236}">
                <a16:creationId xmlns:a16="http://schemas.microsoft.com/office/drawing/2014/main" id="{E58E570C-4C24-25D2-FB60-71B98FA1E7E8}"/>
              </a:ext>
            </a:extLst>
          </p:cNvPr>
          <p:cNvSpPr/>
          <p:nvPr/>
        </p:nvSpPr>
        <p:spPr>
          <a:xfrm>
            <a:off x="3195828" y="1731667"/>
            <a:ext cx="2743200" cy="20116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8" name="Text 24">
            <a:extLst>
              <a:ext uri="{FF2B5EF4-FFF2-40B4-BE49-F238E27FC236}">
                <a16:creationId xmlns:a16="http://schemas.microsoft.com/office/drawing/2014/main" id="{3AF797D4-C3BB-2846-9B10-DBE2EACF9D3F}"/>
              </a:ext>
            </a:extLst>
          </p:cNvPr>
          <p:cNvSpPr/>
          <p:nvPr/>
        </p:nvSpPr>
        <p:spPr>
          <a:xfrm>
            <a:off x="3287268" y="1960267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€ 64 mila</a:t>
            </a:r>
            <a:endParaRPr lang="en-US" sz="2200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7C873063-7F43-65B1-6308-578BB2E70D70}"/>
              </a:ext>
            </a:extLst>
          </p:cNvPr>
          <p:cNvSpPr/>
          <p:nvPr/>
        </p:nvSpPr>
        <p:spPr>
          <a:xfrm>
            <a:off x="3287268" y="2481475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7,0% net margin</a:t>
            </a:r>
            <a:endParaRPr lang="en-US" sz="10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575E10B-136E-B92F-DAF0-1CCD8E145FD8}"/>
              </a:ext>
            </a:extLst>
          </p:cNvPr>
          <p:cNvSpPr txBox="1"/>
          <p:nvPr/>
        </p:nvSpPr>
        <p:spPr>
          <a:xfrm>
            <a:off x="3195828" y="1692302"/>
            <a:ext cx="17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UTILE NETTO</a:t>
            </a:r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E269574B-332D-617E-5EC3-699FB6301885}"/>
              </a:ext>
            </a:extLst>
          </p:cNvPr>
          <p:cNvSpPr/>
          <p:nvPr/>
        </p:nvSpPr>
        <p:spPr>
          <a:xfrm>
            <a:off x="218121" y="1727199"/>
            <a:ext cx="27432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AC6DD8BD-DE25-E59F-810B-5FD08F334D14}"/>
              </a:ext>
            </a:extLst>
          </p:cNvPr>
          <p:cNvSpPr/>
          <p:nvPr/>
        </p:nvSpPr>
        <p:spPr>
          <a:xfrm>
            <a:off x="309561" y="195579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€ 107 mila</a:t>
            </a:r>
            <a:endParaRPr lang="en-US" sz="22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0176EA63-C78B-4666-E6B4-3A3028E90A65}"/>
              </a:ext>
            </a:extLst>
          </p:cNvPr>
          <p:cNvSpPr/>
          <p:nvPr/>
        </p:nvSpPr>
        <p:spPr>
          <a:xfrm>
            <a:off x="309561" y="24770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11,7% margin</a:t>
            </a:r>
            <a:endParaRPr lang="en-US" sz="1000" dirty="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26095DBA-D31C-EF39-1768-15C6FC4972DE}"/>
              </a:ext>
            </a:extLst>
          </p:cNvPr>
          <p:cNvSpPr/>
          <p:nvPr/>
        </p:nvSpPr>
        <p:spPr>
          <a:xfrm>
            <a:off x="218121" y="1718055"/>
            <a:ext cx="2743200" cy="20116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49ADB6E3-8BE3-F4D3-E055-9779A6B6DF46}"/>
              </a:ext>
            </a:extLst>
          </p:cNvPr>
          <p:cNvSpPr txBox="1"/>
          <p:nvPr/>
        </p:nvSpPr>
        <p:spPr>
          <a:xfrm>
            <a:off x="235074" y="1687834"/>
            <a:ext cx="17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EBITDA</a:t>
            </a: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0A3A7981-8990-F33A-CFD7-D33E31C4F9C0}"/>
              </a:ext>
            </a:extLst>
          </p:cNvPr>
          <p:cNvSpPr/>
          <p:nvPr/>
        </p:nvSpPr>
        <p:spPr>
          <a:xfrm>
            <a:off x="191879" y="47855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rettificati · CAGR 2025–2028: +17,9%</a:t>
            </a:r>
            <a:endParaRPr lang="en-US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6C7B50D-8CAD-009C-D693-198932CB087A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7675EB-962D-0E05-D499-C605EFB2620D}"/>
              </a:ext>
            </a:extLst>
          </p:cNvPr>
          <p:cNvSpPr/>
          <p:nvPr/>
        </p:nvSpPr>
        <p:spPr>
          <a:xfrm>
            <a:off x="2051480" y="82733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consuntivati — variazione su 2024</a:t>
            </a:r>
            <a:endParaRPr lang="en-US" sz="1400" dirty="0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B9AF63C9-AB7E-D7D6-7B05-A38A05D90E0E}"/>
              </a:ext>
            </a:extLst>
          </p:cNvPr>
          <p:cNvSpPr/>
          <p:nvPr/>
        </p:nvSpPr>
        <p:spPr>
          <a:xfrm>
            <a:off x="118238" y="4785588"/>
            <a:ext cx="8686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CE87487A-1413-AF0B-8AB6-A708EAA74B3B}"/>
              </a:ext>
            </a:extLst>
          </p:cNvPr>
          <p:cNvSpPr/>
          <p:nvPr/>
        </p:nvSpPr>
        <p:spPr>
          <a:xfrm>
            <a:off x="201168" y="1609499"/>
            <a:ext cx="26974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3141FD8D-B2CD-FD73-1128-2CB7837EDCAE}"/>
              </a:ext>
            </a:extLst>
          </p:cNvPr>
          <p:cNvSpPr/>
          <p:nvPr/>
        </p:nvSpPr>
        <p:spPr>
          <a:xfrm>
            <a:off x="338328" y="1719227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1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6F93AD54-E593-98DF-A535-1BFE93E63BFD}"/>
              </a:ext>
            </a:extLst>
          </p:cNvPr>
          <p:cNvSpPr/>
          <p:nvPr/>
        </p:nvSpPr>
        <p:spPr>
          <a:xfrm>
            <a:off x="274320" y="1993547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€ 917 mila</a:t>
            </a:r>
            <a:endParaRPr lang="en-US" sz="28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3080AFA-51F0-4A5A-6B0A-5563572CAC02}"/>
              </a:ext>
            </a:extLst>
          </p:cNvPr>
          <p:cNvSpPr/>
          <p:nvPr/>
        </p:nvSpPr>
        <p:spPr>
          <a:xfrm>
            <a:off x="274320" y="2569619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+ 13% vs 2024</a:t>
            </a:r>
            <a:endParaRPr lang="en-US" sz="11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49572B0-AB17-E090-CA44-2FAFCB376CAE}"/>
              </a:ext>
            </a:extLst>
          </p:cNvPr>
          <p:cNvSpPr/>
          <p:nvPr/>
        </p:nvSpPr>
        <p:spPr>
          <a:xfrm>
            <a:off x="3172968" y="1609499"/>
            <a:ext cx="26974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6B23A9F9-CA81-75AC-9466-5319C14DAA36}"/>
              </a:ext>
            </a:extLst>
          </p:cNvPr>
          <p:cNvSpPr/>
          <p:nvPr/>
        </p:nvSpPr>
        <p:spPr>
          <a:xfrm>
            <a:off x="3310128" y="1719227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TOTALI</a:t>
            </a:r>
            <a:endParaRPr lang="en-US" sz="11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3A0F3E2A-F7DA-F046-CC1D-6EEC0A4F2010}"/>
              </a:ext>
            </a:extLst>
          </p:cNvPr>
          <p:cNvSpPr/>
          <p:nvPr/>
        </p:nvSpPr>
        <p:spPr>
          <a:xfrm>
            <a:off x="3246120" y="1993547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€ 840 mila</a:t>
            </a:r>
            <a:endParaRPr lang="en-US" sz="2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CBAE309-81F3-A254-2452-5DCE85671C97}"/>
              </a:ext>
            </a:extLst>
          </p:cNvPr>
          <p:cNvSpPr/>
          <p:nvPr/>
        </p:nvSpPr>
        <p:spPr>
          <a:xfrm>
            <a:off x="3246120" y="2569619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+ 6% vs 2024</a:t>
            </a:r>
            <a:endParaRPr lang="en-US" sz="11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C1CD0AA8-217D-F69F-6473-173CF959A7EB}"/>
              </a:ext>
            </a:extLst>
          </p:cNvPr>
          <p:cNvSpPr/>
          <p:nvPr/>
        </p:nvSpPr>
        <p:spPr>
          <a:xfrm>
            <a:off x="6144768" y="1609499"/>
            <a:ext cx="26974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A0EDC99-ADC2-AB93-7968-ADE45B311342}"/>
              </a:ext>
            </a:extLst>
          </p:cNvPr>
          <p:cNvSpPr/>
          <p:nvPr/>
        </p:nvSpPr>
        <p:spPr>
          <a:xfrm>
            <a:off x="6281928" y="1719227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EBT</a:t>
            </a:r>
            <a:endParaRPr lang="en-US" sz="11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E8CB2E0D-93FB-71F8-CCF3-F0A827C0CC33}"/>
              </a:ext>
            </a:extLst>
          </p:cNvPr>
          <p:cNvSpPr/>
          <p:nvPr/>
        </p:nvSpPr>
        <p:spPr>
          <a:xfrm>
            <a:off x="6217920" y="1993547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€ 95 mila</a:t>
            </a:r>
            <a:endParaRPr lang="en-US" sz="28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8985ABC0-3D0E-03FF-5C68-AE8E0097915E}"/>
              </a:ext>
            </a:extLst>
          </p:cNvPr>
          <p:cNvSpPr/>
          <p:nvPr/>
        </p:nvSpPr>
        <p:spPr>
          <a:xfrm>
            <a:off x="6217920" y="2569619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+ 120% vs 2024</a:t>
            </a:r>
            <a:endParaRPr lang="en-US" sz="1100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CE369E9A-B55F-9A3A-13F6-065398F903E3}"/>
              </a:ext>
            </a:extLst>
          </p:cNvPr>
          <p:cNvGrpSpPr/>
          <p:nvPr/>
        </p:nvGrpSpPr>
        <p:grpSpPr>
          <a:xfrm rot="3309264" flipH="1">
            <a:off x="-1338190" y="-2010739"/>
            <a:ext cx="3917297" cy="3549657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D5C3758-A006-0D88-07D7-C238C33EC2B7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990609C5-ACAE-294F-8371-1F78FC0E2A5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B9796850-98B3-A643-5FBC-B4EFD324BB0E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3713B2CB-3EAA-91A5-B5C0-E151D14AEF9D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0308FCD-2E43-E860-6C00-1CA46FC586BE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96600AC-157C-987A-5366-F5E99A867A9A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3AD7F8A1-049B-B0FF-E624-A84145C62C17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B5145B3-07C3-6DF6-7D23-10410FDDAFC1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5906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136C9-6FAF-413E-E699-94FF0998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uppo 56">
            <a:extLst>
              <a:ext uri="{FF2B5EF4-FFF2-40B4-BE49-F238E27FC236}">
                <a16:creationId xmlns:a16="http://schemas.microsoft.com/office/drawing/2014/main" id="{8ED10E7F-FD2C-E3F0-C335-B771A5ADC4FA}"/>
              </a:ext>
            </a:extLst>
          </p:cNvPr>
          <p:cNvGrpSpPr/>
          <p:nvPr/>
        </p:nvGrpSpPr>
        <p:grpSpPr>
          <a:xfrm>
            <a:off x="-1320802" y="-4602"/>
            <a:ext cx="8144994" cy="784830"/>
            <a:chOff x="-821871" y="-92503"/>
            <a:chExt cx="4473025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B2A12379-D1B8-4480-A0DC-63404DA12A50}"/>
                </a:ext>
              </a:extLst>
            </p:cNvPr>
            <p:cNvSpPr/>
            <p:nvPr/>
          </p:nvSpPr>
          <p:spPr>
            <a:xfrm>
              <a:off x="-821871" y="-92503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D344D234-5E36-DDCE-2613-2D86D021390E}"/>
                </a:ext>
              </a:extLst>
            </p:cNvPr>
            <p:cNvSpPr txBox="1"/>
            <p:nvPr/>
          </p:nvSpPr>
          <p:spPr>
            <a:xfrm>
              <a:off x="1276254" y="30235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Alcuni numeri 2025</a:t>
              </a:r>
            </a:p>
          </p:txBody>
        </p:sp>
      </p:grpSp>
      <p:sp>
        <p:nvSpPr>
          <p:cNvPr id="35" name="Shape 16">
            <a:extLst>
              <a:ext uri="{FF2B5EF4-FFF2-40B4-BE49-F238E27FC236}">
                <a16:creationId xmlns:a16="http://schemas.microsoft.com/office/drawing/2014/main" id="{67213334-A906-32F8-AF0D-54EFAEDD0AFD}"/>
              </a:ext>
            </a:extLst>
          </p:cNvPr>
          <p:cNvSpPr/>
          <p:nvPr/>
        </p:nvSpPr>
        <p:spPr>
          <a:xfrm>
            <a:off x="201168" y="3301139"/>
            <a:ext cx="27432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B4F28C23-218B-E774-DA44-D50C1D5AF697}"/>
              </a:ext>
            </a:extLst>
          </p:cNvPr>
          <p:cNvSpPr/>
          <p:nvPr/>
        </p:nvSpPr>
        <p:spPr>
          <a:xfrm>
            <a:off x="292608" y="352973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€ 107 mila</a:t>
            </a:r>
            <a:endParaRPr lang="en-US" sz="22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C0321801-0D3F-FC69-1D2B-E814B4D99192}"/>
              </a:ext>
            </a:extLst>
          </p:cNvPr>
          <p:cNvSpPr/>
          <p:nvPr/>
        </p:nvSpPr>
        <p:spPr>
          <a:xfrm>
            <a:off x="292608" y="405094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11,7% margin</a:t>
            </a:r>
            <a:endParaRPr lang="en-US" sz="1000" dirty="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94BEFB95-69AD-68E2-47D7-8ADE67803787}"/>
              </a:ext>
            </a:extLst>
          </p:cNvPr>
          <p:cNvSpPr/>
          <p:nvPr/>
        </p:nvSpPr>
        <p:spPr>
          <a:xfrm>
            <a:off x="3172968" y="3301139"/>
            <a:ext cx="27432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1AADD267-12FD-BDD6-23A5-0D46AF4981C9}"/>
              </a:ext>
            </a:extLst>
          </p:cNvPr>
          <p:cNvSpPr/>
          <p:nvPr/>
        </p:nvSpPr>
        <p:spPr>
          <a:xfrm>
            <a:off x="3172968" y="3301139"/>
            <a:ext cx="2743200" cy="20116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3620C958-AB54-E733-7AA9-EF8D9BE48B82}"/>
              </a:ext>
            </a:extLst>
          </p:cNvPr>
          <p:cNvSpPr/>
          <p:nvPr/>
        </p:nvSpPr>
        <p:spPr>
          <a:xfrm>
            <a:off x="3264408" y="352973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€ 64 mila</a:t>
            </a:r>
            <a:endParaRPr lang="en-US" sz="220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512352BF-F4B1-9A4B-193E-A9FD7654739D}"/>
              </a:ext>
            </a:extLst>
          </p:cNvPr>
          <p:cNvSpPr/>
          <p:nvPr/>
        </p:nvSpPr>
        <p:spPr>
          <a:xfrm>
            <a:off x="3264408" y="405094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7,0% net margin</a:t>
            </a:r>
            <a:endParaRPr lang="en-US" sz="1000" dirty="0"/>
          </a:p>
        </p:txBody>
      </p:sp>
      <p:sp>
        <p:nvSpPr>
          <p:cNvPr id="43" name="Shape 26">
            <a:extLst>
              <a:ext uri="{FF2B5EF4-FFF2-40B4-BE49-F238E27FC236}">
                <a16:creationId xmlns:a16="http://schemas.microsoft.com/office/drawing/2014/main" id="{BC559CE7-CE8B-7C3D-26B0-0950CED51A54}"/>
              </a:ext>
            </a:extLst>
          </p:cNvPr>
          <p:cNvSpPr/>
          <p:nvPr/>
        </p:nvSpPr>
        <p:spPr>
          <a:xfrm>
            <a:off x="6144768" y="3301139"/>
            <a:ext cx="27432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3489C0A0-8BA2-C419-EEF1-9C18E4B393E3}"/>
              </a:ext>
            </a:extLst>
          </p:cNvPr>
          <p:cNvSpPr/>
          <p:nvPr/>
        </p:nvSpPr>
        <p:spPr>
          <a:xfrm>
            <a:off x="6236208" y="352973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risorse</a:t>
            </a:r>
            <a:endParaRPr lang="en-US" sz="2200" dirty="0"/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6C06C722-4E0A-C8FF-70A8-C1EBD2430A52}"/>
              </a:ext>
            </a:extLst>
          </p:cNvPr>
          <p:cNvSpPr/>
          <p:nvPr/>
        </p:nvSpPr>
        <p:spPr>
          <a:xfrm>
            <a:off x="6236208" y="405094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31/12/2025</a:t>
            </a:r>
            <a:endParaRPr lang="en-US" sz="1000" dirty="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92C87BDF-020E-6AB0-69F3-C237E3C9B855}"/>
              </a:ext>
            </a:extLst>
          </p:cNvPr>
          <p:cNvSpPr/>
          <p:nvPr/>
        </p:nvSpPr>
        <p:spPr>
          <a:xfrm>
            <a:off x="201168" y="3291995"/>
            <a:ext cx="2743200" cy="20116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0E3D146C-5ACA-14EF-33CE-893786BD7A92}"/>
              </a:ext>
            </a:extLst>
          </p:cNvPr>
          <p:cNvSpPr/>
          <p:nvPr/>
        </p:nvSpPr>
        <p:spPr>
          <a:xfrm>
            <a:off x="6144768" y="3293466"/>
            <a:ext cx="2743200" cy="20116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2C774576-CA7C-6DA8-221C-8DC94BC50A71}"/>
              </a:ext>
            </a:extLst>
          </p:cNvPr>
          <p:cNvSpPr txBox="1"/>
          <p:nvPr/>
        </p:nvSpPr>
        <p:spPr>
          <a:xfrm>
            <a:off x="218121" y="3261774"/>
            <a:ext cx="17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EBITDA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D9A081CC-182A-E593-99B5-176F7E734B52}"/>
              </a:ext>
            </a:extLst>
          </p:cNvPr>
          <p:cNvSpPr txBox="1"/>
          <p:nvPr/>
        </p:nvSpPr>
        <p:spPr>
          <a:xfrm>
            <a:off x="3172968" y="3261774"/>
            <a:ext cx="17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UTILE NETTO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BE264479-E496-F803-483A-886EBD3332A8}"/>
              </a:ext>
            </a:extLst>
          </p:cNvPr>
          <p:cNvSpPr txBox="1"/>
          <p:nvPr/>
        </p:nvSpPr>
        <p:spPr>
          <a:xfrm>
            <a:off x="6127815" y="3261774"/>
            <a:ext cx="1787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DIPENDENTI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03B976D-3F20-093A-7305-0AC94581CAB0}"/>
              </a:ext>
            </a:extLst>
          </p:cNvPr>
          <p:cNvSpPr/>
          <p:nvPr/>
        </p:nvSpPr>
        <p:spPr>
          <a:xfrm>
            <a:off x="201168" y="1609499"/>
            <a:ext cx="26974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881CC120-CE47-C0BC-6876-E5436C7115E7}"/>
              </a:ext>
            </a:extLst>
          </p:cNvPr>
          <p:cNvSpPr/>
          <p:nvPr/>
        </p:nvSpPr>
        <p:spPr>
          <a:xfrm>
            <a:off x="338328" y="1719227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1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36CB4837-DAB9-8E84-C721-83A768C435A2}"/>
              </a:ext>
            </a:extLst>
          </p:cNvPr>
          <p:cNvSpPr/>
          <p:nvPr/>
        </p:nvSpPr>
        <p:spPr>
          <a:xfrm>
            <a:off x="274320" y="1993547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€ 917 mila</a:t>
            </a:r>
            <a:endParaRPr lang="en-US" sz="28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736DAF2-0F2D-B69D-E97F-C9ED4953CF36}"/>
              </a:ext>
            </a:extLst>
          </p:cNvPr>
          <p:cNvSpPr/>
          <p:nvPr/>
        </p:nvSpPr>
        <p:spPr>
          <a:xfrm>
            <a:off x="274320" y="2569619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+ 13% vs 2024</a:t>
            </a:r>
            <a:endParaRPr lang="en-US" sz="11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BDE93578-C50D-82A6-DA5E-65BF01492D4D}"/>
              </a:ext>
            </a:extLst>
          </p:cNvPr>
          <p:cNvSpPr/>
          <p:nvPr/>
        </p:nvSpPr>
        <p:spPr>
          <a:xfrm>
            <a:off x="3172968" y="1609499"/>
            <a:ext cx="26974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3739F04E-A48D-EF27-6195-45E6F11453EC}"/>
              </a:ext>
            </a:extLst>
          </p:cNvPr>
          <p:cNvSpPr/>
          <p:nvPr/>
        </p:nvSpPr>
        <p:spPr>
          <a:xfrm>
            <a:off x="3310128" y="1719227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TOTALI</a:t>
            </a:r>
            <a:endParaRPr lang="en-US" sz="11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8E48DBD-C0CA-60DE-A646-9CDC59CDB2DB}"/>
              </a:ext>
            </a:extLst>
          </p:cNvPr>
          <p:cNvSpPr/>
          <p:nvPr/>
        </p:nvSpPr>
        <p:spPr>
          <a:xfrm>
            <a:off x="3246120" y="1993547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€ 840 mila</a:t>
            </a:r>
            <a:endParaRPr lang="en-US" sz="2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826DDA6-8236-CDB2-EC67-B0663D9BD495}"/>
              </a:ext>
            </a:extLst>
          </p:cNvPr>
          <p:cNvSpPr/>
          <p:nvPr/>
        </p:nvSpPr>
        <p:spPr>
          <a:xfrm>
            <a:off x="3246120" y="2569619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+ 6% vs 2024</a:t>
            </a:r>
            <a:endParaRPr lang="en-US" sz="11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469BE495-B21B-0EB2-628D-6C78A3A98FBE}"/>
              </a:ext>
            </a:extLst>
          </p:cNvPr>
          <p:cNvSpPr/>
          <p:nvPr/>
        </p:nvSpPr>
        <p:spPr>
          <a:xfrm>
            <a:off x="6144768" y="1609499"/>
            <a:ext cx="26974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2BC9E6F1-E7BC-91A9-7711-0ADFAC33A08B}"/>
              </a:ext>
            </a:extLst>
          </p:cNvPr>
          <p:cNvSpPr/>
          <p:nvPr/>
        </p:nvSpPr>
        <p:spPr>
          <a:xfrm>
            <a:off x="6281928" y="1719227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EBT</a:t>
            </a:r>
            <a:endParaRPr lang="en-US" sz="11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00C774D2-2D52-3C04-675A-2BDD91777BF9}"/>
              </a:ext>
            </a:extLst>
          </p:cNvPr>
          <p:cNvSpPr/>
          <p:nvPr/>
        </p:nvSpPr>
        <p:spPr>
          <a:xfrm>
            <a:off x="6217920" y="1993547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€ 95 mila</a:t>
            </a:r>
            <a:endParaRPr lang="en-US" sz="28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3166B191-6F1F-46B6-424B-4C2DFC162B9A}"/>
              </a:ext>
            </a:extLst>
          </p:cNvPr>
          <p:cNvSpPr/>
          <p:nvPr/>
        </p:nvSpPr>
        <p:spPr>
          <a:xfrm>
            <a:off x="6217920" y="2569619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+ 120% vs 2024</a:t>
            </a:r>
            <a:endParaRPr lang="en-US" sz="1100" dirty="0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81C6C52D-6C7C-46AB-C9E6-5F87E37DC76A}"/>
              </a:ext>
            </a:extLst>
          </p:cNvPr>
          <p:cNvSpPr/>
          <p:nvPr/>
        </p:nvSpPr>
        <p:spPr>
          <a:xfrm>
            <a:off x="191879" y="47855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rettificati · CAGR 2025–2028: +17,9%</a:t>
            </a:r>
            <a:endParaRPr lang="en-US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7A9E1E0-58F0-A949-BD4A-B057763AD732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FF8D741-4B1D-67ED-6815-8090F46AC5B4}"/>
              </a:ext>
            </a:extLst>
          </p:cNvPr>
          <p:cNvGrpSpPr/>
          <p:nvPr/>
        </p:nvGrpSpPr>
        <p:grpSpPr>
          <a:xfrm rot="3309264" flipH="1">
            <a:off x="-1338190" y="-2010739"/>
            <a:ext cx="3917297" cy="3549657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709F5D1A-BDDE-0C6D-37AC-C25FBEC1924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F3E8FCAD-4C03-EF14-C1B7-43B1CB6A2FF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FD77DCD1-8C26-D051-8523-56197E2C1EB0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DAE1568F-EFF2-B9E0-14B0-BC8F85B53406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BA8E31A-1ABB-FB25-1A46-C7FC3F733EBF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0F0CA654-DB63-6D6D-F24E-85F07E2096D6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490282E-63C7-96F6-36BD-8660CEEC1CCF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48C4365E-F504-3305-FA20-35C8283456F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4" name="Shape 2">
            <a:extLst>
              <a:ext uri="{FF2B5EF4-FFF2-40B4-BE49-F238E27FC236}">
                <a16:creationId xmlns:a16="http://schemas.microsoft.com/office/drawing/2014/main" id="{1C4A6C24-6788-C1E6-EC80-A224A498DB89}"/>
              </a:ext>
            </a:extLst>
          </p:cNvPr>
          <p:cNvSpPr/>
          <p:nvPr/>
        </p:nvSpPr>
        <p:spPr>
          <a:xfrm>
            <a:off x="118238" y="4785588"/>
            <a:ext cx="8686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44638768-285B-ACF9-B94B-2ACE15D828D8}"/>
              </a:ext>
            </a:extLst>
          </p:cNvPr>
          <p:cNvSpPr/>
          <p:nvPr/>
        </p:nvSpPr>
        <p:spPr>
          <a:xfrm>
            <a:off x="2051480" y="82733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consuntivati — variazione su 2024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0513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29A8-DF89-10DB-C14D-22FFBB6D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15">
            <a:extLst>
              <a:ext uri="{FF2B5EF4-FFF2-40B4-BE49-F238E27FC236}">
                <a16:creationId xmlns:a16="http://schemas.microsoft.com/office/drawing/2014/main" id="{97FAE76C-CF1B-E1B7-C828-0A6E37461405}"/>
              </a:ext>
            </a:extLst>
          </p:cNvPr>
          <p:cNvSpPr/>
          <p:nvPr/>
        </p:nvSpPr>
        <p:spPr>
          <a:xfrm>
            <a:off x="63071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MIFID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CF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2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99B2A7DB-7AE6-5D28-B62C-8662F804A27A}"/>
              </a:ext>
            </a:extLst>
          </p:cNvPr>
          <p:cNvSpPr/>
          <p:nvPr/>
        </p:nvSpPr>
        <p:spPr>
          <a:xfrm>
            <a:off x="33353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Regolamentazione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organizzativa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Novità normative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</a:t>
            </a:r>
            <a:endParaRPr lang="en-US" sz="12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81FEAF7-2858-7D5B-A8A9-F0902140D074}"/>
              </a:ext>
            </a:extLst>
          </p:cNvPr>
          <p:cNvSpPr/>
          <p:nvPr/>
        </p:nvSpPr>
        <p:spPr>
          <a:xfrm>
            <a:off x="3635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ICT &amp; Sicurezza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Antiriciclaggio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7E78AA9B-FAEB-2B9C-C30D-33E1894D773D}"/>
              </a:ext>
            </a:extLst>
          </p:cNvPr>
          <p:cNvSpPr/>
          <p:nvPr/>
        </p:nvSpPr>
        <p:spPr>
          <a:xfrm>
            <a:off x="2264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48C1DE88-FE75-B719-0938-F7D89FA037CD}"/>
              </a:ext>
            </a:extLst>
          </p:cNvPr>
          <p:cNvSpPr/>
          <p:nvPr/>
        </p:nvSpPr>
        <p:spPr>
          <a:xfrm>
            <a:off x="226423" y="1213390"/>
            <a:ext cx="2743200" cy="36576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81570A15-799F-D25B-70A8-8C855670A5A4}"/>
              </a:ext>
            </a:extLst>
          </p:cNvPr>
          <p:cNvSpPr/>
          <p:nvPr/>
        </p:nvSpPr>
        <p:spPr>
          <a:xfrm>
            <a:off x="317863" y="1259110"/>
            <a:ext cx="25603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20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7657DD39-ABAF-B5DE-B113-227E01AEA74D}"/>
              </a:ext>
            </a:extLst>
          </p:cNvPr>
          <p:cNvSpPr/>
          <p:nvPr/>
        </p:nvSpPr>
        <p:spPr>
          <a:xfrm>
            <a:off x="31982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A8F3E551-A2CE-D649-16F1-7BFC1EF19579}"/>
              </a:ext>
            </a:extLst>
          </p:cNvPr>
          <p:cNvSpPr/>
          <p:nvPr/>
        </p:nvSpPr>
        <p:spPr>
          <a:xfrm>
            <a:off x="3198223" y="1213390"/>
            <a:ext cx="27432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80FE607D-047F-83B4-1AEB-776ED39A5499}"/>
              </a:ext>
            </a:extLst>
          </p:cNvPr>
          <p:cNvSpPr/>
          <p:nvPr/>
        </p:nvSpPr>
        <p:spPr>
          <a:xfrm>
            <a:off x="3289663" y="1259110"/>
            <a:ext cx="25603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2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AB6C4361-A107-3910-12B4-73E711093B97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0D0DB994-689C-E4EA-FF20-52268DF1BDCD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EA9ED9A9-95E7-9DFE-F09A-0BFD2FA76A2E}"/>
              </a:ext>
            </a:extLst>
          </p:cNvPr>
          <p:cNvSpPr/>
          <p:nvPr/>
        </p:nvSpPr>
        <p:spPr>
          <a:xfrm>
            <a:off x="6261463" y="1259110"/>
            <a:ext cx="25603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2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78C135D-25AA-0A1E-A884-8253B09D6BCC}"/>
              </a:ext>
            </a:extLst>
          </p:cNvPr>
          <p:cNvGrpSpPr/>
          <p:nvPr/>
        </p:nvGrpSpPr>
        <p:grpSpPr>
          <a:xfrm>
            <a:off x="4188211" y="-30378"/>
            <a:ext cx="7602729" cy="784830"/>
            <a:chOff x="717151" y="-122881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2B5A4BF7-262D-D11E-75F8-802CB8426DEF}"/>
                </a:ext>
              </a:extLst>
            </p:cNvPr>
            <p:cNvSpPr/>
            <p:nvPr/>
          </p:nvSpPr>
          <p:spPr>
            <a:xfrm>
              <a:off x="717151" y="-122881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4981AD0C-31EE-F580-A355-DBDA59E4A8C6}"/>
                </a:ext>
              </a:extLst>
            </p:cNvPr>
            <p:cNvSpPr txBox="1"/>
            <p:nvPr/>
          </p:nvSpPr>
          <p:spPr>
            <a:xfrm>
              <a:off x="978456" y="-6812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Business attuale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09573CE6-00A1-F664-AAE2-309B7B30EF92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046EFB0E-FDB2-E5DB-9212-EDB19CFB5F30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948FC04-A242-A280-5F9E-5FAD9B61D10B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B2E2427B-1F89-BEA0-761C-88760FC2C684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C0E07D5-8BCE-EA7C-E8EA-AD3D5EBCDBB0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3D8C122E-D640-2F9B-4C49-3D173225AED3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D75AAA2-385C-A67A-A8C3-18A9E3B48C9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F1DB7A0B-EE6D-D533-D07A-68C28DA88701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2B3D2CFF-D893-851E-818C-0606EC047617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CFB73C2-9BE9-C30B-7AA9-A28DF020338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39" name="Text 3">
            <a:extLst>
              <a:ext uri="{FF2B5EF4-FFF2-40B4-BE49-F238E27FC236}">
                <a16:creationId xmlns:a16="http://schemas.microsoft.com/office/drawing/2014/main" id="{D3E2D6A7-C02A-E51B-35A3-F5AF8404827E}"/>
              </a:ext>
            </a:extLst>
          </p:cNvPr>
          <p:cNvSpPr/>
          <p:nvPr/>
        </p:nvSpPr>
        <p:spPr>
          <a:xfrm>
            <a:off x="320625" y="5800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 pillar dell'offerta di servizi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712206F5-30BC-9A52-A4B9-9D3580E548A0}"/>
              </a:ext>
            </a:extLst>
          </p:cNvPr>
          <p:cNvSpPr/>
          <p:nvPr/>
        </p:nvSpPr>
        <p:spPr>
          <a:xfrm>
            <a:off x="363583" y="900086"/>
            <a:ext cx="3731011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655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D529-9907-E178-2ABC-67CA5B8E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15">
            <a:extLst>
              <a:ext uri="{FF2B5EF4-FFF2-40B4-BE49-F238E27FC236}">
                <a16:creationId xmlns:a16="http://schemas.microsoft.com/office/drawing/2014/main" id="{85560D52-B616-C8B1-50F2-4CCDF250CC55}"/>
              </a:ext>
            </a:extLst>
          </p:cNvPr>
          <p:cNvSpPr/>
          <p:nvPr/>
        </p:nvSpPr>
        <p:spPr>
          <a:xfrm>
            <a:off x="63071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MIFID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CF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2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AB3CAC38-2474-1ECC-E7A5-DADF6A138A08}"/>
              </a:ext>
            </a:extLst>
          </p:cNvPr>
          <p:cNvSpPr/>
          <p:nvPr/>
        </p:nvSpPr>
        <p:spPr>
          <a:xfrm>
            <a:off x="33353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Regolamentazione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organizzativa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Novità normative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</a:t>
            </a:r>
            <a:endParaRPr lang="en-US" sz="12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E5735A7-06A8-1EEC-08AC-4763EEB991A8}"/>
              </a:ext>
            </a:extLst>
          </p:cNvPr>
          <p:cNvSpPr/>
          <p:nvPr/>
        </p:nvSpPr>
        <p:spPr>
          <a:xfrm>
            <a:off x="2264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B592967E-5198-9116-0B90-30B7BC8E2035}"/>
              </a:ext>
            </a:extLst>
          </p:cNvPr>
          <p:cNvSpPr/>
          <p:nvPr/>
        </p:nvSpPr>
        <p:spPr>
          <a:xfrm>
            <a:off x="226423" y="1213390"/>
            <a:ext cx="2743200" cy="50292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63DEC7B4-73C2-46E6-F5EB-07C007671D6F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41208978-1EA6-75F5-74C4-9AF73D0DD990}"/>
              </a:ext>
            </a:extLst>
          </p:cNvPr>
          <p:cNvSpPr/>
          <p:nvPr/>
        </p:nvSpPr>
        <p:spPr>
          <a:xfrm>
            <a:off x="3635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ICT &amp; Sicurezza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Antiriciclaggio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5EAB7779-78EE-91B3-7C67-35A34E83E3D1}"/>
              </a:ext>
            </a:extLst>
          </p:cNvPr>
          <p:cNvSpPr/>
          <p:nvPr/>
        </p:nvSpPr>
        <p:spPr>
          <a:xfrm>
            <a:off x="31982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4F7FCDD7-C330-0E78-FA0D-6205CF219674}"/>
              </a:ext>
            </a:extLst>
          </p:cNvPr>
          <p:cNvSpPr/>
          <p:nvPr/>
        </p:nvSpPr>
        <p:spPr>
          <a:xfrm>
            <a:off x="3198223" y="1213390"/>
            <a:ext cx="27432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98F17C2-9B41-021E-5E5C-FA6D07C1BEE5}"/>
              </a:ext>
            </a:extLst>
          </p:cNvPr>
          <p:cNvSpPr/>
          <p:nvPr/>
        </p:nvSpPr>
        <p:spPr>
          <a:xfrm>
            <a:off x="3289663" y="1259110"/>
            <a:ext cx="25603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2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D7459AC8-890E-FFDF-61F4-F07F830CFD25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E0B36035-87A3-F651-3FC2-B61B4D0A32C5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9CA03D5C-2536-5E27-D3CE-6D617CDAB596}"/>
              </a:ext>
            </a:extLst>
          </p:cNvPr>
          <p:cNvSpPr/>
          <p:nvPr/>
        </p:nvSpPr>
        <p:spPr>
          <a:xfrm>
            <a:off x="6261463" y="1259110"/>
            <a:ext cx="25603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2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68196FB-6BF2-D483-E40F-E14A74AF9022}"/>
              </a:ext>
            </a:extLst>
          </p:cNvPr>
          <p:cNvGrpSpPr/>
          <p:nvPr/>
        </p:nvGrpSpPr>
        <p:grpSpPr>
          <a:xfrm>
            <a:off x="4188211" y="-30378"/>
            <a:ext cx="7602729" cy="784830"/>
            <a:chOff x="717151" y="-122881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623BAF1-C83E-F240-9459-02587C89E69B}"/>
                </a:ext>
              </a:extLst>
            </p:cNvPr>
            <p:cNvSpPr/>
            <p:nvPr/>
          </p:nvSpPr>
          <p:spPr>
            <a:xfrm>
              <a:off x="717151" y="-122881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7AE898CE-BCB3-1C85-B743-1CDC8BEBCF13}"/>
                </a:ext>
              </a:extLst>
            </p:cNvPr>
            <p:cNvSpPr txBox="1"/>
            <p:nvPr/>
          </p:nvSpPr>
          <p:spPr>
            <a:xfrm>
              <a:off x="978456" y="-6812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Business attuale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389D4FDF-8CB6-F66C-C142-A2E3D6512A2F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4B53BC2-301E-BF98-25F6-0A6A983E561D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36F6EA15-FEB7-6BC6-6466-A5D96B20BBE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F7A4A705-5C28-9763-EBC8-0BD73A8A6E27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4CA3E5FE-2B50-B4BE-6B2B-F2619D3AB8F2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20AD132-8D20-B0FB-8E29-7D3AD8B2020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8D888255-DE40-354F-3062-FB679714A84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EF93CFAA-EDA3-B47E-4CE4-0C209C5D42E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0775824-7D2C-BD1E-44BE-49A17159E374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DA01711E-3754-1DA2-B998-FA1F941E8DA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Text 3">
            <a:extLst>
              <a:ext uri="{FF2B5EF4-FFF2-40B4-BE49-F238E27FC236}">
                <a16:creationId xmlns:a16="http://schemas.microsoft.com/office/drawing/2014/main" id="{F044085B-3929-BE2F-8BAA-53F1EFBE2636}"/>
              </a:ext>
            </a:extLst>
          </p:cNvPr>
          <p:cNvSpPr/>
          <p:nvPr/>
        </p:nvSpPr>
        <p:spPr>
          <a:xfrm>
            <a:off x="320625" y="5800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 pillar dell'offerta di servizi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6D96993-A95D-9043-E614-7EF17DB620E7}"/>
              </a:ext>
            </a:extLst>
          </p:cNvPr>
          <p:cNvSpPr/>
          <p:nvPr/>
        </p:nvSpPr>
        <p:spPr>
          <a:xfrm>
            <a:off x="363583" y="900086"/>
            <a:ext cx="3731011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3847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CCB10-2239-E5C8-387D-9C48FA18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15">
            <a:extLst>
              <a:ext uri="{FF2B5EF4-FFF2-40B4-BE49-F238E27FC236}">
                <a16:creationId xmlns:a16="http://schemas.microsoft.com/office/drawing/2014/main" id="{1F15EE5E-622F-7B75-E9C2-6F84C12F8705}"/>
              </a:ext>
            </a:extLst>
          </p:cNvPr>
          <p:cNvSpPr/>
          <p:nvPr/>
        </p:nvSpPr>
        <p:spPr>
          <a:xfrm>
            <a:off x="63071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MIFID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CF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2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CF0B3B2-2762-FDAA-24A7-24C0C72F75F9}"/>
              </a:ext>
            </a:extLst>
          </p:cNvPr>
          <p:cNvSpPr/>
          <p:nvPr/>
        </p:nvSpPr>
        <p:spPr>
          <a:xfrm>
            <a:off x="2264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EF297A8B-33DF-A929-F024-AA412C90BF61}"/>
              </a:ext>
            </a:extLst>
          </p:cNvPr>
          <p:cNvSpPr/>
          <p:nvPr/>
        </p:nvSpPr>
        <p:spPr>
          <a:xfrm>
            <a:off x="226423" y="1213390"/>
            <a:ext cx="2743200" cy="50292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BB0C78D-1F37-9F5A-3F1E-B286C3DA9B1D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AFF42797-49F7-1811-F411-27CEB8BC7F10}"/>
              </a:ext>
            </a:extLst>
          </p:cNvPr>
          <p:cNvSpPr/>
          <p:nvPr/>
        </p:nvSpPr>
        <p:spPr>
          <a:xfrm>
            <a:off x="3635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ICT &amp; Sicurezza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Antiriciclaggio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C2D98616-A5E6-2EF6-CF12-CDA8BAEB463C}"/>
              </a:ext>
            </a:extLst>
          </p:cNvPr>
          <p:cNvSpPr/>
          <p:nvPr/>
        </p:nvSpPr>
        <p:spPr>
          <a:xfrm>
            <a:off x="31982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FCF8295F-A9E7-0C76-FB56-507325CE6742}"/>
              </a:ext>
            </a:extLst>
          </p:cNvPr>
          <p:cNvSpPr/>
          <p:nvPr/>
        </p:nvSpPr>
        <p:spPr>
          <a:xfrm>
            <a:off x="3198223" y="1213390"/>
            <a:ext cx="2743200" cy="5029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50ADE760-07BA-FEE5-5B99-10B1A38E6241}"/>
              </a:ext>
            </a:extLst>
          </p:cNvPr>
          <p:cNvSpPr/>
          <p:nvPr/>
        </p:nvSpPr>
        <p:spPr>
          <a:xfrm>
            <a:off x="32896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DF4750EB-558D-03DD-5974-C35BB32E37CC}"/>
              </a:ext>
            </a:extLst>
          </p:cNvPr>
          <p:cNvSpPr/>
          <p:nvPr/>
        </p:nvSpPr>
        <p:spPr>
          <a:xfrm>
            <a:off x="33353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Regolamentazione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organizzativa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Novità normative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</a:t>
            </a:r>
            <a:endParaRPr lang="en-US" sz="12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A353F790-7FBD-2437-1F83-6A462979AA3A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D932061B-1460-E31B-D9D6-734F3C4F8515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AD9B2822-2AB4-7D3D-88CC-316589916220}"/>
              </a:ext>
            </a:extLst>
          </p:cNvPr>
          <p:cNvSpPr/>
          <p:nvPr/>
        </p:nvSpPr>
        <p:spPr>
          <a:xfrm>
            <a:off x="6261463" y="1259110"/>
            <a:ext cx="25603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2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7A02D04-E844-A3A8-FD7F-A7705DE3FBFF}"/>
              </a:ext>
            </a:extLst>
          </p:cNvPr>
          <p:cNvGrpSpPr/>
          <p:nvPr/>
        </p:nvGrpSpPr>
        <p:grpSpPr>
          <a:xfrm>
            <a:off x="4188211" y="-30378"/>
            <a:ext cx="7602729" cy="784830"/>
            <a:chOff x="717151" y="-122881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0B05CD7-8A3D-66DA-6CDE-1910713F76DB}"/>
                </a:ext>
              </a:extLst>
            </p:cNvPr>
            <p:cNvSpPr/>
            <p:nvPr/>
          </p:nvSpPr>
          <p:spPr>
            <a:xfrm>
              <a:off x="717151" y="-122881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D1594F4-CF0C-107C-B3E4-74E1D44753F2}"/>
                </a:ext>
              </a:extLst>
            </p:cNvPr>
            <p:cNvSpPr txBox="1"/>
            <p:nvPr/>
          </p:nvSpPr>
          <p:spPr>
            <a:xfrm>
              <a:off x="978456" y="-6812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Business attuale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F989A117-3956-37EF-EBA6-0835A542F925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C39A0C92-3B10-505B-127F-68AA0362C334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5FDE622F-7626-B177-FEDA-6C14EDF77C35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640311C4-C5AE-F9AD-6C7C-263DCD793CD7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446447D3-DCAF-2B2C-5FD5-A3BC189C7D2F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1214509F-0B80-827E-C462-19065A933BD7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1547CFF-29DC-721A-37FD-5543DC52F83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2B242E8B-7B0B-6FF0-6E89-2EEC2A75A0A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512D5182-AEBB-1F5E-0107-4A8164785C80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B4180E48-D45D-0EB8-4366-52CDCEC4EAFB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Text 3">
            <a:extLst>
              <a:ext uri="{FF2B5EF4-FFF2-40B4-BE49-F238E27FC236}">
                <a16:creationId xmlns:a16="http://schemas.microsoft.com/office/drawing/2014/main" id="{09FDFFFD-C693-3F10-0C3E-D112CBFBC094}"/>
              </a:ext>
            </a:extLst>
          </p:cNvPr>
          <p:cNvSpPr/>
          <p:nvPr/>
        </p:nvSpPr>
        <p:spPr>
          <a:xfrm>
            <a:off x="320625" y="5800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 pillar dell'offerta di servizi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12E4F2D-B2ED-F124-9A21-1C0EDCBE1A93}"/>
              </a:ext>
            </a:extLst>
          </p:cNvPr>
          <p:cNvSpPr/>
          <p:nvPr/>
        </p:nvSpPr>
        <p:spPr>
          <a:xfrm>
            <a:off x="363583" y="900086"/>
            <a:ext cx="3731011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369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3832B-4B07-1A5B-CB82-98AFDA012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4">
            <a:extLst>
              <a:ext uri="{FF2B5EF4-FFF2-40B4-BE49-F238E27FC236}">
                <a16:creationId xmlns:a16="http://schemas.microsoft.com/office/drawing/2014/main" id="{6D995DDE-F315-4CDB-5E44-9225B74CA95A}"/>
              </a:ext>
            </a:extLst>
          </p:cNvPr>
          <p:cNvSpPr/>
          <p:nvPr/>
        </p:nvSpPr>
        <p:spPr>
          <a:xfrm>
            <a:off x="2264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B20C1D4E-1994-70A4-315A-A5DA705AD7F0}"/>
              </a:ext>
            </a:extLst>
          </p:cNvPr>
          <p:cNvSpPr/>
          <p:nvPr/>
        </p:nvSpPr>
        <p:spPr>
          <a:xfrm>
            <a:off x="226423" y="1213390"/>
            <a:ext cx="2743200" cy="50292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2E9A3724-B862-AE44-9475-0DE3E154F719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55766CA-4E05-C69C-64DC-A00D10BAFEEC}"/>
              </a:ext>
            </a:extLst>
          </p:cNvPr>
          <p:cNvSpPr/>
          <p:nvPr/>
        </p:nvSpPr>
        <p:spPr>
          <a:xfrm>
            <a:off x="3635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ICT &amp; Sicurezza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Antiriciclaggio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3861FFC3-5850-BD45-1A58-F4B8C411EC2B}"/>
              </a:ext>
            </a:extLst>
          </p:cNvPr>
          <p:cNvSpPr/>
          <p:nvPr/>
        </p:nvSpPr>
        <p:spPr>
          <a:xfrm>
            <a:off x="31982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3ED5E3AF-56BE-6CD4-CC5D-ECF8DAEAF9E3}"/>
              </a:ext>
            </a:extLst>
          </p:cNvPr>
          <p:cNvSpPr/>
          <p:nvPr/>
        </p:nvSpPr>
        <p:spPr>
          <a:xfrm>
            <a:off x="3198223" y="1213390"/>
            <a:ext cx="2743200" cy="5029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42361B0-978D-47CC-1C5D-272A93C66819}"/>
              </a:ext>
            </a:extLst>
          </p:cNvPr>
          <p:cNvSpPr/>
          <p:nvPr/>
        </p:nvSpPr>
        <p:spPr>
          <a:xfrm>
            <a:off x="32896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2C9AE8E-E0DA-E07D-E906-4ED7B75320D4}"/>
              </a:ext>
            </a:extLst>
          </p:cNvPr>
          <p:cNvSpPr/>
          <p:nvPr/>
        </p:nvSpPr>
        <p:spPr>
          <a:xfrm>
            <a:off x="33353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Regolamentazione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organizzativa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Novità normative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</a:t>
            </a:r>
            <a:endParaRPr lang="en-US" sz="12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1F3E9602-1DDF-5947-C14B-EA8DF099F79D}"/>
              </a:ext>
            </a:extLst>
          </p:cNvPr>
          <p:cNvSpPr/>
          <p:nvPr/>
        </p:nvSpPr>
        <p:spPr>
          <a:xfrm>
            <a:off x="6170023" y="1213390"/>
            <a:ext cx="2743200" cy="36576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BC807D7C-1404-E681-A3F5-4C9DAD0D8F74}"/>
              </a:ext>
            </a:extLst>
          </p:cNvPr>
          <p:cNvSpPr/>
          <p:nvPr/>
        </p:nvSpPr>
        <p:spPr>
          <a:xfrm>
            <a:off x="6170023" y="1213390"/>
            <a:ext cx="2743200" cy="5029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E9198BC2-DA7F-51DA-38F1-7011E2565B90}"/>
              </a:ext>
            </a:extLst>
          </p:cNvPr>
          <p:cNvSpPr/>
          <p:nvPr/>
        </p:nvSpPr>
        <p:spPr>
          <a:xfrm>
            <a:off x="62614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10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2F94864A-FB36-9C07-2896-A132F0AE9F2D}"/>
              </a:ext>
            </a:extLst>
          </p:cNvPr>
          <p:cNvSpPr/>
          <p:nvPr/>
        </p:nvSpPr>
        <p:spPr>
          <a:xfrm>
            <a:off x="6307183" y="1789462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MIFID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Applicativi CF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2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8538C7DA-AEEF-18A0-C639-2FC525A0923C}"/>
              </a:ext>
            </a:extLst>
          </p:cNvPr>
          <p:cNvGrpSpPr/>
          <p:nvPr/>
        </p:nvGrpSpPr>
        <p:grpSpPr>
          <a:xfrm>
            <a:off x="4188211" y="-30378"/>
            <a:ext cx="7602729" cy="784830"/>
            <a:chOff x="717151" y="-122881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2AB43730-A671-89A5-37CF-8B61D73C7A12}"/>
                </a:ext>
              </a:extLst>
            </p:cNvPr>
            <p:cNvSpPr/>
            <p:nvPr/>
          </p:nvSpPr>
          <p:spPr>
            <a:xfrm>
              <a:off x="717151" y="-122881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556CD82-1460-8263-2397-5175AB7BB485}"/>
                </a:ext>
              </a:extLst>
            </p:cNvPr>
            <p:cNvSpPr txBox="1"/>
            <p:nvPr/>
          </p:nvSpPr>
          <p:spPr>
            <a:xfrm>
              <a:off x="978456" y="-6812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Business attuale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0992A7F4-4D09-04CE-E3D6-112B9680264E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D6DBAE9-D3C7-9BEA-86AA-2C5FA94A13A1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90740E3-57CA-63EC-A1D8-DA394528E11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78D4089-BBEE-782E-7211-2056EB7011A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0DC26CF-9D48-3FE6-5676-34DCF3E7F057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30E7DF4F-0A90-0F51-4FBB-53B0435712E8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E3603204-BB6D-6EB0-55BB-0F0DDFE0CEFA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98BD4C01-BAED-A6E8-663C-AEA1F091BDC2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2F6A4DC-C7D0-4140-2349-52D04F9EBA59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27AC94-82C8-9CC5-9D26-BF35797EE19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938E75FB-CC0B-50DD-6B07-7CE6C233BD1F}"/>
              </a:ext>
            </a:extLst>
          </p:cNvPr>
          <p:cNvSpPr/>
          <p:nvPr/>
        </p:nvSpPr>
        <p:spPr>
          <a:xfrm>
            <a:off x="320625" y="5800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 pillar dell'offerta di servizi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E458A32-5EA3-D406-0CDE-3CBDCB067DF1}"/>
              </a:ext>
            </a:extLst>
          </p:cNvPr>
          <p:cNvSpPr/>
          <p:nvPr/>
        </p:nvSpPr>
        <p:spPr>
          <a:xfrm>
            <a:off x="363583" y="900086"/>
            <a:ext cx="3731011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944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1B7F-2674-7E72-8FC9-C75FF1EF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po 35">
            <a:extLst>
              <a:ext uri="{FF2B5EF4-FFF2-40B4-BE49-F238E27FC236}">
                <a16:creationId xmlns:a16="http://schemas.microsoft.com/office/drawing/2014/main" id="{041824E2-0C88-5BC5-13E7-314D5079245F}"/>
              </a:ext>
            </a:extLst>
          </p:cNvPr>
          <p:cNvGrpSpPr/>
          <p:nvPr/>
        </p:nvGrpSpPr>
        <p:grpSpPr>
          <a:xfrm>
            <a:off x="960120" y="3577372"/>
            <a:ext cx="3977640" cy="1143000"/>
            <a:chOff x="4937760" y="3566160"/>
            <a:chExt cx="3977640" cy="1143000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D3002072-F25D-2F78-61B5-FAB7B947CC2F}"/>
                </a:ext>
              </a:extLst>
            </p:cNvPr>
            <p:cNvSpPr/>
            <p:nvPr/>
          </p:nvSpPr>
          <p:spPr>
            <a:xfrm>
              <a:off x="4937760" y="356616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34F08C65-E047-34E2-4FC6-EE98A1BC3BCA}"/>
                </a:ext>
              </a:extLst>
            </p:cNvPr>
            <p:cNvSpPr/>
            <p:nvPr/>
          </p:nvSpPr>
          <p:spPr>
            <a:xfrm>
              <a:off x="5257800" y="363931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</a:t>
              </a:r>
              <a:endParaRPr lang="en-US" sz="1200" dirty="0"/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40068AEA-1765-10AE-FCC2-436CBFD98C0E}"/>
                </a:ext>
              </a:extLst>
            </p:cNvPr>
            <p:cNvSpPr/>
            <p:nvPr/>
          </p:nvSpPr>
          <p:spPr>
            <a:xfrm>
              <a:off x="5257800" y="395020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75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11%  ·  ~ € 165k</a:t>
              </a:r>
              <a:endParaRPr lang="en-US" sz="1400" dirty="0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0FA2BAE7-D5C6-178B-A707-2E4E51166558}"/>
                </a:ext>
              </a:extLst>
            </p:cNvPr>
            <p:cNvSpPr/>
            <p:nvPr/>
          </p:nvSpPr>
          <p:spPr>
            <a:xfrm>
              <a:off x="5257800" y="427939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 on demand · Formazione</a:t>
              </a:r>
              <a:endParaRPr lang="en-US" sz="1000" dirty="0"/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BC9EF7CA-F737-BB0A-4270-645A271693F9}"/>
              </a:ext>
            </a:extLst>
          </p:cNvPr>
          <p:cNvGrpSpPr/>
          <p:nvPr/>
        </p:nvGrpSpPr>
        <p:grpSpPr>
          <a:xfrm>
            <a:off x="960120" y="2286000"/>
            <a:ext cx="3977640" cy="1143000"/>
            <a:chOff x="4937760" y="2286000"/>
            <a:chExt cx="3977640" cy="1143000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00C8876C-8098-B5E5-ED84-6BE9A0762016}"/>
                </a:ext>
              </a:extLst>
            </p:cNvPr>
            <p:cNvSpPr/>
            <p:nvPr/>
          </p:nvSpPr>
          <p:spPr>
            <a:xfrm>
              <a:off x="4937760" y="228600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D3D15265-D62D-5E8A-5485-C5A20A4D6B60}"/>
                </a:ext>
              </a:extLst>
            </p:cNvPr>
            <p:cNvSpPr/>
            <p:nvPr/>
          </p:nvSpPr>
          <p:spPr>
            <a:xfrm>
              <a:off x="5257800" y="235915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Reg-Tech</a:t>
              </a:r>
              <a:endParaRPr lang="en-US" sz="120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9A62AABF-BA29-EDB4-C95B-318139D3A0F5}"/>
                </a:ext>
              </a:extLst>
            </p:cNvPr>
            <p:cNvSpPr/>
            <p:nvPr/>
          </p:nvSpPr>
          <p:spPr>
            <a:xfrm>
              <a:off x="5257800" y="267004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19%  ·  ~ € 297k</a:t>
              </a:r>
              <a:endParaRPr lang="en-US" sz="1400" dirty="0"/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59A42F78-2EF4-EACC-B0BC-9813BCB866A5}"/>
                </a:ext>
              </a:extLst>
            </p:cNvPr>
            <p:cNvSpPr/>
            <p:nvPr/>
          </p:nvSpPr>
          <p:spPr>
            <a:xfrm>
              <a:off x="5257800" y="299923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Applicativi AML · MIFID · CF</a:t>
              </a:r>
              <a:endParaRPr lang="en-US" sz="1000" dirty="0"/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CDA5C5F0-E585-8BCB-C6BC-C5CC373951ED}"/>
              </a:ext>
            </a:extLst>
          </p:cNvPr>
          <p:cNvGrpSpPr/>
          <p:nvPr/>
        </p:nvGrpSpPr>
        <p:grpSpPr>
          <a:xfrm>
            <a:off x="872097" y="990213"/>
            <a:ext cx="3977640" cy="1143000"/>
            <a:chOff x="4937760" y="1005840"/>
            <a:chExt cx="3977640" cy="114300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0587E758-71FA-C8F1-9DAD-1700BC01EBC0}"/>
                </a:ext>
              </a:extLst>
            </p:cNvPr>
            <p:cNvSpPr/>
            <p:nvPr/>
          </p:nvSpPr>
          <p:spPr>
            <a:xfrm>
              <a:off x="4937760" y="100584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4B050405-C2FB-89FC-E14F-BEB100490F8E}"/>
                </a:ext>
              </a:extLst>
            </p:cNvPr>
            <p:cNvSpPr/>
            <p:nvPr/>
          </p:nvSpPr>
          <p:spPr>
            <a:xfrm>
              <a:off x="5257800" y="107899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Funzioni di Controllo</a:t>
              </a:r>
              <a:endParaRPr lang="en-US" sz="12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28563635-7023-B720-6B49-EF3C81C39520}"/>
                </a:ext>
              </a:extLst>
            </p:cNvPr>
            <p:cNvSpPr/>
            <p:nvPr/>
          </p:nvSpPr>
          <p:spPr>
            <a:xfrm>
              <a:off x="5257800" y="138988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65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70%  ·  ~ € 1.085k</a:t>
              </a:r>
              <a:endParaRPr lang="en-US" sz="14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D72202A3-1F6B-DC42-CEF4-66C2FAC7BAFE}"/>
                </a:ext>
              </a:extLst>
            </p:cNvPr>
            <p:cNvSpPr/>
            <p:nvPr/>
          </p:nvSpPr>
          <p:spPr>
            <a:xfrm>
              <a:off x="5257800" y="171907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 · Compliance &amp; AML · Risk · DPO</a:t>
              </a:r>
              <a:endParaRPr lang="en-US" sz="1000" dirty="0"/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B86C3CEE-F528-7919-A338-8EA8E2C901DC}"/>
              </a:ext>
            </a:extLst>
          </p:cNvPr>
          <p:cNvGrpSpPr/>
          <p:nvPr/>
        </p:nvGrpSpPr>
        <p:grpSpPr>
          <a:xfrm>
            <a:off x="-1320802" y="-4602"/>
            <a:ext cx="7602729" cy="784830"/>
            <a:chOff x="-821871" y="-92503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F1734E68-C552-25E3-3AC4-E704260BB3C4}"/>
                </a:ext>
              </a:extLst>
            </p:cNvPr>
            <p:cNvSpPr/>
            <p:nvPr/>
          </p:nvSpPr>
          <p:spPr>
            <a:xfrm>
              <a:off x="-821871" y="-92503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96762F64-1280-DE51-D8F5-0AB3B01B6AD9}"/>
                </a:ext>
              </a:extLst>
            </p:cNvPr>
            <p:cNvSpPr txBox="1"/>
            <p:nvPr/>
          </p:nvSpPr>
          <p:spPr>
            <a:xfrm>
              <a:off x="970681" y="30235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Distribuzione ricavi 2028</a:t>
              </a:r>
            </a:p>
          </p:txBody>
        </p:sp>
      </p:grpSp>
      <p:sp>
        <p:nvSpPr>
          <p:cNvPr id="34" name="Rettangolo 33">
            <a:extLst>
              <a:ext uri="{FF2B5EF4-FFF2-40B4-BE49-F238E27FC236}">
                <a16:creationId xmlns:a16="http://schemas.microsoft.com/office/drawing/2014/main" id="{57438900-D301-5364-8FF5-0B1F48816722}"/>
              </a:ext>
            </a:extLst>
          </p:cNvPr>
          <p:cNvSpPr/>
          <p:nvPr/>
        </p:nvSpPr>
        <p:spPr>
          <a:xfrm>
            <a:off x="-66900" y="972885"/>
            <a:ext cx="5004659" cy="417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E76E688-73D9-F2A2-2CFE-26A93213D083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5A75480A-8471-8F54-345A-CDB9E22192D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23949F57-F535-BB46-6B81-C8BA19623D50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612818E2-C507-92A3-33A2-97A22F05F845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C757C26A-D1DE-0B1B-20B2-8635812679C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FFF3B3C-C29D-5D9C-A957-F0F9B2A0B43C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82DC1A9-AAD9-8309-802E-28D479DDE962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F13EDB3-3706-4370-5C78-237329625C37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7F96C584-5EEA-ED72-A59B-3E04DB63F6A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6F8B5313-7C68-3AD1-8448-BE94064F276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422C90E6-5B84-8737-6945-65F09CF35AB1}"/>
              </a:ext>
            </a:extLst>
          </p:cNvPr>
          <p:cNvSpPr/>
          <p:nvPr/>
        </p:nvSpPr>
        <p:spPr>
          <a:xfrm>
            <a:off x="1280160" y="751659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 del portafoglio per area di servizio</a:t>
            </a:r>
            <a:endParaRPr lang="en-US" sz="1400" dirty="0">
              <a:solidFill>
                <a:schemeClr val="tx2"/>
              </a:solidFill>
            </a:endParaRPr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2654E38B-0903-ABDE-0675-7136C49815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34010"/>
              </p:ext>
            </p:extLst>
          </p:nvPr>
        </p:nvGraphicFramePr>
        <p:xfrm>
          <a:off x="663373" y="1389888"/>
          <a:ext cx="3908627" cy="34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A740FD4C-96B5-F08D-716B-F5DA383BE7A7}"/>
              </a:ext>
            </a:extLst>
          </p:cNvPr>
          <p:cNvSpPr/>
          <p:nvPr/>
        </p:nvSpPr>
        <p:spPr>
          <a:xfrm>
            <a:off x="4937760" y="1005840"/>
            <a:ext cx="228600" cy="1143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3AF731A-4F62-D934-DB6F-F4631FDBDC9A}"/>
              </a:ext>
            </a:extLst>
          </p:cNvPr>
          <p:cNvSpPr/>
          <p:nvPr/>
        </p:nvSpPr>
        <p:spPr>
          <a:xfrm>
            <a:off x="4937760" y="2286000"/>
            <a:ext cx="228600" cy="1143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176E1E4C-AB06-1D68-EE36-932E9F7FF622}"/>
              </a:ext>
            </a:extLst>
          </p:cNvPr>
          <p:cNvSpPr/>
          <p:nvPr/>
        </p:nvSpPr>
        <p:spPr>
          <a:xfrm>
            <a:off x="4937760" y="3566160"/>
            <a:ext cx="22860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97B41E45-B4E1-FF1E-90F2-920446C323C3}"/>
              </a:ext>
            </a:extLst>
          </p:cNvPr>
          <p:cNvSpPr/>
          <p:nvPr/>
        </p:nvSpPr>
        <p:spPr>
          <a:xfrm>
            <a:off x="179868" y="4882331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ricavi 2028: € 1.502k  ·  CAGR 2025–2028: +17,9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25EABE4D-D2E2-0BE1-87D1-21201A1C1AC8}"/>
              </a:ext>
            </a:extLst>
          </p:cNvPr>
          <p:cNvSpPr/>
          <p:nvPr/>
        </p:nvSpPr>
        <p:spPr>
          <a:xfrm>
            <a:off x="118238" y="4862486"/>
            <a:ext cx="8686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885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CAF74-1A4E-1868-CF51-6540F15E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po 35">
            <a:extLst>
              <a:ext uri="{FF2B5EF4-FFF2-40B4-BE49-F238E27FC236}">
                <a16:creationId xmlns:a16="http://schemas.microsoft.com/office/drawing/2014/main" id="{9D119851-919E-E5EB-7B4D-602DD093A40A}"/>
              </a:ext>
            </a:extLst>
          </p:cNvPr>
          <p:cNvGrpSpPr/>
          <p:nvPr/>
        </p:nvGrpSpPr>
        <p:grpSpPr>
          <a:xfrm>
            <a:off x="960120" y="3577372"/>
            <a:ext cx="3977640" cy="1143000"/>
            <a:chOff x="4937760" y="3566160"/>
            <a:chExt cx="3977640" cy="1143000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39C6B193-E319-7487-07E7-13954F70C0DF}"/>
                </a:ext>
              </a:extLst>
            </p:cNvPr>
            <p:cNvSpPr/>
            <p:nvPr/>
          </p:nvSpPr>
          <p:spPr>
            <a:xfrm>
              <a:off x="4937760" y="356616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A9D7F534-BE61-45F6-9FF6-DF4EF4FCA790}"/>
                </a:ext>
              </a:extLst>
            </p:cNvPr>
            <p:cNvSpPr/>
            <p:nvPr/>
          </p:nvSpPr>
          <p:spPr>
            <a:xfrm>
              <a:off x="5257800" y="363931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</a:t>
              </a:r>
              <a:endParaRPr lang="en-US" sz="1200" dirty="0"/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0DB63C1C-F56E-587D-F381-AF6473437767}"/>
                </a:ext>
              </a:extLst>
            </p:cNvPr>
            <p:cNvSpPr/>
            <p:nvPr/>
          </p:nvSpPr>
          <p:spPr>
            <a:xfrm>
              <a:off x="5257800" y="395020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75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11%  ·  ~ € 165k</a:t>
              </a:r>
              <a:endParaRPr lang="en-US" sz="1400" dirty="0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4FFE529A-5642-DFC1-5884-A36835601EC8}"/>
                </a:ext>
              </a:extLst>
            </p:cNvPr>
            <p:cNvSpPr/>
            <p:nvPr/>
          </p:nvSpPr>
          <p:spPr>
            <a:xfrm>
              <a:off x="5257800" y="427939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 on demand · Formazione</a:t>
              </a:r>
              <a:endParaRPr lang="en-US" sz="1000" dirty="0"/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516A4174-B881-9BCB-C00A-85B743B70B2A}"/>
              </a:ext>
            </a:extLst>
          </p:cNvPr>
          <p:cNvGrpSpPr/>
          <p:nvPr/>
        </p:nvGrpSpPr>
        <p:grpSpPr>
          <a:xfrm>
            <a:off x="960120" y="2286000"/>
            <a:ext cx="3977640" cy="1143000"/>
            <a:chOff x="4937760" y="2286000"/>
            <a:chExt cx="3977640" cy="1143000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BF6CA383-A124-F9BA-F48A-A30A0AE07FF6}"/>
                </a:ext>
              </a:extLst>
            </p:cNvPr>
            <p:cNvSpPr/>
            <p:nvPr/>
          </p:nvSpPr>
          <p:spPr>
            <a:xfrm>
              <a:off x="4937760" y="228600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98132141-539C-3B0F-C42F-64D4C9F88D04}"/>
                </a:ext>
              </a:extLst>
            </p:cNvPr>
            <p:cNvSpPr/>
            <p:nvPr/>
          </p:nvSpPr>
          <p:spPr>
            <a:xfrm>
              <a:off x="5257800" y="235915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Reg-Tech</a:t>
              </a:r>
              <a:endParaRPr lang="en-US" sz="120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3AA079DA-2E3E-2DF6-0640-9861E4245FDE}"/>
                </a:ext>
              </a:extLst>
            </p:cNvPr>
            <p:cNvSpPr/>
            <p:nvPr/>
          </p:nvSpPr>
          <p:spPr>
            <a:xfrm>
              <a:off x="5257800" y="267004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19%  ·  ~ € 297k</a:t>
              </a:r>
              <a:endParaRPr lang="en-US" sz="1400" dirty="0"/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48D090F9-F5F2-EAFB-D895-854354D9A111}"/>
                </a:ext>
              </a:extLst>
            </p:cNvPr>
            <p:cNvSpPr/>
            <p:nvPr/>
          </p:nvSpPr>
          <p:spPr>
            <a:xfrm>
              <a:off x="5257800" y="299923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Applicativi AML · MIFID · CF</a:t>
              </a:r>
              <a:endParaRPr lang="en-US" sz="1000" dirty="0"/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F9BA4A77-A50F-D7A6-99C6-A572A9C5A01F}"/>
              </a:ext>
            </a:extLst>
          </p:cNvPr>
          <p:cNvGrpSpPr/>
          <p:nvPr/>
        </p:nvGrpSpPr>
        <p:grpSpPr>
          <a:xfrm>
            <a:off x="5074920" y="1000248"/>
            <a:ext cx="3977640" cy="1143000"/>
            <a:chOff x="4937760" y="1005840"/>
            <a:chExt cx="3977640" cy="114300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3C6824EB-8EA4-6AC8-DBDF-DA13D161BC9D}"/>
                </a:ext>
              </a:extLst>
            </p:cNvPr>
            <p:cNvSpPr/>
            <p:nvPr/>
          </p:nvSpPr>
          <p:spPr>
            <a:xfrm>
              <a:off x="4937760" y="100584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5A59AEF-7635-6B3F-C941-03510A191925}"/>
                </a:ext>
              </a:extLst>
            </p:cNvPr>
            <p:cNvSpPr/>
            <p:nvPr/>
          </p:nvSpPr>
          <p:spPr>
            <a:xfrm>
              <a:off x="5257800" y="107899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Funzioni di Controllo</a:t>
              </a:r>
              <a:endParaRPr lang="en-US" sz="12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57A7CE3D-77DD-27DF-2359-02E004FCBFB2}"/>
                </a:ext>
              </a:extLst>
            </p:cNvPr>
            <p:cNvSpPr/>
            <p:nvPr/>
          </p:nvSpPr>
          <p:spPr>
            <a:xfrm>
              <a:off x="5257800" y="138988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65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70%  ·  ~ € 1.085k</a:t>
              </a:r>
              <a:endParaRPr lang="en-US" sz="14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22FEF6B4-D752-D713-9142-C4BDF2521972}"/>
                </a:ext>
              </a:extLst>
            </p:cNvPr>
            <p:cNvSpPr/>
            <p:nvPr/>
          </p:nvSpPr>
          <p:spPr>
            <a:xfrm>
              <a:off x="5257800" y="171907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 · Compliance &amp; AML · Risk · DPO</a:t>
              </a:r>
              <a:endParaRPr lang="en-US" sz="1000" dirty="0"/>
            </a:p>
          </p:txBody>
        </p:sp>
      </p:grpSp>
      <p:sp>
        <p:nvSpPr>
          <p:cNvPr id="34" name="Rettangolo 33">
            <a:extLst>
              <a:ext uri="{FF2B5EF4-FFF2-40B4-BE49-F238E27FC236}">
                <a16:creationId xmlns:a16="http://schemas.microsoft.com/office/drawing/2014/main" id="{4DF0D9FB-C0D4-FA3A-381E-58F6CDBB9058}"/>
              </a:ext>
            </a:extLst>
          </p:cNvPr>
          <p:cNvSpPr/>
          <p:nvPr/>
        </p:nvSpPr>
        <p:spPr>
          <a:xfrm>
            <a:off x="-66900" y="972885"/>
            <a:ext cx="5004659" cy="417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B0BE170-673F-5AB9-0A3E-4C7017164188}"/>
              </a:ext>
            </a:extLst>
          </p:cNvPr>
          <p:cNvGrpSpPr/>
          <p:nvPr/>
        </p:nvGrpSpPr>
        <p:grpSpPr>
          <a:xfrm>
            <a:off x="-1320802" y="-4602"/>
            <a:ext cx="7602729" cy="784830"/>
            <a:chOff x="-821871" y="-92503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633FAA90-3D80-02D3-8511-12BAFAEB8444}"/>
                </a:ext>
              </a:extLst>
            </p:cNvPr>
            <p:cNvSpPr/>
            <p:nvPr/>
          </p:nvSpPr>
          <p:spPr>
            <a:xfrm>
              <a:off x="-821871" y="-92503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9521535-01F4-6EE9-2922-5E9BBC046E14}"/>
                </a:ext>
              </a:extLst>
            </p:cNvPr>
            <p:cNvSpPr txBox="1"/>
            <p:nvPr/>
          </p:nvSpPr>
          <p:spPr>
            <a:xfrm>
              <a:off x="970681" y="30235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Distribuzione ricavi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3839095D-7099-C2D4-7C3F-E31AEAB64ADA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1889D73-3713-F836-7F5E-B2C95C90D2C6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F0C04F76-066F-31C3-63FD-A5B89C9D6FB9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EE955E6-DC36-2D16-6D65-1ECA7584214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39CC9C81-C751-5FC1-A359-40A1FD6F9E87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F7D9E6E-0024-F5F4-8FE3-8CBF40946C27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5B68916-A1D6-864A-E143-B9C1F2274045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4CFB5EFC-0C13-30AD-65D7-A3E4DE0E4750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34902D5E-F6DC-4BF8-3458-48275F7E587C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2EFC5490-910F-BCDD-9317-586D94722C21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A1AFC8E0-D5ED-5551-1583-8E84B8A33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4905157"/>
              </p:ext>
            </p:extLst>
          </p:nvPr>
        </p:nvGraphicFramePr>
        <p:xfrm>
          <a:off x="663373" y="1389888"/>
          <a:ext cx="3908627" cy="34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DA86B971-AFA9-AD17-CA23-E3B1A1173DAF}"/>
              </a:ext>
            </a:extLst>
          </p:cNvPr>
          <p:cNvSpPr/>
          <p:nvPr/>
        </p:nvSpPr>
        <p:spPr>
          <a:xfrm>
            <a:off x="4937760" y="1005840"/>
            <a:ext cx="228600" cy="1143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DBD68AE-BEE0-E220-32FC-771755AA7B1F}"/>
              </a:ext>
            </a:extLst>
          </p:cNvPr>
          <p:cNvSpPr/>
          <p:nvPr/>
        </p:nvSpPr>
        <p:spPr>
          <a:xfrm>
            <a:off x="4937760" y="2286000"/>
            <a:ext cx="228600" cy="1143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75C211C1-C5C3-22E7-66F1-2FD395429448}"/>
              </a:ext>
            </a:extLst>
          </p:cNvPr>
          <p:cNvSpPr/>
          <p:nvPr/>
        </p:nvSpPr>
        <p:spPr>
          <a:xfrm>
            <a:off x="4937760" y="3566160"/>
            <a:ext cx="22860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F18C16AA-8F23-1A46-9541-AB7F91B340AA}"/>
              </a:ext>
            </a:extLst>
          </p:cNvPr>
          <p:cNvSpPr/>
          <p:nvPr/>
        </p:nvSpPr>
        <p:spPr>
          <a:xfrm>
            <a:off x="179868" y="4882331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ricavi 2028: € 1.502k  ·  CAGR 2025–2028: +17,9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65C7E35E-C306-4D52-2F6C-C1589FC1B9EE}"/>
              </a:ext>
            </a:extLst>
          </p:cNvPr>
          <p:cNvSpPr/>
          <p:nvPr/>
        </p:nvSpPr>
        <p:spPr>
          <a:xfrm>
            <a:off x="118238" y="4862486"/>
            <a:ext cx="8686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F4678A9F-501D-F989-CAAD-9607B787AB25}"/>
              </a:ext>
            </a:extLst>
          </p:cNvPr>
          <p:cNvSpPr/>
          <p:nvPr/>
        </p:nvSpPr>
        <p:spPr>
          <a:xfrm>
            <a:off x="1280160" y="751659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 del portafoglio per area di servizio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965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1334-1E10-AB5F-5470-6B5C87AB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po 35">
            <a:extLst>
              <a:ext uri="{FF2B5EF4-FFF2-40B4-BE49-F238E27FC236}">
                <a16:creationId xmlns:a16="http://schemas.microsoft.com/office/drawing/2014/main" id="{74F7C7C1-D08E-0F46-4027-5A0CB3223535}"/>
              </a:ext>
            </a:extLst>
          </p:cNvPr>
          <p:cNvGrpSpPr/>
          <p:nvPr/>
        </p:nvGrpSpPr>
        <p:grpSpPr>
          <a:xfrm>
            <a:off x="960120" y="3577372"/>
            <a:ext cx="3977640" cy="1143000"/>
            <a:chOff x="4937760" y="3566160"/>
            <a:chExt cx="3977640" cy="1143000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BF50E6F4-E5B8-7F82-A635-03831292B7CC}"/>
                </a:ext>
              </a:extLst>
            </p:cNvPr>
            <p:cNvSpPr/>
            <p:nvPr/>
          </p:nvSpPr>
          <p:spPr>
            <a:xfrm>
              <a:off x="4937760" y="356616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B309B6DF-5BC2-69A3-8103-9E17DE8D8505}"/>
                </a:ext>
              </a:extLst>
            </p:cNvPr>
            <p:cNvSpPr/>
            <p:nvPr/>
          </p:nvSpPr>
          <p:spPr>
            <a:xfrm>
              <a:off x="5257800" y="363931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</a:t>
              </a:r>
              <a:endParaRPr lang="en-US" sz="1200" dirty="0"/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B98EE587-268F-4375-0331-DABC5A497EB0}"/>
                </a:ext>
              </a:extLst>
            </p:cNvPr>
            <p:cNvSpPr/>
            <p:nvPr/>
          </p:nvSpPr>
          <p:spPr>
            <a:xfrm>
              <a:off x="5257800" y="395020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75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11%  ·  ~ € 165k</a:t>
              </a:r>
              <a:endParaRPr lang="en-US" sz="1400" dirty="0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19184C96-0798-A488-A828-5750850123FC}"/>
                </a:ext>
              </a:extLst>
            </p:cNvPr>
            <p:cNvSpPr/>
            <p:nvPr/>
          </p:nvSpPr>
          <p:spPr>
            <a:xfrm>
              <a:off x="5257800" y="427939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 on demand · Formazione</a:t>
              </a:r>
              <a:endParaRPr lang="en-US" sz="1000" dirty="0"/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37F34BEF-F16E-1553-8FA3-11E27D6942E1}"/>
              </a:ext>
            </a:extLst>
          </p:cNvPr>
          <p:cNvGrpSpPr/>
          <p:nvPr/>
        </p:nvGrpSpPr>
        <p:grpSpPr>
          <a:xfrm>
            <a:off x="5074920" y="2286000"/>
            <a:ext cx="3977640" cy="1143000"/>
            <a:chOff x="4937760" y="2286000"/>
            <a:chExt cx="3977640" cy="1143000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8C60CE6C-9C6A-E57F-3A31-53D9F95BE3BF}"/>
                </a:ext>
              </a:extLst>
            </p:cNvPr>
            <p:cNvSpPr/>
            <p:nvPr/>
          </p:nvSpPr>
          <p:spPr>
            <a:xfrm>
              <a:off x="4937760" y="228600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6D0B90F3-D2D9-84AA-C315-33D2E0AD7BA4}"/>
                </a:ext>
              </a:extLst>
            </p:cNvPr>
            <p:cNvSpPr/>
            <p:nvPr/>
          </p:nvSpPr>
          <p:spPr>
            <a:xfrm>
              <a:off x="5257800" y="235915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Reg-Tech</a:t>
              </a:r>
              <a:endParaRPr lang="en-US" sz="120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81BC70AD-AF42-BE37-9DAA-948DBE09A819}"/>
                </a:ext>
              </a:extLst>
            </p:cNvPr>
            <p:cNvSpPr/>
            <p:nvPr/>
          </p:nvSpPr>
          <p:spPr>
            <a:xfrm>
              <a:off x="5257800" y="267004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19%  ·  ~ € 297k</a:t>
              </a:r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A8E5EE9A-AADA-D93E-A64A-C408A02E54A6}"/>
                </a:ext>
              </a:extLst>
            </p:cNvPr>
            <p:cNvSpPr/>
            <p:nvPr/>
          </p:nvSpPr>
          <p:spPr>
            <a:xfrm>
              <a:off x="5257800" y="299923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Applicativi AML · MIFID · CF</a:t>
              </a:r>
              <a:endParaRPr lang="en-US" sz="1000" dirty="0"/>
            </a:p>
          </p:txBody>
        </p:sp>
      </p:grpSp>
      <p:sp>
        <p:nvSpPr>
          <p:cNvPr id="34" name="Rettangolo 33">
            <a:extLst>
              <a:ext uri="{FF2B5EF4-FFF2-40B4-BE49-F238E27FC236}">
                <a16:creationId xmlns:a16="http://schemas.microsoft.com/office/drawing/2014/main" id="{0A50D3D7-C60D-1E23-0326-CD7C4FDB5C4C}"/>
              </a:ext>
            </a:extLst>
          </p:cNvPr>
          <p:cNvSpPr/>
          <p:nvPr/>
        </p:nvSpPr>
        <p:spPr>
          <a:xfrm>
            <a:off x="-66900" y="972885"/>
            <a:ext cx="5004659" cy="417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C231C91A-E133-01A4-27F8-C32DB3C0AFF8}"/>
              </a:ext>
            </a:extLst>
          </p:cNvPr>
          <p:cNvGrpSpPr/>
          <p:nvPr/>
        </p:nvGrpSpPr>
        <p:grpSpPr>
          <a:xfrm>
            <a:off x="5074920" y="1000248"/>
            <a:ext cx="3977640" cy="1143000"/>
            <a:chOff x="4937760" y="1005840"/>
            <a:chExt cx="3977640" cy="114300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9A3D36F1-4573-3EBE-EFE6-5113A1120AA9}"/>
                </a:ext>
              </a:extLst>
            </p:cNvPr>
            <p:cNvSpPr/>
            <p:nvPr/>
          </p:nvSpPr>
          <p:spPr>
            <a:xfrm>
              <a:off x="4937760" y="100584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3C802E1D-158F-3791-A40F-95F4AFFF4816}"/>
                </a:ext>
              </a:extLst>
            </p:cNvPr>
            <p:cNvSpPr/>
            <p:nvPr/>
          </p:nvSpPr>
          <p:spPr>
            <a:xfrm>
              <a:off x="5257800" y="107899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Funzioni di Controllo</a:t>
              </a:r>
              <a:endParaRPr lang="en-US" sz="12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3ED14E7-9C8C-C78F-7BFA-4EC2BF0E971E}"/>
                </a:ext>
              </a:extLst>
            </p:cNvPr>
            <p:cNvSpPr/>
            <p:nvPr/>
          </p:nvSpPr>
          <p:spPr>
            <a:xfrm>
              <a:off x="5257800" y="138988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70%  ·  ~ € 1.085k</a:t>
              </a:r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4827666-C47C-655A-899F-831A7F155D4A}"/>
                </a:ext>
              </a:extLst>
            </p:cNvPr>
            <p:cNvSpPr/>
            <p:nvPr/>
          </p:nvSpPr>
          <p:spPr>
            <a:xfrm>
              <a:off x="5257800" y="171907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 · Compliance &amp; AML · Risk · DPO</a:t>
              </a:r>
              <a:endParaRPr lang="en-US" sz="1000" dirty="0"/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15B32FBC-8C16-12EF-B3E7-7E75552D943F}"/>
              </a:ext>
            </a:extLst>
          </p:cNvPr>
          <p:cNvGrpSpPr/>
          <p:nvPr/>
        </p:nvGrpSpPr>
        <p:grpSpPr>
          <a:xfrm>
            <a:off x="-1320802" y="-4602"/>
            <a:ext cx="7602729" cy="784830"/>
            <a:chOff x="-821871" y="-92503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0EAD7E51-0583-D980-05CC-E5B0E1817703}"/>
                </a:ext>
              </a:extLst>
            </p:cNvPr>
            <p:cNvSpPr/>
            <p:nvPr/>
          </p:nvSpPr>
          <p:spPr>
            <a:xfrm>
              <a:off x="-821871" y="-92503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AA3A69F-2DE9-8026-7A72-CC9666A2FD5B}"/>
                </a:ext>
              </a:extLst>
            </p:cNvPr>
            <p:cNvSpPr txBox="1"/>
            <p:nvPr/>
          </p:nvSpPr>
          <p:spPr>
            <a:xfrm>
              <a:off x="970681" y="30235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Distribuzione ricavi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8017D991-7ACF-D7D6-0FEF-3308694F41F1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7A25F17-12EF-5483-36A1-6D51C6803EA5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39B52B6-CA80-702B-049F-C48D9B136B9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DB1A38CB-2E8F-923A-F8B8-DCEABD22CB8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09B78358-2C23-49B0-8B0E-5C24475F3744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F0BCB24F-0894-DF78-5451-2DD9B08DD4A0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27985B97-5047-C698-B99C-2B07CE39B88C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4C2DF681-B950-6E1E-C9C8-37875B7FE7AA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5143D41F-AAB1-6842-EA5E-A3061DD3B2A6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68AAAE4-60C7-AFD0-40FF-FE0CDE8A37B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0E8941E6-A38E-28A3-A1E5-3EA5AB3A34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255028"/>
              </p:ext>
            </p:extLst>
          </p:nvPr>
        </p:nvGraphicFramePr>
        <p:xfrm>
          <a:off x="663373" y="1389888"/>
          <a:ext cx="3908627" cy="34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577BAEB6-C4E4-A591-3EDF-A905C241640D}"/>
              </a:ext>
            </a:extLst>
          </p:cNvPr>
          <p:cNvSpPr/>
          <p:nvPr/>
        </p:nvSpPr>
        <p:spPr>
          <a:xfrm>
            <a:off x="4937760" y="1005840"/>
            <a:ext cx="228600" cy="1143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68E891D-C42F-FA76-117A-997006D7EDC9}"/>
              </a:ext>
            </a:extLst>
          </p:cNvPr>
          <p:cNvSpPr/>
          <p:nvPr/>
        </p:nvSpPr>
        <p:spPr>
          <a:xfrm>
            <a:off x="4937760" y="2286000"/>
            <a:ext cx="228600" cy="1143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7344F650-0298-13AB-2B5F-3042B2D55CDE}"/>
              </a:ext>
            </a:extLst>
          </p:cNvPr>
          <p:cNvSpPr/>
          <p:nvPr/>
        </p:nvSpPr>
        <p:spPr>
          <a:xfrm>
            <a:off x="4937760" y="3566160"/>
            <a:ext cx="22860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F4EC8095-2726-3D81-B98D-AF484670F9C2}"/>
              </a:ext>
            </a:extLst>
          </p:cNvPr>
          <p:cNvSpPr/>
          <p:nvPr/>
        </p:nvSpPr>
        <p:spPr>
          <a:xfrm>
            <a:off x="179868" y="4882331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ricavi 2028: € 1.502k  ·  CAGR 2025–2028: +17,9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EE6E0504-D7A4-5CEB-23D8-98EDBA7B62FA}"/>
              </a:ext>
            </a:extLst>
          </p:cNvPr>
          <p:cNvSpPr/>
          <p:nvPr/>
        </p:nvSpPr>
        <p:spPr>
          <a:xfrm>
            <a:off x="118238" y="4862486"/>
            <a:ext cx="8686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5F799D96-E60B-E396-C54B-C6550EE74373}"/>
              </a:ext>
            </a:extLst>
          </p:cNvPr>
          <p:cNvSpPr/>
          <p:nvPr/>
        </p:nvSpPr>
        <p:spPr>
          <a:xfrm>
            <a:off x="1280160" y="751659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 del portafoglio per area di servizio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33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3CB6-C1AC-A24A-E78E-1CBCBA9C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po 35">
            <a:extLst>
              <a:ext uri="{FF2B5EF4-FFF2-40B4-BE49-F238E27FC236}">
                <a16:creationId xmlns:a16="http://schemas.microsoft.com/office/drawing/2014/main" id="{AC712143-C16E-5D25-2D0D-35FA623EC935}"/>
              </a:ext>
            </a:extLst>
          </p:cNvPr>
          <p:cNvGrpSpPr/>
          <p:nvPr/>
        </p:nvGrpSpPr>
        <p:grpSpPr>
          <a:xfrm>
            <a:off x="5166360" y="3564321"/>
            <a:ext cx="3977640" cy="1143000"/>
            <a:chOff x="4937760" y="3566160"/>
            <a:chExt cx="3977640" cy="1143000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FC10A2B0-0C48-5744-2E40-FDEEBF8B5AF6}"/>
                </a:ext>
              </a:extLst>
            </p:cNvPr>
            <p:cNvSpPr/>
            <p:nvPr/>
          </p:nvSpPr>
          <p:spPr>
            <a:xfrm>
              <a:off x="4937760" y="356616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59D3D60C-0D3E-D059-EDB0-396992E56CA6}"/>
                </a:ext>
              </a:extLst>
            </p:cNvPr>
            <p:cNvSpPr/>
            <p:nvPr/>
          </p:nvSpPr>
          <p:spPr>
            <a:xfrm>
              <a:off x="5257800" y="363931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</a:t>
              </a:r>
              <a:endParaRPr lang="en-US" sz="1200" dirty="0"/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6B66BD5A-E3D5-7CFA-0472-0F8D807AE60E}"/>
                </a:ext>
              </a:extLst>
            </p:cNvPr>
            <p:cNvSpPr/>
            <p:nvPr/>
          </p:nvSpPr>
          <p:spPr>
            <a:xfrm>
              <a:off x="5257800" y="395020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11%  ·  ~ € 165k</a:t>
              </a:r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FEE4809-21FB-0624-EA03-53AA155CF3D7}"/>
                </a:ext>
              </a:extLst>
            </p:cNvPr>
            <p:cNvSpPr/>
            <p:nvPr/>
          </p:nvSpPr>
          <p:spPr>
            <a:xfrm>
              <a:off x="5257800" y="427939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Consulenza on demand · Formazione</a:t>
              </a:r>
              <a:endParaRPr lang="en-US" sz="1000" dirty="0"/>
            </a:p>
          </p:txBody>
        </p:sp>
      </p:grpSp>
      <p:sp>
        <p:nvSpPr>
          <p:cNvPr id="34" name="Rettangolo 33">
            <a:extLst>
              <a:ext uri="{FF2B5EF4-FFF2-40B4-BE49-F238E27FC236}">
                <a16:creationId xmlns:a16="http://schemas.microsoft.com/office/drawing/2014/main" id="{0C291698-3AD2-AE59-1507-9E36C044FD73}"/>
              </a:ext>
            </a:extLst>
          </p:cNvPr>
          <p:cNvSpPr/>
          <p:nvPr/>
        </p:nvSpPr>
        <p:spPr>
          <a:xfrm>
            <a:off x="-66900" y="972885"/>
            <a:ext cx="5004659" cy="417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F58D48A9-E50D-0DA2-C09A-B1C8DD043D1F}"/>
              </a:ext>
            </a:extLst>
          </p:cNvPr>
          <p:cNvGrpSpPr/>
          <p:nvPr/>
        </p:nvGrpSpPr>
        <p:grpSpPr>
          <a:xfrm>
            <a:off x="5074920" y="2286000"/>
            <a:ext cx="3977640" cy="1143000"/>
            <a:chOff x="4937760" y="2286000"/>
            <a:chExt cx="3977640" cy="1143000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F18A2DBC-2313-4D70-FBEA-D43E8739578E}"/>
                </a:ext>
              </a:extLst>
            </p:cNvPr>
            <p:cNvSpPr/>
            <p:nvPr/>
          </p:nvSpPr>
          <p:spPr>
            <a:xfrm>
              <a:off x="4937760" y="228600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90309DA6-BDA1-075C-A8B6-987FF5483F2A}"/>
                </a:ext>
              </a:extLst>
            </p:cNvPr>
            <p:cNvSpPr/>
            <p:nvPr/>
          </p:nvSpPr>
          <p:spPr>
            <a:xfrm>
              <a:off x="5257800" y="235915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Reg-Tech</a:t>
              </a:r>
              <a:endParaRPr lang="en-US" sz="120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DE685C55-3392-7B29-F715-0933147190F5}"/>
                </a:ext>
              </a:extLst>
            </p:cNvPr>
            <p:cNvSpPr/>
            <p:nvPr/>
          </p:nvSpPr>
          <p:spPr>
            <a:xfrm>
              <a:off x="5257800" y="267004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19%  ·  ~ € 297k</a:t>
              </a:r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5EA923B3-452F-0CB6-99F1-2F739F28D18D}"/>
                </a:ext>
              </a:extLst>
            </p:cNvPr>
            <p:cNvSpPr/>
            <p:nvPr/>
          </p:nvSpPr>
          <p:spPr>
            <a:xfrm>
              <a:off x="5257800" y="299923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Applicativi AML · MIFID · CF</a:t>
              </a:r>
              <a:endParaRPr lang="en-US" sz="1000" dirty="0"/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4B1DFD1D-20D0-5E2E-57BE-CCB8A9F65A0B}"/>
              </a:ext>
            </a:extLst>
          </p:cNvPr>
          <p:cNvGrpSpPr/>
          <p:nvPr/>
        </p:nvGrpSpPr>
        <p:grpSpPr>
          <a:xfrm>
            <a:off x="5074920" y="1000248"/>
            <a:ext cx="3977640" cy="1143000"/>
            <a:chOff x="4937760" y="1005840"/>
            <a:chExt cx="3977640" cy="114300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FF20FC0C-7FA0-BC17-2DDA-E6CC92910596}"/>
                </a:ext>
              </a:extLst>
            </p:cNvPr>
            <p:cNvSpPr/>
            <p:nvPr/>
          </p:nvSpPr>
          <p:spPr>
            <a:xfrm>
              <a:off x="4937760" y="1005840"/>
              <a:ext cx="3977640" cy="114300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C64C9727-D6DE-62E2-3CD9-E3F1BACCCEE7}"/>
                </a:ext>
              </a:extLst>
            </p:cNvPr>
            <p:cNvSpPr/>
            <p:nvPr/>
          </p:nvSpPr>
          <p:spPr>
            <a:xfrm>
              <a:off x="5257800" y="1078992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Funzioni di Controllo</a:t>
              </a:r>
              <a:endParaRPr lang="en-US" sz="12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757C863-CE3F-F0A6-E1BF-33D093367991}"/>
                </a:ext>
              </a:extLst>
            </p:cNvPr>
            <p:cNvSpPr/>
            <p:nvPr/>
          </p:nvSpPr>
          <p:spPr>
            <a:xfrm>
              <a:off x="5257800" y="138988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70%  ·  ~ € 1.085k</a:t>
              </a:r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DF92D917-A920-30E8-D309-B25C5DB4DFED}"/>
                </a:ext>
              </a:extLst>
            </p:cNvPr>
            <p:cNvSpPr/>
            <p:nvPr/>
          </p:nvSpPr>
          <p:spPr>
            <a:xfrm>
              <a:off x="5257800" y="171907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 · Compliance &amp; AML · Risk · DPO</a:t>
              </a:r>
              <a:endParaRPr lang="en-US" sz="1000" dirty="0"/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618F2013-3F60-DC67-0208-A9C9D7482FEB}"/>
              </a:ext>
            </a:extLst>
          </p:cNvPr>
          <p:cNvGrpSpPr/>
          <p:nvPr/>
        </p:nvGrpSpPr>
        <p:grpSpPr>
          <a:xfrm>
            <a:off x="-1320802" y="-4602"/>
            <a:ext cx="7602729" cy="784830"/>
            <a:chOff x="-821871" y="-92503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FB09BAA2-679C-7FB6-5825-819C77AC3795}"/>
                </a:ext>
              </a:extLst>
            </p:cNvPr>
            <p:cNvSpPr/>
            <p:nvPr/>
          </p:nvSpPr>
          <p:spPr>
            <a:xfrm>
              <a:off x="-821871" y="-92503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2D62E0FD-E6AF-D086-7E9D-4E2A95F3AC84}"/>
                </a:ext>
              </a:extLst>
            </p:cNvPr>
            <p:cNvSpPr txBox="1"/>
            <p:nvPr/>
          </p:nvSpPr>
          <p:spPr>
            <a:xfrm>
              <a:off x="970681" y="30235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Distribuzione ricavi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40FDCFDF-9311-E871-98BF-4FF7C06432A8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C73F541B-9555-B88C-AA71-F59526E5B260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F0CC7F57-543D-43A8-0A2F-0CADAA7AEE33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343FD67B-0757-BA0B-658E-B625AA86F40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4CEA05F9-B2E7-3833-6A19-0609DA39DAD0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36CCAE3-19FD-20B6-9183-8B643B2944FE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C51E8BC-651B-1B08-97DB-7CBFB42B836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206A28AF-D4CF-5F4F-D375-13E091DF5C5F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87A28FD-27D2-D1B2-CF1E-781B306C181D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44400D8-990E-AB3C-5637-C5520666753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044BA555-CFA4-D7FE-C016-5FE89300EE6B}"/>
              </a:ext>
            </a:extLst>
          </p:cNvPr>
          <p:cNvGraphicFramePr/>
          <p:nvPr/>
        </p:nvGraphicFramePr>
        <p:xfrm>
          <a:off x="663373" y="1389888"/>
          <a:ext cx="3908627" cy="34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C5E5CD37-BB2E-91D9-61AF-57D19382A3E7}"/>
              </a:ext>
            </a:extLst>
          </p:cNvPr>
          <p:cNvSpPr/>
          <p:nvPr/>
        </p:nvSpPr>
        <p:spPr>
          <a:xfrm>
            <a:off x="4937760" y="1005840"/>
            <a:ext cx="228600" cy="1143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2AC5D72-C1A1-4C66-79DB-96BC83810A24}"/>
              </a:ext>
            </a:extLst>
          </p:cNvPr>
          <p:cNvSpPr/>
          <p:nvPr/>
        </p:nvSpPr>
        <p:spPr>
          <a:xfrm>
            <a:off x="4937760" y="2286000"/>
            <a:ext cx="228600" cy="1143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BE5C9C7A-0EBE-6646-5E11-3774307A451F}"/>
              </a:ext>
            </a:extLst>
          </p:cNvPr>
          <p:cNvSpPr/>
          <p:nvPr/>
        </p:nvSpPr>
        <p:spPr>
          <a:xfrm>
            <a:off x="4937760" y="3566160"/>
            <a:ext cx="22860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65D398F6-D9DE-8C5C-354B-1E0EF5429886}"/>
              </a:ext>
            </a:extLst>
          </p:cNvPr>
          <p:cNvSpPr/>
          <p:nvPr/>
        </p:nvSpPr>
        <p:spPr>
          <a:xfrm>
            <a:off x="179868" y="4882331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ricavi 2028: € 1.502k  ·  CAGR 2025–2028: +17,9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53FABAAE-21EA-05BD-F7A2-F8410768F550}"/>
              </a:ext>
            </a:extLst>
          </p:cNvPr>
          <p:cNvSpPr/>
          <p:nvPr/>
        </p:nvSpPr>
        <p:spPr>
          <a:xfrm>
            <a:off x="118238" y="4862486"/>
            <a:ext cx="8686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6186ED9C-121B-8B77-B4EE-B37486D41E68}"/>
              </a:ext>
            </a:extLst>
          </p:cNvPr>
          <p:cNvSpPr/>
          <p:nvPr/>
        </p:nvSpPr>
        <p:spPr>
          <a:xfrm>
            <a:off x="1280160" y="751659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 del portafoglio per area di servizio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51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6DAF-24F0-3E74-D791-3C10B3AF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tangolo 49">
            <a:extLst>
              <a:ext uri="{FF2B5EF4-FFF2-40B4-BE49-F238E27FC236}">
                <a16:creationId xmlns:a16="http://schemas.microsoft.com/office/drawing/2014/main" id="{687132A2-7F35-A1F4-2B9F-406E4705A238}"/>
              </a:ext>
            </a:extLst>
          </p:cNvPr>
          <p:cNvSpPr/>
          <p:nvPr/>
        </p:nvSpPr>
        <p:spPr>
          <a:xfrm>
            <a:off x="165321" y="3296307"/>
            <a:ext cx="3556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DPO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47C28E94-7D0D-34DD-9F8E-EEF0BA35BE6D}"/>
              </a:ext>
            </a:extLst>
          </p:cNvPr>
          <p:cNvSpPr/>
          <p:nvPr/>
        </p:nvSpPr>
        <p:spPr>
          <a:xfrm>
            <a:off x="3721321" y="3296307"/>
            <a:ext cx="1270000" cy="4953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8,0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0F9C2984-B521-3090-58B8-D6485B8F5EC1}"/>
              </a:ext>
            </a:extLst>
          </p:cNvPr>
          <p:cNvSpPr/>
          <p:nvPr/>
        </p:nvSpPr>
        <p:spPr>
          <a:xfrm>
            <a:off x="165321" y="3778907"/>
            <a:ext cx="3556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Risk &amp; Services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03AE6F08-DB76-E927-8691-AE4C35A3B65B}"/>
              </a:ext>
            </a:extLst>
          </p:cNvPr>
          <p:cNvSpPr/>
          <p:nvPr/>
        </p:nvSpPr>
        <p:spPr>
          <a:xfrm>
            <a:off x="3721321" y="37789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127,6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F78AAC73-9282-F982-FADF-2B76EC43592F}"/>
              </a:ext>
            </a:extLst>
          </p:cNvPr>
          <p:cNvSpPr/>
          <p:nvPr/>
        </p:nvSpPr>
        <p:spPr>
          <a:xfrm>
            <a:off x="4991321" y="37789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254,0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4D692249-F351-C0D3-ECE3-3888355B092F}"/>
              </a:ext>
            </a:extLst>
          </p:cNvPr>
          <p:cNvSpPr/>
          <p:nvPr/>
        </p:nvSpPr>
        <p:spPr>
          <a:xfrm>
            <a:off x="6261321" y="37789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+99,0%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09476DCC-6B24-CB6F-FBF3-FD7241975996}"/>
              </a:ext>
            </a:extLst>
          </p:cNvPr>
          <p:cNvSpPr/>
          <p:nvPr/>
        </p:nvSpPr>
        <p:spPr>
          <a:xfrm>
            <a:off x="7531321" y="37789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16,9%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6D394928-CB3D-B0E0-5820-94E9B37E3E34}"/>
              </a:ext>
            </a:extLst>
          </p:cNvPr>
          <p:cNvSpPr/>
          <p:nvPr/>
        </p:nvSpPr>
        <p:spPr>
          <a:xfrm>
            <a:off x="165321" y="4261507"/>
            <a:ext cx="3556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Consulenza On Demand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6F35A15A-7BEE-B985-DB40-D202289B64F1}"/>
              </a:ext>
            </a:extLst>
          </p:cNvPr>
          <p:cNvSpPr/>
          <p:nvPr/>
        </p:nvSpPr>
        <p:spPr>
          <a:xfrm>
            <a:off x="3721321" y="42615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163,2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1A7EAB9B-5AFE-5BF9-3736-9EDD5ED96FB9}"/>
              </a:ext>
            </a:extLst>
          </p:cNvPr>
          <p:cNvSpPr/>
          <p:nvPr/>
        </p:nvSpPr>
        <p:spPr>
          <a:xfrm>
            <a:off x="4991321" y="42615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215,0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E5EFC143-952E-1B31-7F47-E3B329884036}"/>
              </a:ext>
            </a:extLst>
          </p:cNvPr>
          <p:cNvSpPr/>
          <p:nvPr/>
        </p:nvSpPr>
        <p:spPr>
          <a:xfrm>
            <a:off x="6261321" y="42615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+31,7%</a:t>
            </a: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C91EDBA9-C004-C787-EE0D-B73503217922}"/>
              </a:ext>
            </a:extLst>
          </p:cNvPr>
          <p:cNvSpPr/>
          <p:nvPr/>
        </p:nvSpPr>
        <p:spPr>
          <a:xfrm>
            <a:off x="7531321" y="42615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14,3%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8EFE61CD-CE14-C748-0247-7547F3E1D3DF}"/>
              </a:ext>
            </a:extLst>
          </p:cNvPr>
          <p:cNvSpPr/>
          <p:nvPr/>
        </p:nvSpPr>
        <p:spPr>
          <a:xfrm>
            <a:off x="165321" y="1378607"/>
            <a:ext cx="3556000" cy="482600"/>
          </a:xfrm>
          <a:prstGeom prst="rect">
            <a:avLst/>
          </a:prstGeom>
          <a:solidFill>
            <a:srgbClr val="1A1A2E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di servizio</a:t>
            </a:r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3163165A-912D-5602-C0B9-A3B32C4BB051}"/>
              </a:ext>
            </a:extLst>
          </p:cNvPr>
          <p:cNvSpPr/>
          <p:nvPr/>
        </p:nvSpPr>
        <p:spPr>
          <a:xfrm>
            <a:off x="3721321" y="1378607"/>
            <a:ext cx="1270000" cy="482600"/>
          </a:xfrm>
          <a:prstGeom prst="rect">
            <a:avLst/>
          </a:prstGeom>
          <a:solidFill>
            <a:srgbClr val="1A1A2E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359E5AF2-586B-1FB9-750B-A5CFE50EF992}"/>
              </a:ext>
            </a:extLst>
          </p:cNvPr>
          <p:cNvSpPr/>
          <p:nvPr/>
        </p:nvSpPr>
        <p:spPr>
          <a:xfrm>
            <a:off x="4991321" y="1378607"/>
            <a:ext cx="1270000" cy="482600"/>
          </a:xfrm>
          <a:prstGeom prst="rect">
            <a:avLst/>
          </a:prstGeom>
          <a:solidFill>
            <a:srgbClr val="1A1A2E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2028</a:t>
            </a:r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25422DAF-11B6-9946-3FE9-9703FE16308E}"/>
              </a:ext>
            </a:extLst>
          </p:cNvPr>
          <p:cNvSpPr/>
          <p:nvPr/>
        </p:nvSpPr>
        <p:spPr>
          <a:xfrm>
            <a:off x="6261321" y="1378607"/>
            <a:ext cx="1270000" cy="482600"/>
          </a:xfrm>
          <a:prstGeom prst="rect">
            <a:avLst/>
          </a:prstGeom>
          <a:solidFill>
            <a:srgbClr val="1A1A2E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l-GR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Δ %</a:t>
            </a:r>
            <a:endParaRPr lang="it-IT" sz="12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4BFBA7AF-FEDB-344E-C2ED-64F07ED20D90}"/>
              </a:ext>
            </a:extLst>
          </p:cNvPr>
          <p:cNvSpPr/>
          <p:nvPr/>
        </p:nvSpPr>
        <p:spPr>
          <a:xfrm>
            <a:off x="7531321" y="1378607"/>
            <a:ext cx="1270000" cy="482600"/>
          </a:xfrm>
          <a:prstGeom prst="rect">
            <a:avLst/>
          </a:prstGeom>
          <a:solidFill>
            <a:srgbClr val="1A1A2E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Quota 2028</a:t>
            </a:r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D17FB4D1-4486-0104-5D60-A2558DC71483}"/>
              </a:ext>
            </a:extLst>
          </p:cNvPr>
          <p:cNvSpPr/>
          <p:nvPr/>
        </p:nvSpPr>
        <p:spPr>
          <a:xfrm>
            <a:off x="165321" y="1861207"/>
            <a:ext cx="3556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Audit</a:t>
            </a:r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DCC1B935-B433-AEB3-E0F5-02F14DC2ADD2}"/>
              </a:ext>
            </a:extLst>
          </p:cNvPr>
          <p:cNvSpPr/>
          <p:nvPr/>
        </p:nvSpPr>
        <p:spPr>
          <a:xfrm>
            <a:off x="3721321" y="18612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269,5</a:t>
            </a: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2B278616-9374-0838-A033-3456C62438F2}"/>
              </a:ext>
            </a:extLst>
          </p:cNvPr>
          <p:cNvSpPr/>
          <p:nvPr/>
        </p:nvSpPr>
        <p:spPr>
          <a:xfrm>
            <a:off x="4991321" y="18612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366,4</a:t>
            </a:r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DFB746BB-5E35-4AAB-B7F2-9800FC3A45A6}"/>
              </a:ext>
            </a:extLst>
          </p:cNvPr>
          <p:cNvSpPr/>
          <p:nvPr/>
        </p:nvSpPr>
        <p:spPr>
          <a:xfrm>
            <a:off x="6261321" y="18612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+36,0%</a:t>
            </a:r>
          </a:p>
        </p:txBody>
      </p:sp>
      <p:sp>
        <p:nvSpPr>
          <p:cNvPr id="71" name="Rettangolo 70">
            <a:extLst>
              <a:ext uri="{FF2B5EF4-FFF2-40B4-BE49-F238E27FC236}">
                <a16:creationId xmlns:a16="http://schemas.microsoft.com/office/drawing/2014/main" id="{EB3334B1-0745-711B-9DA1-7857790085B3}"/>
              </a:ext>
            </a:extLst>
          </p:cNvPr>
          <p:cNvSpPr/>
          <p:nvPr/>
        </p:nvSpPr>
        <p:spPr>
          <a:xfrm>
            <a:off x="7531321" y="18612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24,4%</a:t>
            </a:r>
          </a:p>
        </p:txBody>
      </p:sp>
      <p:sp>
        <p:nvSpPr>
          <p:cNvPr id="72" name="Rettangolo 71">
            <a:extLst>
              <a:ext uri="{FF2B5EF4-FFF2-40B4-BE49-F238E27FC236}">
                <a16:creationId xmlns:a16="http://schemas.microsoft.com/office/drawing/2014/main" id="{011E7C33-017E-3939-E823-F5CA9C337874}"/>
              </a:ext>
            </a:extLst>
          </p:cNvPr>
          <p:cNvSpPr/>
          <p:nvPr/>
        </p:nvSpPr>
        <p:spPr>
          <a:xfrm>
            <a:off x="165321" y="2343807"/>
            <a:ext cx="3556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Compliance &amp; AML</a:t>
            </a:r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254B634C-1FD6-D57B-A6BC-8948AE154EA6}"/>
              </a:ext>
            </a:extLst>
          </p:cNvPr>
          <p:cNvSpPr/>
          <p:nvPr/>
        </p:nvSpPr>
        <p:spPr>
          <a:xfrm>
            <a:off x="4991321" y="23438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272,9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176EDA7F-74F4-A8E7-BFB6-9FF25A1642FE}"/>
              </a:ext>
            </a:extLst>
          </p:cNvPr>
          <p:cNvSpPr/>
          <p:nvPr/>
        </p:nvSpPr>
        <p:spPr>
          <a:xfrm>
            <a:off x="6261321" y="23438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+68,6%</a:t>
            </a:r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98D02747-6CE9-0DDE-B62D-94B062256E50}"/>
              </a:ext>
            </a:extLst>
          </p:cNvPr>
          <p:cNvSpPr/>
          <p:nvPr/>
        </p:nvSpPr>
        <p:spPr>
          <a:xfrm>
            <a:off x="7531321" y="23438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18,2%</a:t>
            </a:r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E2C9EC34-B012-A666-7500-F4BC17D03175}"/>
              </a:ext>
            </a:extLst>
          </p:cNvPr>
          <p:cNvSpPr/>
          <p:nvPr/>
        </p:nvSpPr>
        <p:spPr>
          <a:xfrm>
            <a:off x="165321" y="2826407"/>
            <a:ext cx="3556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Tech Services (Reg-Tech)</a:t>
            </a: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9892DEA8-95D3-9C26-F6D6-B27050B09BD9}"/>
              </a:ext>
            </a:extLst>
          </p:cNvPr>
          <p:cNvSpPr/>
          <p:nvPr/>
        </p:nvSpPr>
        <p:spPr>
          <a:xfrm>
            <a:off x="3721321" y="28264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176,4</a:t>
            </a:r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829B3029-D1AE-2E00-5155-1507CF58C3F4}"/>
              </a:ext>
            </a:extLst>
          </p:cNvPr>
          <p:cNvSpPr/>
          <p:nvPr/>
        </p:nvSpPr>
        <p:spPr>
          <a:xfrm>
            <a:off x="4991321" y="28264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297,1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4BDD9A50-6CB5-D5C0-6A6B-9B35EEEC643F}"/>
              </a:ext>
            </a:extLst>
          </p:cNvPr>
          <p:cNvSpPr/>
          <p:nvPr/>
        </p:nvSpPr>
        <p:spPr>
          <a:xfrm>
            <a:off x="6261321" y="28264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+68,4%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9B7B8E7C-25E3-41AE-9891-27153CCE2FE0}"/>
              </a:ext>
            </a:extLst>
          </p:cNvPr>
          <p:cNvSpPr/>
          <p:nvPr/>
        </p:nvSpPr>
        <p:spPr>
          <a:xfrm>
            <a:off x="7531321" y="2826407"/>
            <a:ext cx="1270000" cy="482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19,8%</a:t>
            </a:r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7746B153-99FA-D5F3-AC45-EB232EBAA9F2}"/>
              </a:ext>
            </a:extLst>
          </p:cNvPr>
          <p:cNvSpPr/>
          <p:nvPr/>
        </p:nvSpPr>
        <p:spPr>
          <a:xfrm>
            <a:off x="4991321" y="3309007"/>
            <a:ext cx="1270000" cy="4699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72,0</a:t>
            </a:r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A89FEE63-6E79-A2FE-88D8-B97976E4C13D}"/>
              </a:ext>
            </a:extLst>
          </p:cNvPr>
          <p:cNvSpPr/>
          <p:nvPr/>
        </p:nvSpPr>
        <p:spPr>
          <a:xfrm>
            <a:off x="6261321" y="3309007"/>
            <a:ext cx="1270000" cy="4699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+803%</a:t>
            </a: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3F41D9CE-542E-2272-69BE-4A1EDD6F1327}"/>
              </a:ext>
            </a:extLst>
          </p:cNvPr>
          <p:cNvSpPr/>
          <p:nvPr/>
        </p:nvSpPr>
        <p:spPr>
          <a:xfrm>
            <a:off x="7531321" y="3309007"/>
            <a:ext cx="1270000" cy="4699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4,8%</a:t>
            </a:r>
          </a:p>
        </p:txBody>
      </p: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97ED4A0C-E9C8-200A-69C1-BD521322C278}"/>
              </a:ext>
            </a:extLst>
          </p:cNvPr>
          <p:cNvGrpSpPr/>
          <p:nvPr/>
        </p:nvGrpSpPr>
        <p:grpSpPr>
          <a:xfrm>
            <a:off x="4188211" y="-30378"/>
            <a:ext cx="7602729" cy="784830"/>
            <a:chOff x="717151" y="-122881"/>
            <a:chExt cx="4175227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8" name="Rettangolo 47">
              <a:extLst>
                <a:ext uri="{FF2B5EF4-FFF2-40B4-BE49-F238E27FC236}">
                  <a16:creationId xmlns:a16="http://schemas.microsoft.com/office/drawing/2014/main" id="{021FCEF3-C738-E439-7466-D27D7520CCE5}"/>
                </a:ext>
              </a:extLst>
            </p:cNvPr>
            <p:cNvSpPr/>
            <p:nvPr/>
          </p:nvSpPr>
          <p:spPr>
            <a:xfrm>
              <a:off x="717151" y="-122881"/>
              <a:ext cx="417522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9FD8875C-86DE-BE1D-841A-A7CD7944A853}"/>
                </a:ext>
              </a:extLst>
            </p:cNvPr>
            <p:cNvSpPr txBox="1"/>
            <p:nvPr/>
          </p:nvSpPr>
          <p:spPr>
            <a:xfrm>
              <a:off x="978456" y="-6812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Business attuale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3598360D-B6C4-7125-6D9E-DC26445D1132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97031B92-2208-8C8C-BF75-BB5E336C9776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32" name="Group 2">
              <a:extLst>
                <a:ext uri="{FF2B5EF4-FFF2-40B4-BE49-F238E27FC236}">
                  <a16:creationId xmlns:a16="http://schemas.microsoft.com/office/drawing/2014/main" id="{048FF776-7F54-68DA-A511-15D51E134B63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46" name="Freeform 3">
                <a:extLst>
                  <a:ext uri="{FF2B5EF4-FFF2-40B4-BE49-F238E27FC236}">
                    <a16:creationId xmlns:a16="http://schemas.microsoft.com/office/drawing/2014/main" id="{2478A398-923A-8EBC-CBE9-414CE49EBFA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40" name="Group 4">
              <a:extLst>
                <a:ext uri="{FF2B5EF4-FFF2-40B4-BE49-F238E27FC236}">
                  <a16:creationId xmlns:a16="http://schemas.microsoft.com/office/drawing/2014/main" id="{3D4B8419-54B3-BE94-900F-CE87C13FDED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44" name="Freeform 5">
                <a:extLst>
                  <a:ext uri="{FF2B5EF4-FFF2-40B4-BE49-F238E27FC236}">
                    <a16:creationId xmlns:a16="http://schemas.microsoft.com/office/drawing/2014/main" id="{035E0A37-A72D-E211-B422-8A3D694AFD0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C510953F-6F30-07B5-3FA7-F331D1895CDF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54342DF9-B287-2186-8C06-8969909E8C8A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42" name="Ovale 41">
                <a:extLst>
                  <a:ext uri="{FF2B5EF4-FFF2-40B4-BE49-F238E27FC236}">
                    <a16:creationId xmlns:a16="http://schemas.microsoft.com/office/drawing/2014/main" id="{72B50375-CA8C-0928-9313-216A1F54BD94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43" name="Freeform 7">
                <a:extLst>
                  <a:ext uri="{FF2B5EF4-FFF2-40B4-BE49-F238E27FC236}">
                    <a16:creationId xmlns:a16="http://schemas.microsoft.com/office/drawing/2014/main" id="{80346BB2-868C-86EC-8B93-211C8EBB2F9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84" name="Text 3">
            <a:extLst>
              <a:ext uri="{FF2B5EF4-FFF2-40B4-BE49-F238E27FC236}">
                <a16:creationId xmlns:a16="http://schemas.microsoft.com/office/drawing/2014/main" id="{CFE48877-15D2-E8F3-2E30-83BF13437703}"/>
              </a:ext>
            </a:extLst>
          </p:cNvPr>
          <p:cNvSpPr/>
          <p:nvPr/>
        </p:nvSpPr>
        <p:spPr>
          <a:xfrm>
            <a:off x="-1095853" y="76164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2025–2028 — valori in migliaia di euro (€000)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B6AC573C-76CA-7500-C910-9AB2F6FD52C1}"/>
              </a:ext>
            </a:extLst>
          </p:cNvPr>
          <p:cNvSpPr/>
          <p:nvPr/>
        </p:nvSpPr>
        <p:spPr>
          <a:xfrm>
            <a:off x="228600" y="4854211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ricavi 2028: € 1.502k  ·  CAGR 2025–2028: +17,9%  ·  Audit 24,4% · Compliance &amp; AML 18,2% · Tech Services 19,8%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207" name="Rettangolo 206">
            <a:extLst>
              <a:ext uri="{FF2B5EF4-FFF2-40B4-BE49-F238E27FC236}">
                <a16:creationId xmlns:a16="http://schemas.microsoft.com/office/drawing/2014/main" id="{3FEE13BC-5DD1-F399-8BD5-80BD04904462}"/>
              </a:ext>
            </a:extLst>
          </p:cNvPr>
          <p:cNvSpPr/>
          <p:nvPr/>
        </p:nvSpPr>
        <p:spPr>
          <a:xfrm>
            <a:off x="3721321" y="2343807"/>
            <a:ext cx="1270000" cy="482600"/>
          </a:xfrm>
          <a:prstGeom prst="rect">
            <a:avLst/>
          </a:prstGeom>
          <a:solidFill>
            <a:srgbClr val="F5F5F7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161,8</a:t>
            </a:r>
          </a:p>
        </p:txBody>
      </p:sp>
    </p:spTree>
    <p:extLst>
      <p:ext uri="{BB962C8B-B14F-4D97-AF65-F5344CB8AC3E}">
        <p14:creationId xmlns:p14="http://schemas.microsoft.com/office/powerpoint/2010/main" val="1875669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8336-B1E3-4705-0843-545E67B2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DDDA2BA3-3EA3-89FB-4C9A-825DFDEC97A2}"/>
              </a:ext>
            </a:extLst>
          </p:cNvPr>
          <p:cNvGrpSpPr/>
          <p:nvPr/>
        </p:nvGrpSpPr>
        <p:grpSpPr>
          <a:xfrm>
            <a:off x="6958733" y="3558535"/>
            <a:ext cx="1843159" cy="3417434"/>
            <a:chOff x="6989055" y="1490909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C7F46052-16B8-8044-E185-B7E1EEB14424}"/>
                </a:ext>
              </a:extLst>
            </p:cNvPr>
            <p:cNvSpPr/>
            <p:nvPr/>
          </p:nvSpPr>
          <p:spPr>
            <a:xfrm>
              <a:off x="6989055" y="1490909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AE9F75EA-D912-52B4-52F5-686B5EED565A}"/>
                </a:ext>
              </a:extLst>
            </p:cNvPr>
            <p:cNvSpPr txBox="1"/>
            <p:nvPr/>
          </p:nvSpPr>
          <p:spPr>
            <a:xfrm>
              <a:off x="7025194" y="1759298"/>
              <a:ext cx="180702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600" dirty="0"/>
                <a:t>- Forte concorrenza nel settore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313B66E5-4D74-ED23-DA98-B539EDAD2462}"/>
              </a:ext>
            </a:extLst>
          </p:cNvPr>
          <p:cNvGrpSpPr/>
          <p:nvPr/>
        </p:nvGrpSpPr>
        <p:grpSpPr>
          <a:xfrm>
            <a:off x="4796698" y="3558535"/>
            <a:ext cx="1843159" cy="3423127"/>
            <a:chOff x="4822379" y="1490908"/>
            <a:chExt cx="1843159" cy="3423127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88961071-A898-A91A-5482-C0061571340C}"/>
                </a:ext>
              </a:extLst>
            </p:cNvPr>
            <p:cNvSpPr/>
            <p:nvPr/>
          </p:nvSpPr>
          <p:spPr>
            <a:xfrm>
              <a:off x="4822379" y="1490908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5A29C27A-B4D4-A47C-8A0A-9AA007152D5E}"/>
                </a:ext>
              </a:extLst>
            </p:cNvPr>
            <p:cNvSpPr txBox="1"/>
            <p:nvPr/>
          </p:nvSpPr>
          <p:spPr>
            <a:xfrm>
              <a:off x="4946919" y="1763135"/>
              <a:ext cx="161898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600" dirty="0"/>
                <a:t>- Sviluppo su altre </a:t>
              </a:r>
              <a:r>
                <a:rPr lang="it-IT" sz="1600" dirty="0" err="1"/>
                <a:t>industries</a:t>
              </a:r>
              <a:r>
                <a:rPr lang="it-IT" sz="1600" dirty="0"/>
                <a:t> (ICT &amp; sicurezza e AML)</a:t>
              </a:r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D3FB393F-9525-EFEF-F7FC-D6ECD59389E6}"/>
              </a:ext>
            </a:extLst>
          </p:cNvPr>
          <p:cNvGrpSpPr/>
          <p:nvPr/>
        </p:nvGrpSpPr>
        <p:grpSpPr>
          <a:xfrm>
            <a:off x="2593884" y="3558535"/>
            <a:ext cx="1843159" cy="3429899"/>
            <a:chOff x="2619564" y="1490908"/>
            <a:chExt cx="1843159" cy="3429899"/>
          </a:xfrm>
        </p:grpSpPr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3DD4C7F0-CB51-1A01-39A1-927C11A1E2B5}"/>
                </a:ext>
              </a:extLst>
            </p:cNvPr>
            <p:cNvSpPr/>
            <p:nvPr/>
          </p:nvSpPr>
          <p:spPr>
            <a:xfrm>
              <a:off x="2619564" y="1490908"/>
              <a:ext cx="1843159" cy="3429899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6F7531BE-A68F-C482-37C7-DD55D01A6080}"/>
                </a:ext>
              </a:extLst>
            </p:cNvPr>
            <p:cNvSpPr txBox="1"/>
            <p:nvPr/>
          </p:nvSpPr>
          <p:spPr>
            <a:xfrm>
              <a:off x="2733737" y="1759298"/>
              <a:ext cx="15352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DEBOLEZZE</a:t>
              </a:r>
            </a:p>
            <a:p>
              <a:r>
                <a:rPr lang="it-IT" sz="1600" dirty="0"/>
                <a:t>- Responsabilità vs. Vigilanza</a:t>
              </a:r>
            </a:p>
            <a:p>
              <a:r>
                <a:rPr lang="it-IT" sz="1600" dirty="0"/>
                <a:t>- Bassi margini (</a:t>
              </a:r>
              <a:r>
                <a:rPr lang="it-IT" sz="1600" dirty="0" err="1"/>
                <a:t>labor</a:t>
              </a:r>
              <a:r>
                <a:rPr lang="it-IT" sz="1600" dirty="0"/>
                <a:t> intensive + costi formativi</a:t>
              </a:r>
              <a:endParaRPr lang="it-IT" sz="1800" dirty="0"/>
            </a:p>
          </p:txBody>
        </p:sp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C2381D65-049E-204A-88F2-E36ED4E44A4A}"/>
              </a:ext>
            </a:extLst>
          </p:cNvPr>
          <p:cNvGrpSpPr/>
          <p:nvPr/>
        </p:nvGrpSpPr>
        <p:grpSpPr>
          <a:xfrm>
            <a:off x="442432" y="3558535"/>
            <a:ext cx="1843159" cy="3446815"/>
            <a:chOff x="490885" y="3495313"/>
            <a:chExt cx="1843159" cy="3446815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0370F395-91B3-E569-6098-07487D073071}"/>
                </a:ext>
              </a:extLst>
            </p:cNvPr>
            <p:cNvSpPr/>
            <p:nvPr/>
          </p:nvSpPr>
          <p:spPr>
            <a:xfrm>
              <a:off x="490885" y="3495313"/>
              <a:ext cx="1843159" cy="3446815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2" name="CasellaDiTesto 91">
              <a:extLst>
                <a:ext uri="{FF2B5EF4-FFF2-40B4-BE49-F238E27FC236}">
                  <a16:creationId xmlns:a16="http://schemas.microsoft.com/office/drawing/2014/main" id="{C6AC2A90-45C9-3E63-5FCC-0A5B1CAE3A5D}"/>
                </a:ext>
              </a:extLst>
            </p:cNvPr>
            <p:cNvSpPr txBox="1"/>
            <p:nvPr/>
          </p:nvSpPr>
          <p:spPr>
            <a:xfrm>
              <a:off x="520882" y="3763703"/>
              <a:ext cx="167031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PUNTI DI FORZA</a:t>
              </a:r>
            </a:p>
            <a:p>
              <a:r>
                <a:rPr lang="it-IT" sz="1600" dirty="0"/>
                <a:t>- Valore aggiunto per il cliente finale</a:t>
              </a:r>
            </a:p>
            <a:p>
              <a:r>
                <a:rPr lang="it-IT" sz="1600" dirty="0"/>
                <a:t>- Stabilità dei ricavi</a:t>
              </a:r>
            </a:p>
          </p:txBody>
        </p:sp>
      </p:grpSp>
      <p:sp>
        <p:nvSpPr>
          <p:cNvPr id="90" name="Rettangolo 89">
            <a:extLst>
              <a:ext uri="{FF2B5EF4-FFF2-40B4-BE49-F238E27FC236}">
                <a16:creationId xmlns:a16="http://schemas.microsoft.com/office/drawing/2014/main" id="{0521EFBD-4078-7E14-939A-671B375E3FB0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4F0AEFE3-D346-C103-5880-C8FE9F900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468F6E44-873B-9E3A-F1EF-FED35E62E19E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6898C19B-19BD-68FC-B4B9-ADB320B4C08A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A33B93C6-0D04-9D1E-E597-2E6CF94B6BF0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6184510-362A-B782-FAD9-0640323A099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B16ED73-D1B7-2122-F391-E5FDD5B63E50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9F5F9339-9EC2-0646-8489-3AEA7756EF2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6AA36C13-20B0-323A-31F1-9676B7AEB5B1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AF951E2-B921-E775-3F6A-3B86D980A376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B20613E-343A-8032-1D93-0B502FEC4047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5D8C506-6A86-2B44-5476-247EA90D651B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3DB48818-C627-E892-606A-1D8ECAEEB729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D6EC481-2E16-B05F-5ED8-61DB355BB5F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B5B49FEA-0E7F-E7CA-FF4C-44A2FB982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1E4A7CBB-C049-C591-DC4F-DE7020D06ABB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B8E73F5A-FDCF-6178-8695-6176018AB8C7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BF996E37-83C8-1173-9C6B-4547C4A71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48AF301E-45E2-0047-E923-0712915E8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A2371EB7-E08F-B0B2-E0A6-E17ECCEB5EE1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62730058-0AE9-0EC4-6FFF-3DE44B997570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1869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74B7-A22C-BD0D-B3D8-38B5B0B0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85578F53-C489-1292-7FC5-E7EAEF33BF64}"/>
              </a:ext>
            </a:extLst>
          </p:cNvPr>
          <p:cNvGrpSpPr/>
          <p:nvPr/>
        </p:nvGrpSpPr>
        <p:grpSpPr>
          <a:xfrm>
            <a:off x="6958733" y="3558535"/>
            <a:ext cx="1843159" cy="3417434"/>
            <a:chOff x="6989055" y="1490909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42E9A2FC-221D-ED0F-A5C2-A3055B277B38}"/>
                </a:ext>
              </a:extLst>
            </p:cNvPr>
            <p:cNvSpPr/>
            <p:nvPr/>
          </p:nvSpPr>
          <p:spPr>
            <a:xfrm>
              <a:off x="6989055" y="1490909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D4FD8497-8FBE-DB16-BD50-1662AAA92C0E}"/>
                </a:ext>
              </a:extLst>
            </p:cNvPr>
            <p:cNvSpPr txBox="1"/>
            <p:nvPr/>
          </p:nvSpPr>
          <p:spPr>
            <a:xfrm>
              <a:off x="7025194" y="1759298"/>
              <a:ext cx="180702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600" dirty="0"/>
                <a:t>- Forte concorrenza nel settore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1A4E8ABB-7BB1-1377-C62D-D972D69F0357}"/>
              </a:ext>
            </a:extLst>
          </p:cNvPr>
          <p:cNvGrpSpPr/>
          <p:nvPr/>
        </p:nvGrpSpPr>
        <p:grpSpPr>
          <a:xfrm>
            <a:off x="4796698" y="3558535"/>
            <a:ext cx="1843159" cy="3423127"/>
            <a:chOff x="4822379" y="1490908"/>
            <a:chExt cx="1843159" cy="3423127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4247FB66-5B74-878A-693C-4C33B42CBFF3}"/>
                </a:ext>
              </a:extLst>
            </p:cNvPr>
            <p:cNvSpPr/>
            <p:nvPr/>
          </p:nvSpPr>
          <p:spPr>
            <a:xfrm>
              <a:off x="4822379" y="1490908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ECC6291E-0CD9-758D-B7D2-A9663CEB319A}"/>
                </a:ext>
              </a:extLst>
            </p:cNvPr>
            <p:cNvSpPr txBox="1"/>
            <p:nvPr/>
          </p:nvSpPr>
          <p:spPr>
            <a:xfrm>
              <a:off x="4946919" y="1763135"/>
              <a:ext cx="161898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600" dirty="0"/>
                <a:t>- Sviluppo su altre </a:t>
              </a:r>
              <a:r>
                <a:rPr lang="it-IT" sz="1600" dirty="0" err="1"/>
                <a:t>industries</a:t>
              </a:r>
              <a:r>
                <a:rPr lang="it-IT" sz="1600" dirty="0"/>
                <a:t> (ICT &amp; sicurezza e AML)</a:t>
              </a:r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B14C1E22-235D-C738-F4E4-28F1D72CE38F}"/>
              </a:ext>
            </a:extLst>
          </p:cNvPr>
          <p:cNvGrpSpPr/>
          <p:nvPr/>
        </p:nvGrpSpPr>
        <p:grpSpPr>
          <a:xfrm>
            <a:off x="2593884" y="3558535"/>
            <a:ext cx="1843159" cy="3429899"/>
            <a:chOff x="2619564" y="1490908"/>
            <a:chExt cx="1843159" cy="3429899"/>
          </a:xfrm>
        </p:grpSpPr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A968E28A-1603-DAC0-3504-47CF75125CA2}"/>
                </a:ext>
              </a:extLst>
            </p:cNvPr>
            <p:cNvSpPr/>
            <p:nvPr/>
          </p:nvSpPr>
          <p:spPr>
            <a:xfrm>
              <a:off x="2619564" y="1490908"/>
              <a:ext cx="1843159" cy="3429899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574D6866-B1F3-E76B-16C5-42D66D2099A2}"/>
                </a:ext>
              </a:extLst>
            </p:cNvPr>
            <p:cNvSpPr txBox="1"/>
            <p:nvPr/>
          </p:nvSpPr>
          <p:spPr>
            <a:xfrm>
              <a:off x="2733737" y="1759298"/>
              <a:ext cx="15352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DEBOLEZZE</a:t>
              </a:r>
            </a:p>
            <a:p>
              <a:r>
                <a:rPr lang="it-IT" sz="1600" dirty="0"/>
                <a:t>- Responsabilità vs. Vigilanza</a:t>
              </a:r>
            </a:p>
            <a:p>
              <a:r>
                <a:rPr lang="it-IT" sz="1600" dirty="0"/>
                <a:t>- Bassi margini (</a:t>
              </a:r>
              <a:r>
                <a:rPr lang="it-IT" sz="1600" dirty="0" err="1"/>
                <a:t>labor</a:t>
              </a:r>
              <a:r>
                <a:rPr lang="it-IT" sz="1600" dirty="0"/>
                <a:t> intensive + costi formativi</a:t>
              </a:r>
              <a:endParaRPr lang="it-IT" sz="1800" dirty="0"/>
            </a:p>
          </p:txBody>
        </p:sp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0F982E2D-CA35-AB21-0E35-6143E8C5137A}"/>
              </a:ext>
            </a:extLst>
          </p:cNvPr>
          <p:cNvGrpSpPr/>
          <p:nvPr/>
        </p:nvGrpSpPr>
        <p:grpSpPr>
          <a:xfrm>
            <a:off x="442432" y="1577335"/>
            <a:ext cx="1843159" cy="3446815"/>
            <a:chOff x="490885" y="3495313"/>
            <a:chExt cx="1843159" cy="3446815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D233BD9A-7FEB-42D6-A4EE-BEF617BE3BB3}"/>
                </a:ext>
              </a:extLst>
            </p:cNvPr>
            <p:cNvSpPr/>
            <p:nvPr/>
          </p:nvSpPr>
          <p:spPr>
            <a:xfrm>
              <a:off x="490885" y="3495313"/>
              <a:ext cx="1843159" cy="3446815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2" name="CasellaDiTesto 91">
              <a:extLst>
                <a:ext uri="{FF2B5EF4-FFF2-40B4-BE49-F238E27FC236}">
                  <a16:creationId xmlns:a16="http://schemas.microsoft.com/office/drawing/2014/main" id="{1AE0AD46-A40B-20CD-F490-AAC6A61E1738}"/>
                </a:ext>
              </a:extLst>
            </p:cNvPr>
            <p:cNvSpPr txBox="1"/>
            <p:nvPr/>
          </p:nvSpPr>
          <p:spPr>
            <a:xfrm>
              <a:off x="520882" y="3763703"/>
              <a:ext cx="167031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PUNTI DI FORZA</a:t>
              </a:r>
            </a:p>
            <a:p>
              <a:r>
                <a:rPr lang="it-IT" sz="1600" dirty="0"/>
                <a:t>- Valore aggiunto per il cliente finale</a:t>
              </a:r>
            </a:p>
            <a:p>
              <a:r>
                <a:rPr lang="it-IT" sz="1600" dirty="0"/>
                <a:t>- Stabilità dei ricavi</a:t>
              </a:r>
            </a:p>
          </p:txBody>
        </p:sp>
      </p:grpSp>
      <p:sp>
        <p:nvSpPr>
          <p:cNvPr id="90" name="Rettangolo 89">
            <a:extLst>
              <a:ext uri="{FF2B5EF4-FFF2-40B4-BE49-F238E27FC236}">
                <a16:creationId xmlns:a16="http://schemas.microsoft.com/office/drawing/2014/main" id="{90361FBB-E125-15D1-1B93-DA17A9EDF94C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30605EAC-5CC0-F702-93BB-441D84596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5BD4AD2C-8CEB-AB49-D0C6-EB6BFD9154F4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BB91A5AC-CC85-C7D0-793E-134DC75021A5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DA69A0B-D255-17A9-57CB-967BB8D26DFF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A03421E-E9A6-1772-D78A-4B7BF4F960E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DACBAD5-475F-A64B-BB8A-01B09A24600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421CEC7-4CCA-9CE9-5969-D526C69B38A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7E5C980-8313-AC0F-7170-099D318F7844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3737032A-321B-34BB-D055-4305AFED930B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5BECBDD0-E44C-0D70-6DB1-6917020E16A4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B3C6BA68-DA80-2E3C-E2D1-7A53452EE057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52460E2A-A701-6416-34BF-D373A187983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2E5140E2-00EA-11DE-A8E5-92AE1E994C7D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61EE30D5-7B80-B042-5D2B-7074B002E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EDA16B58-0B92-BA5D-A228-5A70C5F2AE3D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71E3674A-6F2B-DFE9-3E52-5F5310586B25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620E14F0-E4B5-B5F1-FB58-336D6AA63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467B06B6-8714-E3CD-92F2-3B9C09A073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3AC9E11C-A4C4-50B2-D3CA-F58F0EB6D9B8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8D059D26-3E12-8C99-F62E-0BB42E82915D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6788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677ED-069F-BA95-8C33-A6737F7B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0FAD8802-C849-2BC1-2F32-48C2229A0160}"/>
              </a:ext>
            </a:extLst>
          </p:cNvPr>
          <p:cNvGrpSpPr/>
          <p:nvPr/>
        </p:nvGrpSpPr>
        <p:grpSpPr>
          <a:xfrm>
            <a:off x="6958733" y="3558535"/>
            <a:ext cx="1843159" cy="3417434"/>
            <a:chOff x="6989055" y="1490909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6ACF4A6B-9508-41F8-AEB0-3D201E8FC73B}"/>
                </a:ext>
              </a:extLst>
            </p:cNvPr>
            <p:cNvSpPr/>
            <p:nvPr/>
          </p:nvSpPr>
          <p:spPr>
            <a:xfrm>
              <a:off x="6989055" y="1490909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8F25CE47-6036-7155-2886-C5FA97016E3A}"/>
                </a:ext>
              </a:extLst>
            </p:cNvPr>
            <p:cNvSpPr txBox="1"/>
            <p:nvPr/>
          </p:nvSpPr>
          <p:spPr>
            <a:xfrm>
              <a:off x="7025194" y="1759298"/>
              <a:ext cx="180702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600" dirty="0"/>
                <a:t>- Forte concorrenza nel settore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F519605A-D60A-8253-1F01-A46E6572A1D4}"/>
              </a:ext>
            </a:extLst>
          </p:cNvPr>
          <p:cNvGrpSpPr/>
          <p:nvPr/>
        </p:nvGrpSpPr>
        <p:grpSpPr>
          <a:xfrm>
            <a:off x="4796698" y="3558535"/>
            <a:ext cx="1843159" cy="3423127"/>
            <a:chOff x="4822379" y="1490908"/>
            <a:chExt cx="1843159" cy="3423127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68D6CCC4-C3A2-289F-F202-DAFBB1935366}"/>
                </a:ext>
              </a:extLst>
            </p:cNvPr>
            <p:cNvSpPr/>
            <p:nvPr/>
          </p:nvSpPr>
          <p:spPr>
            <a:xfrm>
              <a:off x="4822379" y="1490908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44B0F74A-FFA5-F5F9-9398-74BF673D0721}"/>
                </a:ext>
              </a:extLst>
            </p:cNvPr>
            <p:cNvSpPr txBox="1"/>
            <p:nvPr/>
          </p:nvSpPr>
          <p:spPr>
            <a:xfrm>
              <a:off x="4946919" y="1763135"/>
              <a:ext cx="161898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600" dirty="0"/>
                <a:t>- Sviluppo su altre </a:t>
              </a:r>
              <a:r>
                <a:rPr lang="it-IT" sz="1600" dirty="0" err="1"/>
                <a:t>industries</a:t>
              </a:r>
              <a:r>
                <a:rPr lang="it-IT" sz="1600" dirty="0"/>
                <a:t> (ICT &amp; sicurezza e AML)</a:t>
              </a:r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6217119E-406E-88BF-8D52-2AAD0DB852DE}"/>
              </a:ext>
            </a:extLst>
          </p:cNvPr>
          <p:cNvGrpSpPr/>
          <p:nvPr/>
        </p:nvGrpSpPr>
        <p:grpSpPr>
          <a:xfrm>
            <a:off x="2580379" y="1577335"/>
            <a:ext cx="1843159" cy="3429899"/>
            <a:chOff x="2619564" y="1490908"/>
            <a:chExt cx="1843159" cy="3429899"/>
          </a:xfrm>
        </p:grpSpPr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FE067C62-8D1F-4F50-D3DD-1694B929D543}"/>
                </a:ext>
              </a:extLst>
            </p:cNvPr>
            <p:cNvSpPr/>
            <p:nvPr/>
          </p:nvSpPr>
          <p:spPr>
            <a:xfrm>
              <a:off x="2619564" y="1490908"/>
              <a:ext cx="1843159" cy="3429899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CBB9F35D-A821-8162-D7B3-933B97A8F599}"/>
                </a:ext>
              </a:extLst>
            </p:cNvPr>
            <p:cNvSpPr txBox="1"/>
            <p:nvPr/>
          </p:nvSpPr>
          <p:spPr>
            <a:xfrm>
              <a:off x="2733737" y="1759298"/>
              <a:ext cx="15352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DEBOLEZZE</a:t>
              </a:r>
            </a:p>
            <a:p>
              <a:r>
                <a:rPr lang="it-IT" sz="1600" dirty="0"/>
                <a:t>- Responsabilità vs. Vigilanza</a:t>
              </a:r>
            </a:p>
            <a:p>
              <a:r>
                <a:rPr lang="it-IT" sz="1600" dirty="0"/>
                <a:t>- Bassi margini (</a:t>
              </a:r>
              <a:r>
                <a:rPr lang="it-IT" sz="1600" dirty="0" err="1"/>
                <a:t>labor</a:t>
              </a:r>
              <a:r>
                <a:rPr lang="it-IT" sz="1600" dirty="0"/>
                <a:t> intensive + costi formativi</a:t>
              </a:r>
              <a:endParaRPr lang="it-IT" sz="1800" dirty="0"/>
            </a:p>
          </p:txBody>
        </p:sp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13AE15D4-757E-F5AA-6477-EBBCEBCCB2E2}"/>
              </a:ext>
            </a:extLst>
          </p:cNvPr>
          <p:cNvGrpSpPr/>
          <p:nvPr/>
        </p:nvGrpSpPr>
        <p:grpSpPr>
          <a:xfrm>
            <a:off x="442432" y="1577335"/>
            <a:ext cx="1843159" cy="3446815"/>
            <a:chOff x="490885" y="3495313"/>
            <a:chExt cx="1843159" cy="3446815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807D97F1-BBF5-92C7-00FB-C1511E7C6882}"/>
                </a:ext>
              </a:extLst>
            </p:cNvPr>
            <p:cNvSpPr/>
            <p:nvPr/>
          </p:nvSpPr>
          <p:spPr>
            <a:xfrm>
              <a:off x="490885" y="3495313"/>
              <a:ext cx="1843159" cy="3446815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2" name="CasellaDiTesto 91">
              <a:extLst>
                <a:ext uri="{FF2B5EF4-FFF2-40B4-BE49-F238E27FC236}">
                  <a16:creationId xmlns:a16="http://schemas.microsoft.com/office/drawing/2014/main" id="{5B4C428D-93AF-A4C6-F139-324A7299FC01}"/>
                </a:ext>
              </a:extLst>
            </p:cNvPr>
            <p:cNvSpPr txBox="1"/>
            <p:nvPr/>
          </p:nvSpPr>
          <p:spPr>
            <a:xfrm>
              <a:off x="520882" y="3763703"/>
              <a:ext cx="167031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PUNTI DI FORZA</a:t>
              </a:r>
            </a:p>
            <a:p>
              <a:r>
                <a:rPr lang="it-IT" sz="1600" dirty="0"/>
                <a:t>- Valore aggiunto per il cliente finale</a:t>
              </a:r>
            </a:p>
            <a:p>
              <a:r>
                <a:rPr lang="it-IT" sz="1600" dirty="0"/>
                <a:t>- Stabilità dei ricavi</a:t>
              </a:r>
            </a:p>
          </p:txBody>
        </p:sp>
      </p:grpSp>
      <p:sp>
        <p:nvSpPr>
          <p:cNvPr id="90" name="Rettangolo 89">
            <a:extLst>
              <a:ext uri="{FF2B5EF4-FFF2-40B4-BE49-F238E27FC236}">
                <a16:creationId xmlns:a16="http://schemas.microsoft.com/office/drawing/2014/main" id="{E2476E4E-7433-5E10-72ED-405FC9E9C227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31950661-E400-B6B4-82BB-73B0BD2467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E1F9C3B7-E924-083B-FE81-FC6A71FD7804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7019D7B7-F49C-CC33-B979-6793135A3837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23C69772-BF12-BC60-ADAE-D09277CAAA6F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B78FA3B-9E2F-A1BD-B8A4-83C9332704B8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D672183-7552-CAFF-C2EE-183A2F5B1DB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43A2C9F-1A3F-3E9E-D37F-EEE716F3243F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10C4095-A712-332E-6D86-8C6F8859F133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0E24C5E8-2434-B1E1-F650-C8001331141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B15BEAE9-2037-A3C0-6FFA-7F2CAED42190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E1339F0E-071F-0678-B9A6-DBA85A3813B6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87A05C86-7C2C-22C5-DA29-870D99DD0126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74FE496E-6BA5-76BD-6D08-B950B48F5B80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FF701E9C-5140-7E5B-8B8D-65946EDD15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2E7133BC-8B04-DA77-863E-19787FCAE64C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5D64CC96-9273-7593-371D-D1C8967B3E4E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8432271F-C2B8-AB86-A655-CC7E4E9B6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A38A59A2-0237-658B-B6BA-3FCADDC7B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1D06E9CE-F1C7-45B6-64C2-BD002F1D65D1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BE1A5E59-83E0-E2BD-4504-DFF2D6DD4479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6176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08EF-3202-F136-8B63-97BBE20D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193DF38E-EC2D-9A3A-7473-877A21542105}"/>
              </a:ext>
            </a:extLst>
          </p:cNvPr>
          <p:cNvGrpSpPr/>
          <p:nvPr/>
        </p:nvGrpSpPr>
        <p:grpSpPr>
          <a:xfrm>
            <a:off x="6958733" y="3558535"/>
            <a:ext cx="1843159" cy="3417434"/>
            <a:chOff x="6989055" y="1490909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FF5E3C52-7FBF-8507-6DDA-52F3EF8444BE}"/>
                </a:ext>
              </a:extLst>
            </p:cNvPr>
            <p:cNvSpPr/>
            <p:nvPr/>
          </p:nvSpPr>
          <p:spPr>
            <a:xfrm>
              <a:off x="6989055" y="1490909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F7CF37A9-0685-FFE5-415D-B4BE5E302EFD}"/>
                </a:ext>
              </a:extLst>
            </p:cNvPr>
            <p:cNvSpPr txBox="1"/>
            <p:nvPr/>
          </p:nvSpPr>
          <p:spPr>
            <a:xfrm>
              <a:off x="7025194" y="1759298"/>
              <a:ext cx="180702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600" dirty="0"/>
                <a:t>- Forte concorrenza nel settore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8980C31F-21AB-8182-1682-F07F7E7A359B}"/>
              </a:ext>
            </a:extLst>
          </p:cNvPr>
          <p:cNvGrpSpPr/>
          <p:nvPr/>
        </p:nvGrpSpPr>
        <p:grpSpPr>
          <a:xfrm>
            <a:off x="4809605" y="1577335"/>
            <a:ext cx="1843159" cy="3423127"/>
            <a:chOff x="4822379" y="1490908"/>
            <a:chExt cx="1843159" cy="3423127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34ED5DA9-F90B-AE55-F64B-57EC31E49EA5}"/>
                </a:ext>
              </a:extLst>
            </p:cNvPr>
            <p:cNvSpPr/>
            <p:nvPr/>
          </p:nvSpPr>
          <p:spPr>
            <a:xfrm>
              <a:off x="4822379" y="1490908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1F31D7D6-EE69-7EFF-0E4F-FD69FD283AD8}"/>
                </a:ext>
              </a:extLst>
            </p:cNvPr>
            <p:cNvSpPr txBox="1"/>
            <p:nvPr/>
          </p:nvSpPr>
          <p:spPr>
            <a:xfrm>
              <a:off x="4946919" y="1763135"/>
              <a:ext cx="161898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600" dirty="0"/>
                <a:t>- Sviluppo su altre </a:t>
              </a:r>
              <a:r>
                <a:rPr lang="it-IT" sz="1600" dirty="0" err="1"/>
                <a:t>industries</a:t>
              </a:r>
              <a:r>
                <a:rPr lang="it-IT" sz="1600" dirty="0"/>
                <a:t> (ICT &amp; sicurezza e AML)</a:t>
              </a:r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1EBC6F63-8BF1-62D8-61F0-9B52025969E3}"/>
              </a:ext>
            </a:extLst>
          </p:cNvPr>
          <p:cNvGrpSpPr/>
          <p:nvPr/>
        </p:nvGrpSpPr>
        <p:grpSpPr>
          <a:xfrm>
            <a:off x="2580379" y="1577335"/>
            <a:ext cx="1843159" cy="3429899"/>
            <a:chOff x="2619564" y="1490908"/>
            <a:chExt cx="1843159" cy="3429899"/>
          </a:xfrm>
        </p:grpSpPr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2453E443-49D7-D650-E886-468DC354B987}"/>
                </a:ext>
              </a:extLst>
            </p:cNvPr>
            <p:cNvSpPr/>
            <p:nvPr/>
          </p:nvSpPr>
          <p:spPr>
            <a:xfrm>
              <a:off x="2619564" y="1490908"/>
              <a:ext cx="1843159" cy="3429899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A836B17F-FF6C-A069-2BCF-BF5C952E2E43}"/>
                </a:ext>
              </a:extLst>
            </p:cNvPr>
            <p:cNvSpPr txBox="1"/>
            <p:nvPr/>
          </p:nvSpPr>
          <p:spPr>
            <a:xfrm>
              <a:off x="2733737" y="1759298"/>
              <a:ext cx="15352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DEBOLEZZE</a:t>
              </a:r>
            </a:p>
            <a:p>
              <a:r>
                <a:rPr lang="it-IT" sz="1600" dirty="0"/>
                <a:t>- Responsabilità vs. Vigilanza</a:t>
              </a:r>
            </a:p>
            <a:p>
              <a:r>
                <a:rPr lang="it-IT" sz="1600" dirty="0"/>
                <a:t>- Bassi margini (</a:t>
              </a:r>
              <a:r>
                <a:rPr lang="it-IT" sz="1600" dirty="0" err="1"/>
                <a:t>labor</a:t>
              </a:r>
              <a:r>
                <a:rPr lang="it-IT" sz="1600" dirty="0"/>
                <a:t> intensive + costi formativi</a:t>
              </a:r>
              <a:endParaRPr lang="it-IT" sz="1800" dirty="0"/>
            </a:p>
          </p:txBody>
        </p:sp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FD9E1AE9-0C82-6BB7-E9A0-E301E5ADF99B}"/>
              </a:ext>
            </a:extLst>
          </p:cNvPr>
          <p:cNvGrpSpPr/>
          <p:nvPr/>
        </p:nvGrpSpPr>
        <p:grpSpPr>
          <a:xfrm>
            <a:off x="442432" y="1577335"/>
            <a:ext cx="1843159" cy="3446815"/>
            <a:chOff x="490885" y="3495313"/>
            <a:chExt cx="1843159" cy="3446815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044AFA5C-D01D-380A-013D-B444CB103103}"/>
                </a:ext>
              </a:extLst>
            </p:cNvPr>
            <p:cNvSpPr/>
            <p:nvPr/>
          </p:nvSpPr>
          <p:spPr>
            <a:xfrm>
              <a:off x="490885" y="3495313"/>
              <a:ext cx="1843159" cy="3446815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2" name="CasellaDiTesto 91">
              <a:extLst>
                <a:ext uri="{FF2B5EF4-FFF2-40B4-BE49-F238E27FC236}">
                  <a16:creationId xmlns:a16="http://schemas.microsoft.com/office/drawing/2014/main" id="{71FAF9D5-531B-64FB-0C59-5C38F51EC842}"/>
                </a:ext>
              </a:extLst>
            </p:cNvPr>
            <p:cNvSpPr txBox="1"/>
            <p:nvPr/>
          </p:nvSpPr>
          <p:spPr>
            <a:xfrm>
              <a:off x="520882" y="3763703"/>
              <a:ext cx="167031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PUNTI DI FORZA</a:t>
              </a:r>
            </a:p>
            <a:p>
              <a:r>
                <a:rPr lang="it-IT" sz="1600" dirty="0"/>
                <a:t>- Valore aggiunto per il cliente finale</a:t>
              </a:r>
            </a:p>
            <a:p>
              <a:r>
                <a:rPr lang="it-IT" sz="1600" dirty="0"/>
                <a:t>- Stabilità dei ricavi</a:t>
              </a:r>
            </a:p>
          </p:txBody>
        </p:sp>
      </p:grpSp>
      <p:sp>
        <p:nvSpPr>
          <p:cNvPr id="90" name="Rettangolo 89">
            <a:extLst>
              <a:ext uri="{FF2B5EF4-FFF2-40B4-BE49-F238E27FC236}">
                <a16:creationId xmlns:a16="http://schemas.microsoft.com/office/drawing/2014/main" id="{DB50C783-C6E3-208F-3695-C5F6040AFFB5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DE818FA1-4276-DE27-2B7D-F36114B615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3F6FB8B6-8B20-1782-7F7A-3DF2DE459E1F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0DCF3B93-1DE3-E4A7-6F24-214A2CCCB01D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4496647B-65F8-601F-A6B5-C57FAAB50E00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75D4B88-B5A0-1E0C-40E2-52BED0E07800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5620286-D3BE-7C55-2144-421216A867FB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BB65B532-13A9-B9A5-72CB-E846D3071573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4754A01-F20F-FBA3-BCB1-9EA62FB78960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CE5F92EE-C8F9-9DD1-A116-633C24C1C747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102CD4B-FDB2-AB85-D8F2-EA2ABF7685CD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51976B1-3945-D542-C03E-2E3B61F33822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CA847093-4204-90EE-F301-46BEF9B853EA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B58314E0-9BC1-D70F-596A-CDF65EA20C47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B3BA676C-FD6A-1BC3-9C0D-7DF5A4580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02343B9E-1D6A-A1B5-297F-D0AA687DC050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478541BB-FF6B-2998-BFA5-FD0A8C4B7CEF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F41133DB-EFB6-6762-8F22-F3D43946B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6E98D7C5-C1C5-0C77-D9DC-0D854AD6E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FAEAD896-1300-201A-BA37-726570278F5E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03A350AF-3E51-19F1-D851-8ACB2DDF3CC4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85231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D049-E063-58C3-08A9-FB8B6D21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2EB893C3-7760-EA12-AAD0-4211E8BCC364}"/>
              </a:ext>
            </a:extLst>
          </p:cNvPr>
          <p:cNvGrpSpPr/>
          <p:nvPr/>
        </p:nvGrpSpPr>
        <p:grpSpPr>
          <a:xfrm>
            <a:off x="6958733" y="1577335"/>
            <a:ext cx="1843159" cy="3417434"/>
            <a:chOff x="6989055" y="1490909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44408302-D53C-F3ED-D3DB-E1B53555C87F}"/>
                </a:ext>
              </a:extLst>
            </p:cNvPr>
            <p:cNvSpPr/>
            <p:nvPr/>
          </p:nvSpPr>
          <p:spPr>
            <a:xfrm>
              <a:off x="6989055" y="1490909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88C95039-C2C7-245E-D8F4-26683669B84C}"/>
                </a:ext>
              </a:extLst>
            </p:cNvPr>
            <p:cNvSpPr txBox="1"/>
            <p:nvPr/>
          </p:nvSpPr>
          <p:spPr>
            <a:xfrm>
              <a:off x="7025194" y="1759298"/>
              <a:ext cx="180702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600" dirty="0"/>
                <a:t>- Forte concorrenza nel settore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ED5DEFED-CB15-8C0C-92D1-DE32F5FDE665}"/>
              </a:ext>
            </a:extLst>
          </p:cNvPr>
          <p:cNvGrpSpPr/>
          <p:nvPr/>
        </p:nvGrpSpPr>
        <p:grpSpPr>
          <a:xfrm>
            <a:off x="4809605" y="1577335"/>
            <a:ext cx="1843159" cy="3423127"/>
            <a:chOff x="4822379" y="1490908"/>
            <a:chExt cx="1843159" cy="3423127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B421F67F-2725-D686-B6ED-2E192826B49C}"/>
                </a:ext>
              </a:extLst>
            </p:cNvPr>
            <p:cNvSpPr/>
            <p:nvPr/>
          </p:nvSpPr>
          <p:spPr>
            <a:xfrm>
              <a:off x="4822379" y="1490908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C8C17C59-9894-7DDD-2A0A-3FF8C041F740}"/>
                </a:ext>
              </a:extLst>
            </p:cNvPr>
            <p:cNvSpPr txBox="1"/>
            <p:nvPr/>
          </p:nvSpPr>
          <p:spPr>
            <a:xfrm>
              <a:off x="4946919" y="1763135"/>
              <a:ext cx="161898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600" dirty="0"/>
                <a:t>- Sviluppo su altre </a:t>
              </a:r>
              <a:r>
                <a:rPr lang="it-IT" sz="1600" dirty="0" err="1"/>
                <a:t>industries</a:t>
              </a:r>
              <a:r>
                <a:rPr lang="it-IT" sz="1600" dirty="0"/>
                <a:t> (ICT &amp; sicurezza e AML)</a:t>
              </a:r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FAAE5042-5F47-9344-15B6-D907E1B5F7E0}"/>
              </a:ext>
            </a:extLst>
          </p:cNvPr>
          <p:cNvGrpSpPr/>
          <p:nvPr/>
        </p:nvGrpSpPr>
        <p:grpSpPr>
          <a:xfrm>
            <a:off x="2580379" y="1577335"/>
            <a:ext cx="1843159" cy="3429899"/>
            <a:chOff x="2619564" y="1490908"/>
            <a:chExt cx="1843159" cy="3429899"/>
          </a:xfrm>
        </p:grpSpPr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85BCA0A1-8C33-FC52-D121-9293C71260A7}"/>
                </a:ext>
              </a:extLst>
            </p:cNvPr>
            <p:cNvSpPr/>
            <p:nvPr/>
          </p:nvSpPr>
          <p:spPr>
            <a:xfrm>
              <a:off x="2619564" y="1490908"/>
              <a:ext cx="1843159" cy="3429899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35235D0A-218C-0E2B-5F43-6C37B7217F07}"/>
                </a:ext>
              </a:extLst>
            </p:cNvPr>
            <p:cNvSpPr txBox="1"/>
            <p:nvPr/>
          </p:nvSpPr>
          <p:spPr>
            <a:xfrm>
              <a:off x="2733737" y="1759298"/>
              <a:ext cx="15352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DEBOLEZZE</a:t>
              </a:r>
            </a:p>
            <a:p>
              <a:r>
                <a:rPr lang="it-IT" sz="1600" dirty="0"/>
                <a:t>- Responsabilità vs. Vigilanza</a:t>
              </a:r>
            </a:p>
            <a:p>
              <a:r>
                <a:rPr lang="it-IT" sz="1600" dirty="0"/>
                <a:t>- Bassi margini (</a:t>
              </a:r>
              <a:r>
                <a:rPr lang="it-IT" sz="1600" dirty="0" err="1"/>
                <a:t>labor</a:t>
              </a:r>
              <a:r>
                <a:rPr lang="it-IT" sz="1600" dirty="0"/>
                <a:t> intensive + costi formativi</a:t>
              </a:r>
              <a:endParaRPr lang="it-IT" sz="1800" dirty="0"/>
            </a:p>
          </p:txBody>
        </p:sp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B90D3124-B246-FE86-E601-E35324717265}"/>
              </a:ext>
            </a:extLst>
          </p:cNvPr>
          <p:cNvGrpSpPr/>
          <p:nvPr/>
        </p:nvGrpSpPr>
        <p:grpSpPr>
          <a:xfrm>
            <a:off x="442432" y="1577335"/>
            <a:ext cx="1843159" cy="3446815"/>
            <a:chOff x="490885" y="3495313"/>
            <a:chExt cx="1843159" cy="3446815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4F64D41A-E87B-CFDD-7CB1-6ADA798C7524}"/>
                </a:ext>
              </a:extLst>
            </p:cNvPr>
            <p:cNvSpPr/>
            <p:nvPr/>
          </p:nvSpPr>
          <p:spPr>
            <a:xfrm>
              <a:off x="490885" y="3495313"/>
              <a:ext cx="1843159" cy="3446815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2" name="CasellaDiTesto 91">
              <a:extLst>
                <a:ext uri="{FF2B5EF4-FFF2-40B4-BE49-F238E27FC236}">
                  <a16:creationId xmlns:a16="http://schemas.microsoft.com/office/drawing/2014/main" id="{1C17E614-7B0E-01BF-5820-A39B815D9497}"/>
                </a:ext>
              </a:extLst>
            </p:cNvPr>
            <p:cNvSpPr txBox="1"/>
            <p:nvPr/>
          </p:nvSpPr>
          <p:spPr>
            <a:xfrm>
              <a:off x="520882" y="3763703"/>
              <a:ext cx="167031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PUNTI DI FORZA</a:t>
              </a:r>
            </a:p>
            <a:p>
              <a:r>
                <a:rPr lang="it-IT" sz="1600" dirty="0"/>
                <a:t>- Valore aggiunto per il cliente finale</a:t>
              </a:r>
            </a:p>
            <a:p>
              <a:r>
                <a:rPr lang="it-IT" sz="1600" dirty="0"/>
                <a:t>- Stabilità dei ricavi</a:t>
              </a:r>
            </a:p>
          </p:txBody>
        </p:sp>
      </p:grpSp>
      <p:sp>
        <p:nvSpPr>
          <p:cNvPr id="90" name="Rettangolo 89">
            <a:extLst>
              <a:ext uri="{FF2B5EF4-FFF2-40B4-BE49-F238E27FC236}">
                <a16:creationId xmlns:a16="http://schemas.microsoft.com/office/drawing/2014/main" id="{45BC7BCE-7232-FC43-4575-2046B13550CA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85F93F27-CC4D-CAED-5D9E-7732BC1F2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9AA68370-DF97-9BE6-E48E-80EBCD855D78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83BC60B3-46C0-330F-0CA6-D8AC87A2F931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7C8F0DF-67D3-4E85-8C34-7F2738AB507D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95BD4023-ED5C-FCFF-FF16-57228AD416F4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345B9D2-0014-820E-711A-A1001D70D43A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6B33F522-43C6-F38B-FF8E-7DA4DD6CEFC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4B684000-55D4-6D8A-A578-4A25D067AEA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35155E4-6F34-CBC6-B46D-6768B3E101DD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58E55F2-655A-8693-D630-0CC973A2F003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07FF5EC7-7DE8-2EAC-C73C-CA35C5D9B757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41876316-0D45-1361-1D3B-E98F34561796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C47567C-8682-5819-965D-E69BA0ADB187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28602841-7E29-F3CE-EEE2-3AA6180D0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C3148BA7-0C9A-8D0D-7FFC-98211C1C69E9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D7DF261B-3B26-4FC4-7E78-1669E9A535AA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12C84604-1FB9-87C1-C27A-D5FA3351F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B89B206A-CE1E-9754-C528-E7C4EEF7C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1FAC82C6-C9DD-38F9-CB13-189DD06BCC26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31163ED2-BBF3-CA67-E1B6-F46A24E8079D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20805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B678-A573-7203-72B6-AE9DB4BF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CE453F32-9FD0-5475-118C-D0211C873AA5}"/>
              </a:ext>
            </a:extLst>
          </p:cNvPr>
          <p:cNvGrpSpPr/>
          <p:nvPr/>
        </p:nvGrpSpPr>
        <p:grpSpPr>
          <a:xfrm>
            <a:off x="6958733" y="3558535"/>
            <a:ext cx="1843159" cy="3417434"/>
            <a:chOff x="6989055" y="1490909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017D8AF1-1157-E656-8613-C61926CC2861}"/>
                </a:ext>
              </a:extLst>
            </p:cNvPr>
            <p:cNvSpPr/>
            <p:nvPr/>
          </p:nvSpPr>
          <p:spPr>
            <a:xfrm>
              <a:off x="6989055" y="1490909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8FDAB419-3336-3014-E496-8E8D39AE869B}"/>
                </a:ext>
              </a:extLst>
            </p:cNvPr>
            <p:cNvSpPr txBox="1"/>
            <p:nvPr/>
          </p:nvSpPr>
          <p:spPr>
            <a:xfrm>
              <a:off x="7025194" y="1759298"/>
              <a:ext cx="180702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600" dirty="0"/>
                <a:t>- Forte concorrenza nel settore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5BB43E37-463E-189B-A234-B4D69E88190E}"/>
              </a:ext>
            </a:extLst>
          </p:cNvPr>
          <p:cNvGrpSpPr/>
          <p:nvPr/>
        </p:nvGrpSpPr>
        <p:grpSpPr>
          <a:xfrm>
            <a:off x="4796698" y="3558535"/>
            <a:ext cx="1843159" cy="3423127"/>
            <a:chOff x="4822379" y="1490908"/>
            <a:chExt cx="1843159" cy="3423127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375D47AF-1DB4-6FB2-7DB8-3E21A2049D65}"/>
                </a:ext>
              </a:extLst>
            </p:cNvPr>
            <p:cNvSpPr/>
            <p:nvPr/>
          </p:nvSpPr>
          <p:spPr>
            <a:xfrm>
              <a:off x="4822379" y="1490908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DB78B594-5A5A-180C-BBA3-D1B03AD2EAB0}"/>
                </a:ext>
              </a:extLst>
            </p:cNvPr>
            <p:cNvSpPr txBox="1"/>
            <p:nvPr/>
          </p:nvSpPr>
          <p:spPr>
            <a:xfrm>
              <a:off x="4946919" y="1763135"/>
              <a:ext cx="161898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600" dirty="0"/>
                <a:t>- Sviluppo su altre </a:t>
              </a:r>
              <a:r>
                <a:rPr lang="it-IT" sz="1600" dirty="0" err="1"/>
                <a:t>industries</a:t>
              </a:r>
              <a:r>
                <a:rPr lang="it-IT" sz="1600" dirty="0"/>
                <a:t> (ICT &amp; sicurezza e AML)</a:t>
              </a:r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B61DAB50-BB0B-3C84-2BA6-07ADE1B49CE1}"/>
              </a:ext>
            </a:extLst>
          </p:cNvPr>
          <p:cNvGrpSpPr/>
          <p:nvPr/>
        </p:nvGrpSpPr>
        <p:grpSpPr>
          <a:xfrm>
            <a:off x="2593884" y="3558535"/>
            <a:ext cx="1843159" cy="3429899"/>
            <a:chOff x="2619564" y="1490908"/>
            <a:chExt cx="1843159" cy="3429899"/>
          </a:xfrm>
        </p:grpSpPr>
        <p:sp>
          <p:nvSpPr>
            <p:cNvPr id="96" name="Rettangolo con angoli arrotondati 95">
              <a:extLst>
                <a:ext uri="{FF2B5EF4-FFF2-40B4-BE49-F238E27FC236}">
                  <a16:creationId xmlns:a16="http://schemas.microsoft.com/office/drawing/2014/main" id="{32244359-E0E9-35D7-370E-664D1807BF01}"/>
                </a:ext>
              </a:extLst>
            </p:cNvPr>
            <p:cNvSpPr/>
            <p:nvPr/>
          </p:nvSpPr>
          <p:spPr>
            <a:xfrm>
              <a:off x="2619564" y="1490908"/>
              <a:ext cx="1843159" cy="3429899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0179D1D9-D581-AA2F-F631-642692D3044C}"/>
                </a:ext>
              </a:extLst>
            </p:cNvPr>
            <p:cNvSpPr txBox="1"/>
            <p:nvPr/>
          </p:nvSpPr>
          <p:spPr>
            <a:xfrm>
              <a:off x="2733737" y="1759298"/>
              <a:ext cx="15352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DEBOLEZZE</a:t>
              </a:r>
            </a:p>
            <a:p>
              <a:r>
                <a:rPr lang="it-IT" sz="1600" dirty="0"/>
                <a:t>- Responsabilità vs. Vigilanza</a:t>
              </a:r>
            </a:p>
            <a:p>
              <a:r>
                <a:rPr lang="it-IT" sz="1600" dirty="0"/>
                <a:t>- Bassi margini (</a:t>
              </a:r>
              <a:r>
                <a:rPr lang="it-IT" sz="1600" dirty="0" err="1"/>
                <a:t>labor</a:t>
              </a:r>
              <a:r>
                <a:rPr lang="it-IT" sz="1600" dirty="0"/>
                <a:t> intensive + costi formativi</a:t>
              </a:r>
              <a:endParaRPr lang="it-IT" sz="1800" dirty="0"/>
            </a:p>
          </p:txBody>
        </p:sp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22448BAD-A1A6-6EB9-E42A-682EC8EA3827}"/>
              </a:ext>
            </a:extLst>
          </p:cNvPr>
          <p:cNvGrpSpPr/>
          <p:nvPr/>
        </p:nvGrpSpPr>
        <p:grpSpPr>
          <a:xfrm>
            <a:off x="442432" y="3558535"/>
            <a:ext cx="1843159" cy="3446815"/>
            <a:chOff x="490885" y="3495313"/>
            <a:chExt cx="1843159" cy="3446815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67242AB0-728A-8756-C83F-00A76C54A445}"/>
                </a:ext>
              </a:extLst>
            </p:cNvPr>
            <p:cNvSpPr/>
            <p:nvPr/>
          </p:nvSpPr>
          <p:spPr>
            <a:xfrm>
              <a:off x="490885" y="3495313"/>
              <a:ext cx="1843159" cy="3446815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92" name="CasellaDiTesto 91">
              <a:extLst>
                <a:ext uri="{FF2B5EF4-FFF2-40B4-BE49-F238E27FC236}">
                  <a16:creationId xmlns:a16="http://schemas.microsoft.com/office/drawing/2014/main" id="{B1E98A51-B3DF-C2E1-943F-9F4F6112A960}"/>
                </a:ext>
              </a:extLst>
            </p:cNvPr>
            <p:cNvSpPr txBox="1"/>
            <p:nvPr/>
          </p:nvSpPr>
          <p:spPr>
            <a:xfrm>
              <a:off x="520882" y="3763703"/>
              <a:ext cx="167031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PUNTI DI FORZA</a:t>
              </a:r>
            </a:p>
            <a:p>
              <a:r>
                <a:rPr lang="it-IT" sz="1600" dirty="0"/>
                <a:t>- Valore aggiunto per il cliente finale</a:t>
              </a:r>
            </a:p>
            <a:p>
              <a:r>
                <a:rPr lang="it-IT" sz="1600" dirty="0"/>
                <a:t>- Stabilità dei ricavi</a:t>
              </a:r>
            </a:p>
          </p:txBody>
        </p:sp>
      </p:grpSp>
      <p:sp>
        <p:nvSpPr>
          <p:cNvPr id="90" name="Rettangolo 89">
            <a:extLst>
              <a:ext uri="{FF2B5EF4-FFF2-40B4-BE49-F238E27FC236}">
                <a16:creationId xmlns:a16="http://schemas.microsoft.com/office/drawing/2014/main" id="{35CFCFC2-3D8E-DE98-DD03-D3997AB2F61F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65F8646F-D920-C352-FEF7-E50011758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26A730B4-297E-8785-E4EE-666EF0346E4B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B71C9D90-6AF2-3ED7-9925-0A331A5EB083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56380CB-E3E6-FF37-2EF1-78BFA0285BD3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96F2545F-A3AC-0E03-85A9-F8CD1F81CC3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1F8BF23-786F-AB68-2C9E-D0D85F72DDC9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2A659779-4654-E9B9-6C1F-4C81C551561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B82B6A18-3A7C-39FC-234D-AC78F78585F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EB554412-2810-69F8-4EB0-6CEB7C620566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9552030-2811-7513-BE97-B2280762FAE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52184BF-2222-9086-8A1C-A8F0197747E8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76D89837-99AA-F08B-972F-45A2DBC21936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4E962D3A-E85F-BE70-8ED4-B4A27C6973C1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A24D5CA7-BFB8-73E2-5624-631DAF2EF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2B3E2AD3-53E5-EC0E-9283-C5871EF3B211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6607C027-2E09-09CB-DB7C-1A190D3964D8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554C3811-C747-B4BC-C476-A0794AA75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BBEFBD2F-2562-98C7-C40B-C067AE590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E7BAB519-AFF0-5B73-5DC4-6E8DCCF23825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76925B43-3EA0-6A32-B046-8B0A20C7FC10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9170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7CB3-8981-3FAD-7370-74AAEAF7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D022D727-EA9B-B950-6BDB-CDEE16C94995}"/>
              </a:ext>
            </a:extLst>
          </p:cNvPr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F106FE8F-1EDF-CA99-F707-4E263AF9A530}"/>
              </a:ext>
            </a:extLst>
          </p:cNvPr>
          <p:cNvGrpSpPr/>
          <p:nvPr/>
        </p:nvGrpSpPr>
        <p:grpSpPr>
          <a:xfrm rot="6050186" flipH="1" flipV="1">
            <a:off x="1940700" y="-1603588"/>
            <a:ext cx="5341916" cy="5080039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E4F885F-6795-A607-4C53-3E24AF48E75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4991A2F7-931D-E074-738C-BE2F7C12618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6DF64190-D88C-9CB5-2550-0DE59DF3962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12C89A4D-C3ED-8EA0-224E-CFF768CED2AA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6FC3541-55CB-2AAA-C4E4-0D6F44B1DF1D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E91EF851-4DFE-93F4-9A21-C945B496FA00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F7EA32E2-665F-B6F1-FB41-8F1CFA98E1AB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E01DD331-2908-69CB-97AC-1F869B6DBFD9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13" name="Text 2">
            <a:extLst>
              <a:ext uri="{FF2B5EF4-FFF2-40B4-BE49-F238E27FC236}">
                <a16:creationId xmlns:a16="http://schemas.microsoft.com/office/drawing/2014/main" id="{DE140F8B-3191-AC1D-5F40-FFF85D25134F}"/>
              </a:ext>
            </a:extLst>
          </p:cNvPr>
          <p:cNvSpPr/>
          <p:nvPr/>
        </p:nvSpPr>
        <p:spPr>
          <a:xfrm>
            <a:off x="365760" y="347719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SCENARIO BASELINE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D8B017F-DC68-8F39-7CB9-056F4ECCB384}"/>
              </a:ext>
            </a:extLst>
          </p:cNvPr>
          <p:cNvSpPr/>
          <p:nvPr/>
        </p:nvSpPr>
        <p:spPr>
          <a:xfrm>
            <a:off x="383177" y="349940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DI SVILUPPO</a:t>
            </a:r>
            <a:endParaRPr lang="en-US" sz="4200" dirty="0">
              <a:solidFill>
                <a:schemeClr val="tx2"/>
              </a:solidFill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446DFF4A-8561-2675-9351-43B60C7B557C}"/>
              </a:ext>
            </a:extLst>
          </p:cNvPr>
          <p:cNvSpPr/>
          <p:nvPr/>
        </p:nvSpPr>
        <p:spPr>
          <a:xfrm>
            <a:off x="365760" y="436579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</a:t>
            </a: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interna -  </a:t>
            </a:r>
            <a:r>
              <a:rPr lang="en-US" sz="15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</a:t>
            </a: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Servizi </a:t>
            </a:r>
            <a:r>
              <a:rPr lang="en-US" sz="15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esistenti</a:t>
            </a:r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8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4CC9-994C-4AC6-CEAC-59C1B678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18">
            <a:extLst>
              <a:ext uri="{FF2B5EF4-FFF2-40B4-BE49-F238E27FC236}">
                <a16:creationId xmlns:a16="http://schemas.microsoft.com/office/drawing/2014/main" id="{DFA0979D-94DF-9809-D234-8B7E4A49343B}"/>
              </a:ext>
            </a:extLst>
          </p:cNvPr>
          <p:cNvSpPr/>
          <p:nvPr/>
        </p:nvSpPr>
        <p:spPr>
          <a:xfrm>
            <a:off x="6309360" y="1103477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it-IT" sz="1200" noProof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Portafoglio clienti stabile e ricorrente; banca socia come canale di contatto privilegiato.</a:t>
            </a:r>
            <a:endParaRPr lang="it-IT" sz="1200" noProof="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B26503A-FB6A-24F1-97CC-7059C679D543}"/>
              </a:ext>
            </a:extLst>
          </p:cNvPr>
          <p:cNvSpPr/>
          <p:nvPr/>
        </p:nvSpPr>
        <p:spPr>
          <a:xfrm>
            <a:off x="3356432" y="1103477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pluriennale con gli Organi di Vigilanza — presidio essenziale per i servizi di Audit e Compliance.</a:t>
            </a:r>
            <a:endParaRPr lang="en-US" sz="12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B7B3E254-4BD6-AB81-5819-BC519E6F7822}"/>
              </a:ext>
            </a:extLst>
          </p:cNvPr>
          <p:cNvSpPr/>
          <p:nvPr/>
        </p:nvSpPr>
        <p:spPr>
          <a:xfrm>
            <a:off x="393487" y="1078414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 competenze multi-disciplinari maturate su clientela bancaria e intermediari vigilati.</a:t>
            </a:r>
            <a:endParaRPr lang="en-US" sz="120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8299759E-DF4E-AE51-358F-69C2FD3B5354}"/>
              </a:ext>
            </a:extLst>
          </p:cNvPr>
          <p:cNvSpPr/>
          <p:nvPr/>
        </p:nvSpPr>
        <p:spPr>
          <a:xfrm>
            <a:off x="6172200" y="960120"/>
            <a:ext cx="2743200" cy="10591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0EF077A2-9FD9-E52C-F1B6-80A312821745}"/>
              </a:ext>
            </a:extLst>
          </p:cNvPr>
          <p:cNvSpPr/>
          <p:nvPr/>
        </p:nvSpPr>
        <p:spPr>
          <a:xfrm>
            <a:off x="61722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7C907381-4607-C062-E09D-A14F5CE5B9C4}"/>
              </a:ext>
            </a:extLst>
          </p:cNvPr>
          <p:cNvSpPr/>
          <p:nvPr/>
        </p:nvSpPr>
        <p:spPr>
          <a:xfrm>
            <a:off x="6221899" y="112195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59B42078-43DF-EB39-6258-BA3109284620}"/>
              </a:ext>
            </a:extLst>
          </p:cNvPr>
          <p:cNvSpPr/>
          <p:nvPr/>
        </p:nvSpPr>
        <p:spPr>
          <a:xfrm>
            <a:off x="6675264" y="1134025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Clientela consolidata</a:t>
            </a:r>
            <a:endParaRPr lang="en-US" sz="11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76E3917D-4D59-0F49-61EB-36237565CE2C}"/>
              </a:ext>
            </a:extLst>
          </p:cNvPr>
          <p:cNvSpPr/>
          <p:nvPr/>
        </p:nvSpPr>
        <p:spPr>
          <a:xfrm>
            <a:off x="3200400" y="960120"/>
            <a:ext cx="2743200" cy="10591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A7E2D8CE-B174-0B3C-4BD7-1ED1C1FB3A3D}"/>
              </a:ext>
            </a:extLst>
          </p:cNvPr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87A0994-E3A4-3867-7F33-C5BAB4D56B98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9D8FBA22-B231-7C2F-FFED-C33BCAAAFB23}"/>
              </a:ext>
            </a:extLst>
          </p:cNvPr>
          <p:cNvGrpSpPr/>
          <p:nvPr/>
        </p:nvGrpSpPr>
        <p:grpSpPr>
          <a:xfrm>
            <a:off x="3676650" y="-30378"/>
            <a:ext cx="8114289" cy="784830"/>
            <a:chOff x="436215" y="-122881"/>
            <a:chExt cx="4456163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5639B85A-28FA-B6F2-E933-EFDCF40C5926}"/>
                </a:ext>
              </a:extLst>
            </p:cNvPr>
            <p:cNvSpPr/>
            <p:nvPr/>
          </p:nvSpPr>
          <p:spPr>
            <a:xfrm>
              <a:off x="436215" y="-122881"/>
              <a:ext cx="4456163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AF9D35C9-654E-5063-8028-BCD598FEC364}"/>
                </a:ext>
              </a:extLst>
            </p:cNvPr>
            <p:cNvSpPr txBox="1"/>
            <p:nvPr/>
          </p:nvSpPr>
          <p:spPr>
            <a:xfrm>
              <a:off x="569532" y="33276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Vantaggio competitivo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49221789-BC2E-2E83-AD6E-A4984DF9AA45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382878B-D2D1-0020-FBB9-47F0481F0116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24677EAF-E400-770F-B76C-C70C50C8BC1A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A67344A4-F647-A431-8858-E56889F5EB5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6B25379E-95BE-939D-CDA9-8BF60AD2F1AF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48BB577-6786-5394-1F63-9402DEA60E7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FAA2B13-B565-B088-BB0B-698DCD1985F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F90D2B4A-F58D-0704-227E-67BE77A0B6EB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E0BFE55-DAFA-898C-933A-162104F5364C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76EB8E80-1F9C-0388-F267-AFACB48A51DA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5" name="Shape 4">
            <a:extLst>
              <a:ext uri="{FF2B5EF4-FFF2-40B4-BE49-F238E27FC236}">
                <a16:creationId xmlns:a16="http://schemas.microsoft.com/office/drawing/2014/main" id="{A2AD3994-2B12-E516-FA58-3D9EE45D1AB3}"/>
              </a:ext>
            </a:extLst>
          </p:cNvPr>
          <p:cNvSpPr/>
          <p:nvPr/>
        </p:nvSpPr>
        <p:spPr>
          <a:xfrm>
            <a:off x="228600" y="960120"/>
            <a:ext cx="2743200" cy="10591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401A131C-BA33-6F45-666A-5C2C7E3DF8CE}"/>
              </a:ext>
            </a:extLst>
          </p:cNvPr>
          <p:cNvSpPr/>
          <p:nvPr/>
        </p:nvSpPr>
        <p:spPr>
          <a:xfrm>
            <a:off x="2286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02353045-4D19-72AC-D6E6-719B37859FC9}"/>
              </a:ext>
            </a:extLst>
          </p:cNvPr>
          <p:cNvSpPr/>
          <p:nvPr/>
        </p:nvSpPr>
        <p:spPr>
          <a:xfrm>
            <a:off x="274320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E8573D2F-6171-4BA9-8A1F-AB2CEE5DEB87}"/>
              </a:ext>
            </a:extLst>
          </p:cNvPr>
          <p:cNvSpPr/>
          <p:nvPr/>
        </p:nvSpPr>
        <p:spPr>
          <a:xfrm>
            <a:off x="903859" y="1156716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professionali consolidati</a:t>
            </a:r>
            <a:endParaRPr lang="en-US" sz="11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07B4DF2B-14BE-A959-D382-C7E94F4D738A}"/>
              </a:ext>
            </a:extLst>
          </p:cNvPr>
          <p:cNvSpPr/>
          <p:nvPr/>
        </p:nvSpPr>
        <p:spPr>
          <a:xfrm>
            <a:off x="3256158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F7D8C6C1-66CF-1E6D-CAC6-40F9A4614CE2}"/>
              </a:ext>
            </a:extLst>
          </p:cNvPr>
          <p:cNvSpPr/>
          <p:nvPr/>
        </p:nvSpPr>
        <p:spPr>
          <a:xfrm>
            <a:off x="3868532" y="11338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nel dialogo con la Vigilanza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055003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7C4C-85E2-B5E8-534E-CCB11ECB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>
            <a:extLst>
              <a:ext uri="{FF2B5EF4-FFF2-40B4-BE49-F238E27FC236}">
                <a16:creationId xmlns:a16="http://schemas.microsoft.com/office/drawing/2014/main" id="{481EAD60-9C4F-E03F-801E-7145F0C896D1}"/>
              </a:ext>
            </a:extLst>
          </p:cNvPr>
          <p:cNvSpPr/>
          <p:nvPr/>
        </p:nvSpPr>
        <p:spPr>
          <a:xfrm>
            <a:off x="228600" y="960119"/>
            <a:ext cx="2743200" cy="3869055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DEDC2178-41DB-E7F0-9AC4-6F0F2F1AD29F}"/>
              </a:ext>
            </a:extLst>
          </p:cNvPr>
          <p:cNvSpPr/>
          <p:nvPr/>
        </p:nvSpPr>
        <p:spPr>
          <a:xfrm>
            <a:off x="2286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A47C5142-A5D0-64FD-C695-D656596F1A0B}"/>
              </a:ext>
            </a:extLst>
          </p:cNvPr>
          <p:cNvSpPr/>
          <p:nvPr/>
        </p:nvSpPr>
        <p:spPr>
          <a:xfrm>
            <a:off x="6309360" y="1103477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it-IT" sz="1200" noProof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Portafoglio clienti stabile e ricorrente; banca socia come canale di contatto privilegiato.</a:t>
            </a:r>
            <a:endParaRPr lang="it-IT" sz="1200" noProof="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980E0FF8-1970-1BA8-E9DB-258E9D6C7771}"/>
              </a:ext>
            </a:extLst>
          </p:cNvPr>
          <p:cNvSpPr/>
          <p:nvPr/>
        </p:nvSpPr>
        <p:spPr>
          <a:xfrm>
            <a:off x="3356432" y="1103477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pluriennale con gli Organi di Vigilanza — presidio essenziale per i servizi di Audit e Compliance.</a:t>
            </a:r>
            <a:endParaRPr lang="en-US" sz="12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97E5600E-8D42-2110-A276-D18453A9040C}"/>
              </a:ext>
            </a:extLst>
          </p:cNvPr>
          <p:cNvSpPr/>
          <p:nvPr/>
        </p:nvSpPr>
        <p:spPr>
          <a:xfrm>
            <a:off x="340723" y="237401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 competenze multi-disciplinari maturate su clientela bancaria e intermediari vigilati.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7D0451EB-6AD4-CC10-B6C4-F45DB72F9ECA}"/>
              </a:ext>
            </a:extLst>
          </p:cNvPr>
          <p:cNvSpPr/>
          <p:nvPr/>
        </p:nvSpPr>
        <p:spPr>
          <a:xfrm>
            <a:off x="6172200" y="960120"/>
            <a:ext cx="2743200" cy="10591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CFE6DC6E-3253-CC6F-1F51-7DBDE4C6D1F4}"/>
              </a:ext>
            </a:extLst>
          </p:cNvPr>
          <p:cNvSpPr/>
          <p:nvPr/>
        </p:nvSpPr>
        <p:spPr>
          <a:xfrm>
            <a:off x="61722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CFF7FEA9-2E5F-81C7-C6A6-24CA72F09388}"/>
              </a:ext>
            </a:extLst>
          </p:cNvPr>
          <p:cNvSpPr/>
          <p:nvPr/>
        </p:nvSpPr>
        <p:spPr>
          <a:xfrm>
            <a:off x="6221899" y="112195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3C4F5F97-D930-B769-9872-594DDD3E3A05}"/>
              </a:ext>
            </a:extLst>
          </p:cNvPr>
          <p:cNvSpPr/>
          <p:nvPr/>
        </p:nvSpPr>
        <p:spPr>
          <a:xfrm>
            <a:off x="6675264" y="1134025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Clientela consolidata</a:t>
            </a:r>
            <a:endParaRPr lang="en-US" sz="11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0FD26D11-CC38-AD60-08FA-D7CB2B5A62DD}"/>
              </a:ext>
            </a:extLst>
          </p:cNvPr>
          <p:cNvSpPr/>
          <p:nvPr/>
        </p:nvSpPr>
        <p:spPr>
          <a:xfrm>
            <a:off x="3200400" y="960120"/>
            <a:ext cx="2743200" cy="10591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F6CEF35F-BF0B-990C-F2EA-F7E49D20EA30}"/>
              </a:ext>
            </a:extLst>
          </p:cNvPr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80D53E00-7DCE-79F2-A440-7DA572BB3907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A9407D7A-8B30-90E9-1225-DA325DBA0E27}"/>
              </a:ext>
            </a:extLst>
          </p:cNvPr>
          <p:cNvGrpSpPr/>
          <p:nvPr/>
        </p:nvGrpSpPr>
        <p:grpSpPr>
          <a:xfrm>
            <a:off x="3676650" y="-30378"/>
            <a:ext cx="8114289" cy="784830"/>
            <a:chOff x="436215" y="-122881"/>
            <a:chExt cx="4456163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6688404-F29E-EB69-0E62-A246DD2C4144}"/>
                </a:ext>
              </a:extLst>
            </p:cNvPr>
            <p:cNvSpPr/>
            <p:nvPr/>
          </p:nvSpPr>
          <p:spPr>
            <a:xfrm>
              <a:off x="436215" y="-122881"/>
              <a:ext cx="4456163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871300C9-FD56-608A-C6F0-371EAACC5140}"/>
                </a:ext>
              </a:extLst>
            </p:cNvPr>
            <p:cNvSpPr txBox="1"/>
            <p:nvPr/>
          </p:nvSpPr>
          <p:spPr>
            <a:xfrm>
              <a:off x="569532" y="33276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Vantaggio competitivo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800DCA07-9F25-4BD3-9E2B-65F582CE3DB7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6C00F09-1551-9B30-D8E0-A02D536F86EC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1C967E61-A900-3E7A-C72D-0424748D4117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0CEA8DB-B15E-16F0-1EAA-90F109C6F7BE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A411D7E-0AD3-2C13-BA9D-F5AC6602259C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93450B12-6F04-3853-8F64-912D8C8C164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53F8AA70-FA4F-81F2-2972-35E1CE45C34C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6F808CCD-6103-34B7-DEB6-583FA9AC0771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2E01C3E8-467E-DE87-E779-B7B01746E77B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7A663B1E-C3BA-1DA2-B2AF-D59FEA2677C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7" name="Text 6">
            <a:extLst>
              <a:ext uri="{FF2B5EF4-FFF2-40B4-BE49-F238E27FC236}">
                <a16:creationId xmlns:a16="http://schemas.microsoft.com/office/drawing/2014/main" id="{942EF2D2-DB0D-CE73-291A-EE12522F48C3}"/>
              </a:ext>
            </a:extLst>
          </p:cNvPr>
          <p:cNvSpPr/>
          <p:nvPr/>
        </p:nvSpPr>
        <p:spPr>
          <a:xfrm>
            <a:off x="274320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4F4D6B7-1355-E4BF-66AE-9CB5CFC75334}"/>
              </a:ext>
            </a:extLst>
          </p:cNvPr>
          <p:cNvSpPr/>
          <p:nvPr/>
        </p:nvSpPr>
        <p:spPr>
          <a:xfrm>
            <a:off x="903859" y="1156716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professionali consolidati</a:t>
            </a:r>
            <a:endParaRPr lang="en-US" sz="11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6A077265-3383-0143-58F0-5E9E0A6F0407}"/>
              </a:ext>
            </a:extLst>
          </p:cNvPr>
          <p:cNvSpPr/>
          <p:nvPr/>
        </p:nvSpPr>
        <p:spPr>
          <a:xfrm>
            <a:off x="3256158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2B8E6D62-1267-D274-6B08-9AAEF46FD203}"/>
              </a:ext>
            </a:extLst>
          </p:cNvPr>
          <p:cNvSpPr/>
          <p:nvPr/>
        </p:nvSpPr>
        <p:spPr>
          <a:xfrm>
            <a:off x="3868532" y="11338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nel dialogo con la Vigilanza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10609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C4C1-E613-7509-26AE-E267A59D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9">
            <a:extLst>
              <a:ext uri="{FF2B5EF4-FFF2-40B4-BE49-F238E27FC236}">
                <a16:creationId xmlns:a16="http://schemas.microsoft.com/office/drawing/2014/main" id="{0E8333B1-AC93-EF99-B114-72C7F9783F01}"/>
              </a:ext>
            </a:extLst>
          </p:cNvPr>
          <p:cNvSpPr/>
          <p:nvPr/>
        </p:nvSpPr>
        <p:spPr>
          <a:xfrm>
            <a:off x="3200400" y="960120"/>
            <a:ext cx="2743200" cy="386905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FC5CBD66-9B8E-DF32-EBB6-36F52F92E85F}"/>
              </a:ext>
            </a:extLst>
          </p:cNvPr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BBF4F92F-FD4B-CBA3-E200-E16897E552A6}"/>
              </a:ext>
            </a:extLst>
          </p:cNvPr>
          <p:cNvSpPr/>
          <p:nvPr/>
        </p:nvSpPr>
        <p:spPr>
          <a:xfrm>
            <a:off x="228600" y="960119"/>
            <a:ext cx="2743200" cy="3869055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DFF5FA53-04C0-FCD6-C936-9C628F9E443D}"/>
              </a:ext>
            </a:extLst>
          </p:cNvPr>
          <p:cNvSpPr/>
          <p:nvPr/>
        </p:nvSpPr>
        <p:spPr>
          <a:xfrm>
            <a:off x="2286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6E06694-E7BE-69F5-312F-0B3655B0F9E4}"/>
              </a:ext>
            </a:extLst>
          </p:cNvPr>
          <p:cNvSpPr/>
          <p:nvPr/>
        </p:nvSpPr>
        <p:spPr>
          <a:xfrm>
            <a:off x="6309360" y="1103477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it-IT" sz="1200" noProof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Portafoglio clienti stabile e ricorrente; banca socia come canale di contatto privilegiato.</a:t>
            </a:r>
            <a:endParaRPr lang="it-IT" sz="1200" noProof="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82BC6636-220D-B1F0-1946-E64A3F0475AB}"/>
              </a:ext>
            </a:extLst>
          </p:cNvPr>
          <p:cNvSpPr/>
          <p:nvPr/>
        </p:nvSpPr>
        <p:spPr>
          <a:xfrm>
            <a:off x="3319892" y="2427934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pluriennale con gli Organi di Vigilanza — presidio essenziale per i servizi di Audit e Compliance.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496FE712-3999-6528-B07D-6320CF905C35}"/>
              </a:ext>
            </a:extLst>
          </p:cNvPr>
          <p:cNvSpPr/>
          <p:nvPr/>
        </p:nvSpPr>
        <p:spPr>
          <a:xfrm>
            <a:off x="340723" y="237401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 competenze multi-disciplinari maturate su clientela bancaria e intermediari vigilati.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6F31D239-82B7-1962-663A-5C0D7A3B56B0}"/>
              </a:ext>
            </a:extLst>
          </p:cNvPr>
          <p:cNvSpPr/>
          <p:nvPr/>
        </p:nvSpPr>
        <p:spPr>
          <a:xfrm>
            <a:off x="6172200" y="960120"/>
            <a:ext cx="2743200" cy="10591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BBC8EE3C-5EFE-C8FF-E1B0-41975BB55E42}"/>
              </a:ext>
            </a:extLst>
          </p:cNvPr>
          <p:cNvSpPr/>
          <p:nvPr/>
        </p:nvSpPr>
        <p:spPr>
          <a:xfrm>
            <a:off x="61722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9DADBEA9-A166-AC53-378D-0FB5E4F69526}"/>
              </a:ext>
            </a:extLst>
          </p:cNvPr>
          <p:cNvSpPr/>
          <p:nvPr/>
        </p:nvSpPr>
        <p:spPr>
          <a:xfrm>
            <a:off x="6221899" y="112195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11F878F0-9FD2-2739-7A73-F337989FA018}"/>
              </a:ext>
            </a:extLst>
          </p:cNvPr>
          <p:cNvSpPr/>
          <p:nvPr/>
        </p:nvSpPr>
        <p:spPr>
          <a:xfrm>
            <a:off x="6675264" y="1134025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Clientela consolidata</a:t>
            </a:r>
            <a:endParaRPr lang="en-US" sz="115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4EF2EA09-A9EC-EB99-0A8B-F2A1526B7319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C3836E9-F083-7B8F-A736-40632E737097}"/>
              </a:ext>
            </a:extLst>
          </p:cNvPr>
          <p:cNvGrpSpPr/>
          <p:nvPr/>
        </p:nvGrpSpPr>
        <p:grpSpPr>
          <a:xfrm>
            <a:off x="3676650" y="-30378"/>
            <a:ext cx="8114289" cy="784830"/>
            <a:chOff x="436215" y="-122881"/>
            <a:chExt cx="4456163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5388E4D-E271-E1A0-E47B-3F80F2FF1C2C}"/>
                </a:ext>
              </a:extLst>
            </p:cNvPr>
            <p:cNvSpPr/>
            <p:nvPr/>
          </p:nvSpPr>
          <p:spPr>
            <a:xfrm>
              <a:off x="436215" y="-122881"/>
              <a:ext cx="4456163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84B823FD-55D8-B286-B900-A7775AA9493F}"/>
                </a:ext>
              </a:extLst>
            </p:cNvPr>
            <p:cNvSpPr txBox="1"/>
            <p:nvPr/>
          </p:nvSpPr>
          <p:spPr>
            <a:xfrm>
              <a:off x="569532" y="33276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Vantaggio competitivo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44A02D93-C3C6-3001-0F13-BD029DFFBE64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FA9F8E03-E570-49C3-87EC-14C285B68EA0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4C58F2E-268D-FD57-C250-0C16443E38E9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FC3A0B1-E3AE-72D6-EAE5-9BB8A912019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0EAD18D-1D23-7EC1-BBA9-F097A665F69C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034B7B6-AE3C-BB6F-23C4-2B5509A62BEE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4B01F69-F073-13DD-F6C6-A6DCFB79CD5A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C3E3C8BD-6496-4B5B-7471-6BC3E0B1507B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05E33D27-AF29-041A-BC77-B069AC0C6B01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31CAEBD4-99ED-D025-4FD6-315AD785EFCB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7" name="Text 6">
            <a:extLst>
              <a:ext uri="{FF2B5EF4-FFF2-40B4-BE49-F238E27FC236}">
                <a16:creationId xmlns:a16="http://schemas.microsoft.com/office/drawing/2014/main" id="{F9FD287D-6197-0FA0-D447-65A3C734DEBA}"/>
              </a:ext>
            </a:extLst>
          </p:cNvPr>
          <p:cNvSpPr/>
          <p:nvPr/>
        </p:nvSpPr>
        <p:spPr>
          <a:xfrm>
            <a:off x="274320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B1D55DDD-1088-4670-7100-754D5B59958F}"/>
              </a:ext>
            </a:extLst>
          </p:cNvPr>
          <p:cNvSpPr/>
          <p:nvPr/>
        </p:nvSpPr>
        <p:spPr>
          <a:xfrm>
            <a:off x="903859" y="1156716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professionali consolidati</a:t>
            </a:r>
            <a:endParaRPr lang="en-US" sz="11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C6D7CC8E-5C72-9961-B5AA-CFEEB1512777}"/>
              </a:ext>
            </a:extLst>
          </p:cNvPr>
          <p:cNvSpPr/>
          <p:nvPr/>
        </p:nvSpPr>
        <p:spPr>
          <a:xfrm>
            <a:off x="3256158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FA2110F5-52EF-9BF8-E91A-9623DC4BE2AC}"/>
              </a:ext>
            </a:extLst>
          </p:cNvPr>
          <p:cNvSpPr/>
          <p:nvPr/>
        </p:nvSpPr>
        <p:spPr>
          <a:xfrm>
            <a:off x="3868532" y="11338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nel dialogo con la Vigilanza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65339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2853-AEEB-9355-5D8C-8FDC8152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4">
            <a:extLst>
              <a:ext uri="{FF2B5EF4-FFF2-40B4-BE49-F238E27FC236}">
                <a16:creationId xmlns:a16="http://schemas.microsoft.com/office/drawing/2014/main" id="{C5E49BFF-B0D4-3E9F-2936-F1AC0FCB3BD0}"/>
              </a:ext>
            </a:extLst>
          </p:cNvPr>
          <p:cNvSpPr/>
          <p:nvPr/>
        </p:nvSpPr>
        <p:spPr>
          <a:xfrm>
            <a:off x="6172200" y="960120"/>
            <a:ext cx="2743200" cy="386905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DF837F95-B125-63C4-D9C0-C839659E80E1}"/>
              </a:ext>
            </a:extLst>
          </p:cNvPr>
          <p:cNvSpPr/>
          <p:nvPr/>
        </p:nvSpPr>
        <p:spPr>
          <a:xfrm>
            <a:off x="61722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E49FD7AD-CC36-F621-FC83-ECFA0216D00A}"/>
              </a:ext>
            </a:extLst>
          </p:cNvPr>
          <p:cNvSpPr/>
          <p:nvPr/>
        </p:nvSpPr>
        <p:spPr>
          <a:xfrm>
            <a:off x="3200400" y="960120"/>
            <a:ext cx="2743200" cy="386905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31154D52-95D5-3CB3-35D3-2B7FEE32142E}"/>
              </a:ext>
            </a:extLst>
          </p:cNvPr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C2384119-0111-BB97-0B23-41E2CA51EB62}"/>
              </a:ext>
            </a:extLst>
          </p:cNvPr>
          <p:cNvSpPr/>
          <p:nvPr/>
        </p:nvSpPr>
        <p:spPr>
          <a:xfrm>
            <a:off x="228600" y="960119"/>
            <a:ext cx="2743200" cy="3869055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CC433376-DFDE-C605-57A8-87ED989FB9E0}"/>
              </a:ext>
            </a:extLst>
          </p:cNvPr>
          <p:cNvSpPr/>
          <p:nvPr/>
        </p:nvSpPr>
        <p:spPr>
          <a:xfrm>
            <a:off x="228600" y="960120"/>
            <a:ext cx="27432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8F742971-4212-7CC9-5897-94E70DDD5AAC}"/>
              </a:ext>
            </a:extLst>
          </p:cNvPr>
          <p:cNvSpPr/>
          <p:nvPr/>
        </p:nvSpPr>
        <p:spPr>
          <a:xfrm>
            <a:off x="6291692" y="2427934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it-IT" sz="1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Portafoglio clienti stabile e ricorrente; banca socia come canale di contatto privilegiato.</a:t>
            </a:r>
            <a:endParaRPr lang="it-IT" sz="1200" noProof="0" dirty="0">
              <a:solidFill>
                <a:schemeClr val="bg1"/>
              </a:solidFill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2CAF9E2A-8B05-FA29-5BB7-F8E77F645347}"/>
              </a:ext>
            </a:extLst>
          </p:cNvPr>
          <p:cNvSpPr/>
          <p:nvPr/>
        </p:nvSpPr>
        <p:spPr>
          <a:xfrm>
            <a:off x="3319892" y="2427934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pluriennale con gli Organi di Vigilanza — presidio essenziale per i servizi di Audit e Compliance.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BB7960CD-D591-B448-D786-3622AD4A6D81}"/>
              </a:ext>
            </a:extLst>
          </p:cNvPr>
          <p:cNvSpPr/>
          <p:nvPr/>
        </p:nvSpPr>
        <p:spPr>
          <a:xfrm>
            <a:off x="340723" y="237401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 competenze multi-disciplinari maturate su clientela bancaria e intermediari vigilati.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68D58444-BA04-1729-9909-A23AB8E5ADF8}"/>
              </a:ext>
            </a:extLst>
          </p:cNvPr>
          <p:cNvSpPr/>
          <p:nvPr/>
        </p:nvSpPr>
        <p:spPr>
          <a:xfrm>
            <a:off x="6221899" y="112195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29101ECD-01FD-3958-AA19-BBD0BAD9B103}"/>
              </a:ext>
            </a:extLst>
          </p:cNvPr>
          <p:cNvSpPr/>
          <p:nvPr/>
        </p:nvSpPr>
        <p:spPr>
          <a:xfrm>
            <a:off x="6675264" y="1134025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Clientela consolidata</a:t>
            </a:r>
            <a:endParaRPr lang="en-US" sz="115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51819C3F-9DAA-FD95-E28A-BE7F787E89E6}"/>
              </a:ext>
            </a:extLst>
          </p:cNvPr>
          <p:cNvSpPr/>
          <p:nvPr/>
        </p:nvSpPr>
        <p:spPr>
          <a:xfrm>
            <a:off x="317863" y="125911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845DDC46-93BF-8F56-51D6-4D99680539C5}"/>
              </a:ext>
            </a:extLst>
          </p:cNvPr>
          <p:cNvGrpSpPr/>
          <p:nvPr/>
        </p:nvGrpSpPr>
        <p:grpSpPr>
          <a:xfrm>
            <a:off x="3676650" y="-30378"/>
            <a:ext cx="8114289" cy="784830"/>
            <a:chOff x="436215" y="-122881"/>
            <a:chExt cx="4456163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C5AB72D8-AE8B-4513-3657-7D3417157457}"/>
                </a:ext>
              </a:extLst>
            </p:cNvPr>
            <p:cNvSpPr/>
            <p:nvPr/>
          </p:nvSpPr>
          <p:spPr>
            <a:xfrm>
              <a:off x="436215" y="-122881"/>
              <a:ext cx="4456163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9D1AD12-AE79-2558-7A08-B7F407F7C630}"/>
                </a:ext>
              </a:extLst>
            </p:cNvPr>
            <p:cNvSpPr txBox="1"/>
            <p:nvPr/>
          </p:nvSpPr>
          <p:spPr>
            <a:xfrm>
              <a:off x="569532" y="33276"/>
              <a:ext cx="237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Vantaggio competitivo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8D695C77-E8CB-8AAF-F19F-B87B87C543B3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1E38B9CB-E35B-171D-9CBF-E969A538ED06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2AF00D4A-589B-E474-834F-C6F270E9984C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F87A4B51-1232-BF90-ACBD-E0BF1F0AF03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B5C1EC6B-00C2-2DB1-491B-B8E7742C1FB0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EB1003F8-AFB4-4EC0-6E81-DE55A9035E9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5E2D5A84-4DCB-58F4-D48A-6790E51055A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44D5D08-F925-56E5-1C80-046262B2BEFD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90C7A8B-DB1E-9B47-43C0-069F28C901EF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0B4F4A52-7A33-D141-9ADE-77196629B27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7" name="Text 6">
            <a:extLst>
              <a:ext uri="{FF2B5EF4-FFF2-40B4-BE49-F238E27FC236}">
                <a16:creationId xmlns:a16="http://schemas.microsoft.com/office/drawing/2014/main" id="{249787BD-6428-7083-95CE-8E0199007589}"/>
              </a:ext>
            </a:extLst>
          </p:cNvPr>
          <p:cNvSpPr/>
          <p:nvPr/>
        </p:nvSpPr>
        <p:spPr>
          <a:xfrm>
            <a:off x="274320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C35D32DB-FA98-B77C-FA2A-F0C63DEDF65F}"/>
              </a:ext>
            </a:extLst>
          </p:cNvPr>
          <p:cNvSpPr/>
          <p:nvPr/>
        </p:nvSpPr>
        <p:spPr>
          <a:xfrm>
            <a:off x="903859" y="1156716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professionali consolidati</a:t>
            </a:r>
            <a:endParaRPr lang="en-US" sz="11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BB338B87-A2C3-7E10-1DBF-1EACBF4E0B9B}"/>
              </a:ext>
            </a:extLst>
          </p:cNvPr>
          <p:cNvSpPr/>
          <p:nvPr/>
        </p:nvSpPr>
        <p:spPr>
          <a:xfrm>
            <a:off x="3256158" y="11122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FA9D825A-CBDB-9143-7FDC-5DBAA91F1614}"/>
              </a:ext>
            </a:extLst>
          </p:cNvPr>
          <p:cNvSpPr/>
          <p:nvPr/>
        </p:nvSpPr>
        <p:spPr>
          <a:xfrm>
            <a:off x="3868532" y="11338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nel dialogo con la Vigilanza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201292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6137-E997-E3D9-D74E-CA29BF7C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45A949F0-E2AD-90D4-A0D6-6E4B89A7F118}"/>
              </a:ext>
            </a:extLst>
          </p:cNvPr>
          <p:cNvSpPr/>
          <p:nvPr/>
        </p:nvSpPr>
        <p:spPr>
          <a:xfrm>
            <a:off x="228600" y="1768426"/>
            <a:ext cx="234950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54C29B7-CD3E-885B-1977-B606CFE39E6F}"/>
              </a:ext>
            </a:extLst>
          </p:cNvPr>
          <p:cNvSpPr/>
          <p:nvPr/>
        </p:nvSpPr>
        <p:spPr>
          <a:xfrm>
            <a:off x="-5029200" y="1916313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servizi di esternalizzazione verso Banche di Mercato</a:t>
            </a:r>
            <a:endParaRPr lang="en-US" sz="14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0489EF8-CDCA-9E79-02A8-B2F7184E391A}"/>
              </a:ext>
            </a:extLst>
          </p:cNvPr>
          <p:cNvSpPr/>
          <p:nvPr/>
        </p:nvSpPr>
        <p:spPr>
          <a:xfrm>
            <a:off x="228600" y="2851995"/>
            <a:ext cx="234950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B300266-4942-9F1A-CFA8-917C67A8F43D}"/>
              </a:ext>
            </a:extLst>
          </p:cNvPr>
          <p:cNvSpPr/>
          <p:nvPr/>
        </p:nvSpPr>
        <p:spPr>
          <a:xfrm>
            <a:off x="-4705634" y="3072496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di Supporto AML  +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novità normative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56D9C99E-5103-6DAD-C4E1-F8BDDD4CBDD5}"/>
              </a:ext>
            </a:extLst>
          </p:cNvPr>
          <p:cNvSpPr/>
          <p:nvPr/>
        </p:nvSpPr>
        <p:spPr>
          <a:xfrm>
            <a:off x="228600" y="3942669"/>
            <a:ext cx="234950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791834F2-81E2-B5E3-3823-D5384E3E9979}"/>
              </a:ext>
            </a:extLst>
          </p:cNvPr>
          <p:cNvSpPr/>
          <p:nvPr/>
        </p:nvSpPr>
        <p:spPr>
          <a:xfrm>
            <a:off x="-5029200" y="4216989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piattaforme: Autovalutazione AML + Controlli AML</a:t>
            </a:r>
            <a:endParaRPr lang="en-US" sz="14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A8AB1EC9-C69D-E3CA-BE1E-B2557AEC130A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B1ED1CC5-6EF4-53C0-C0D9-485ACFCE75FC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8A1EB180-F9F6-874F-4F9E-2EB8A4273B5A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di crescita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29E6AE48-028C-B806-3A38-D5815F13B1A1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1AED4080-F898-1925-8F79-BF8A8F1EFBC1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154EF68-0836-4A64-EB05-206C97910922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0CE481B9-E307-F84D-4B19-68C77F1112DE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7316C09-BF17-B2A4-C7C2-3A9D4CA1992C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34DAB118-2743-B8BF-CB11-FE42BEC6315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1117F71F-86F4-6638-5CBA-55DF96CF52B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7E3F86C-8D63-34F0-02B2-AD41F0AC047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56A8F10-01C9-6612-160C-33E586FE37D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1706ACD9-6F47-ADDB-87D1-57EAB38EF44F}"/>
              </a:ext>
            </a:extLst>
          </p:cNvPr>
          <p:cNvSpPr/>
          <p:nvPr/>
        </p:nvSpPr>
        <p:spPr>
          <a:xfrm>
            <a:off x="1487646" y="88209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chiave per il Scenario Baseline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DD119F0-1A8F-27DF-1708-DF7905F181DD}"/>
              </a:ext>
            </a:extLst>
          </p:cNvPr>
          <p:cNvSpPr/>
          <p:nvPr/>
        </p:nvSpPr>
        <p:spPr>
          <a:xfrm>
            <a:off x="228600" y="1768426"/>
            <a:ext cx="2286000" cy="8229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63B8C2D-A4EF-C9B7-6831-A50BE26FFD77}"/>
              </a:ext>
            </a:extLst>
          </p:cNvPr>
          <p:cNvSpPr/>
          <p:nvPr/>
        </p:nvSpPr>
        <p:spPr>
          <a:xfrm>
            <a:off x="324389" y="208311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9C775485-7536-2E31-AE04-F711255FA07E}"/>
              </a:ext>
            </a:extLst>
          </p:cNvPr>
          <p:cNvSpPr/>
          <p:nvPr/>
        </p:nvSpPr>
        <p:spPr>
          <a:xfrm>
            <a:off x="228600" y="2851995"/>
            <a:ext cx="2286000" cy="8229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D08957E-479B-0211-5041-B9BA3EF31F81}"/>
              </a:ext>
            </a:extLst>
          </p:cNvPr>
          <p:cNvSpPr/>
          <p:nvPr/>
        </p:nvSpPr>
        <p:spPr>
          <a:xfrm>
            <a:off x="320040" y="3152627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5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DA410B92-50F3-5402-E815-955FC3960451}"/>
              </a:ext>
            </a:extLst>
          </p:cNvPr>
          <p:cNvSpPr/>
          <p:nvPr/>
        </p:nvSpPr>
        <p:spPr>
          <a:xfrm>
            <a:off x="228600" y="3942669"/>
            <a:ext cx="2286000" cy="822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CAD0DD9F-709D-C37B-74A7-67944C04232E}"/>
              </a:ext>
            </a:extLst>
          </p:cNvPr>
          <p:cNvSpPr/>
          <p:nvPr/>
        </p:nvSpPr>
        <p:spPr>
          <a:xfrm>
            <a:off x="330618" y="421698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105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EFCAE9D-1613-B69D-9A73-ECEB5AEA66C3}"/>
              </a:ext>
            </a:extLst>
          </p:cNvPr>
          <p:cNvSpPr/>
          <p:nvPr/>
        </p:nvSpPr>
        <p:spPr>
          <a:xfrm>
            <a:off x="-245675" y="1768426"/>
            <a:ext cx="474275" cy="2997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8241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4C94-CC87-5439-C96F-AB7BA611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8B647157-BCB2-FCFC-3369-E58F0BFACBDB}"/>
              </a:ext>
            </a:extLst>
          </p:cNvPr>
          <p:cNvSpPr/>
          <p:nvPr/>
        </p:nvSpPr>
        <p:spPr>
          <a:xfrm>
            <a:off x="228600" y="1768426"/>
            <a:ext cx="7973008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AD8AE27-67FA-F5AE-E741-35FFE3709BEA}"/>
              </a:ext>
            </a:extLst>
          </p:cNvPr>
          <p:cNvSpPr/>
          <p:nvPr/>
        </p:nvSpPr>
        <p:spPr>
          <a:xfrm>
            <a:off x="2784571" y="1982395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servizi di esternalizzazione verso Banche di Mercato</a:t>
            </a:r>
            <a:endParaRPr lang="en-US" sz="14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9021B28-D9DE-DEE1-974B-821DF10D4790}"/>
              </a:ext>
            </a:extLst>
          </p:cNvPr>
          <p:cNvSpPr/>
          <p:nvPr/>
        </p:nvSpPr>
        <p:spPr>
          <a:xfrm>
            <a:off x="228600" y="2851995"/>
            <a:ext cx="234950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44ADAE4-D399-4CFF-D7E2-9022A53B9906}"/>
              </a:ext>
            </a:extLst>
          </p:cNvPr>
          <p:cNvSpPr/>
          <p:nvPr/>
        </p:nvSpPr>
        <p:spPr>
          <a:xfrm>
            <a:off x="-4705634" y="3072496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di Supporto AML  +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novità normative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20975EC-A838-849A-7CBC-06B297E83B3C}"/>
              </a:ext>
            </a:extLst>
          </p:cNvPr>
          <p:cNvSpPr/>
          <p:nvPr/>
        </p:nvSpPr>
        <p:spPr>
          <a:xfrm>
            <a:off x="228600" y="3942669"/>
            <a:ext cx="234950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1EFDC949-A571-0A95-DDA6-AF8F7FF2F434}"/>
              </a:ext>
            </a:extLst>
          </p:cNvPr>
          <p:cNvSpPr/>
          <p:nvPr/>
        </p:nvSpPr>
        <p:spPr>
          <a:xfrm>
            <a:off x="-5029200" y="4216989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piattaforme: Autovalutazione AML + Controlli AML</a:t>
            </a:r>
            <a:endParaRPr lang="en-US" sz="14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AC0AB39-2429-1AAA-E6EF-9EA219E2ACEF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09ACC437-35F2-1BEA-5AB6-A495F7D2F5E1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78FD2D0D-E7CA-4364-787E-7CCFC33B5153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di crescita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4F8CE10-0A77-07A0-08A9-6D19A389E899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202DC00A-099D-818F-3362-EAD37CDCC44E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E1A9E1E-C88A-581F-0DAD-AB3F34725E4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C97E17B4-A365-65F4-29C0-1F916E5C05A2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06BB40A8-1DFB-B9CC-7A3C-312A7E1465D6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31175A0A-0864-C2C3-5058-8FAACD7B7DEC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70C3A85B-EA46-EE35-8413-801FDBAD3DD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8AAC5C59-000B-7075-3C68-0C4B70CE50F6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D5905D7-9666-C9AF-19B1-4E0EF2A9D70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8E67B5E1-89EB-58E1-0531-E9FD025C63D0}"/>
              </a:ext>
            </a:extLst>
          </p:cNvPr>
          <p:cNvSpPr/>
          <p:nvPr/>
        </p:nvSpPr>
        <p:spPr>
          <a:xfrm>
            <a:off x="1487646" y="88209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chiave per il Scenario Baseline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A83B93F-C70F-7140-819F-8EFF42156273}"/>
              </a:ext>
            </a:extLst>
          </p:cNvPr>
          <p:cNvSpPr/>
          <p:nvPr/>
        </p:nvSpPr>
        <p:spPr>
          <a:xfrm>
            <a:off x="228600" y="1768426"/>
            <a:ext cx="2286000" cy="8229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E160C6B-FAF7-3B96-837C-03D56263E095}"/>
              </a:ext>
            </a:extLst>
          </p:cNvPr>
          <p:cNvSpPr/>
          <p:nvPr/>
        </p:nvSpPr>
        <p:spPr>
          <a:xfrm>
            <a:off x="324389" y="208311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0D0638A8-CA29-D1D6-EA2E-996DC7DD6372}"/>
              </a:ext>
            </a:extLst>
          </p:cNvPr>
          <p:cNvSpPr/>
          <p:nvPr/>
        </p:nvSpPr>
        <p:spPr>
          <a:xfrm>
            <a:off x="228600" y="2851995"/>
            <a:ext cx="2286000" cy="8229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715BEC1-6A77-16DB-1460-AB7EA8310FB9}"/>
              </a:ext>
            </a:extLst>
          </p:cNvPr>
          <p:cNvSpPr/>
          <p:nvPr/>
        </p:nvSpPr>
        <p:spPr>
          <a:xfrm>
            <a:off x="320040" y="3152627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5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AC641DA3-8008-D52B-4413-24AA544AD98E}"/>
              </a:ext>
            </a:extLst>
          </p:cNvPr>
          <p:cNvSpPr/>
          <p:nvPr/>
        </p:nvSpPr>
        <p:spPr>
          <a:xfrm>
            <a:off x="228600" y="3942669"/>
            <a:ext cx="2286000" cy="822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FCF3E871-1E4E-542C-87E8-24799797E786}"/>
              </a:ext>
            </a:extLst>
          </p:cNvPr>
          <p:cNvSpPr/>
          <p:nvPr/>
        </p:nvSpPr>
        <p:spPr>
          <a:xfrm>
            <a:off x="330618" y="421698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105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E3E0830-CBB8-8A56-CCAB-145F27609863}"/>
              </a:ext>
            </a:extLst>
          </p:cNvPr>
          <p:cNvSpPr/>
          <p:nvPr/>
        </p:nvSpPr>
        <p:spPr>
          <a:xfrm>
            <a:off x="-245675" y="1768426"/>
            <a:ext cx="474275" cy="2997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0692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89C6-8ED3-25AF-7D96-B4D09900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BBA63A58-1BE1-7C67-87E7-B16155198E82}"/>
              </a:ext>
            </a:extLst>
          </p:cNvPr>
          <p:cNvSpPr/>
          <p:nvPr/>
        </p:nvSpPr>
        <p:spPr>
          <a:xfrm>
            <a:off x="228600" y="1768426"/>
            <a:ext cx="7973008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6FF75EB-E94C-AF01-264C-91679D194E2E}"/>
              </a:ext>
            </a:extLst>
          </p:cNvPr>
          <p:cNvSpPr/>
          <p:nvPr/>
        </p:nvSpPr>
        <p:spPr>
          <a:xfrm>
            <a:off x="2784571" y="1982395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servizi di esternalizzazione verso Banche di Mercato</a:t>
            </a:r>
            <a:endParaRPr lang="en-US" sz="14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C61F8CE9-23B1-6D19-218E-23F07926D357}"/>
              </a:ext>
            </a:extLst>
          </p:cNvPr>
          <p:cNvSpPr/>
          <p:nvPr/>
        </p:nvSpPr>
        <p:spPr>
          <a:xfrm>
            <a:off x="228600" y="2851995"/>
            <a:ext cx="7973008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F5DF47D-B807-AC8A-6718-C304E2BB2664}"/>
              </a:ext>
            </a:extLst>
          </p:cNvPr>
          <p:cNvSpPr/>
          <p:nvPr/>
        </p:nvSpPr>
        <p:spPr>
          <a:xfrm>
            <a:off x="2784571" y="3065964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di Supporto AML  +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novità normative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D04B4381-D4D5-4635-173B-427462BD3AAC}"/>
              </a:ext>
            </a:extLst>
          </p:cNvPr>
          <p:cNvSpPr/>
          <p:nvPr/>
        </p:nvSpPr>
        <p:spPr>
          <a:xfrm>
            <a:off x="228600" y="3942669"/>
            <a:ext cx="234950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B5E31933-3666-2BEA-3D5B-F049F0FDFA7F}"/>
              </a:ext>
            </a:extLst>
          </p:cNvPr>
          <p:cNvSpPr/>
          <p:nvPr/>
        </p:nvSpPr>
        <p:spPr>
          <a:xfrm>
            <a:off x="-5029200" y="4216989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piattaforme: Autovalutazione AML + Controlli AML</a:t>
            </a:r>
            <a:endParaRPr lang="en-US" sz="14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65058375-C819-A417-727E-1256B86CA96F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AC8646CF-2FB6-F01A-7A1A-2DBF25CDCEF8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E9156437-8B88-4A5F-7E87-13132E132C69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di crescita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9A640A30-1494-0670-CCAA-75EC99DE823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B2F50F1C-0DB7-9225-3BA6-398C389E92E0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147B4C57-04EE-EB0B-1275-1D30BB207CF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6134F09-B857-253E-C2C8-854E0690EF8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379EB870-9494-D5E9-6BB4-1584A01E3DA3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7FDEEBC-74A3-5424-3931-2AACC4EB436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88F8C80A-547E-50C3-5A4F-0866417E77A9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C7B51622-70B2-83DE-1F56-D6C067027DCA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D93B557-E9A0-7295-00DB-9B87CCBF80C0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6D60D412-95D8-48DE-96BE-67415DE5A172}"/>
              </a:ext>
            </a:extLst>
          </p:cNvPr>
          <p:cNvSpPr/>
          <p:nvPr/>
        </p:nvSpPr>
        <p:spPr>
          <a:xfrm>
            <a:off x="1487646" y="88209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chiave per il Scenario Baseline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D5FA5FC-8F82-6F88-293B-30DF448012BB}"/>
              </a:ext>
            </a:extLst>
          </p:cNvPr>
          <p:cNvSpPr/>
          <p:nvPr/>
        </p:nvSpPr>
        <p:spPr>
          <a:xfrm>
            <a:off x="228600" y="1768426"/>
            <a:ext cx="2286000" cy="8229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D4CE4A1-D3C1-BB4F-BC3B-BCACF156BBF4}"/>
              </a:ext>
            </a:extLst>
          </p:cNvPr>
          <p:cNvSpPr/>
          <p:nvPr/>
        </p:nvSpPr>
        <p:spPr>
          <a:xfrm>
            <a:off x="324389" y="208311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42CC104A-7754-B4C9-366D-35310F4886BB}"/>
              </a:ext>
            </a:extLst>
          </p:cNvPr>
          <p:cNvSpPr/>
          <p:nvPr/>
        </p:nvSpPr>
        <p:spPr>
          <a:xfrm>
            <a:off x="228600" y="2851995"/>
            <a:ext cx="2286000" cy="8229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C957CE76-B8D3-EC82-E5C1-60084C2AC06B}"/>
              </a:ext>
            </a:extLst>
          </p:cNvPr>
          <p:cNvSpPr/>
          <p:nvPr/>
        </p:nvSpPr>
        <p:spPr>
          <a:xfrm>
            <a:off x="320040" y="3152627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5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2E3C3C66-A5C3-3DAD-E781-2540C3C25F57}"/>
              </a:ext>
            </a:extLst>
          </p:cNvPr>
          <p:cNvSpPr/>
          <p:nvPr/>
        </p:nvSpPr>
        <p:spPr>
          <a:xfrm>
            <a:off x="228600" y="3942669"/>
            <a:ext cx="2286000" cy="822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96677ACE-968D-AC92-8179-87DB99CD5160}"/>
              </a:ext>
            </a:extLst>
          </p:cNvPr>
          <p:cNvSpPr/>
          <p:nvPr/>
        </p:nvSpPr>
        <p:spPr>
          <a:xfrm>
            <a:off x="330618" y="421698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105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EB9C858-2BC1-361A-4B09-CB861C62A496}"/>
              </a:ext>
            </a:extLst>
          </p:cNvPr>
          <p:cNvSpPr/>
          <p:nvPr/>
        </p:nvSpPr>
        <p:spPr>
          <a:xfrm>
            <a:off x="-245675" y="1768426"/>
            <a:ext cx="474275" cy="2997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798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491B-8620-FE45-ACB3-7EABC77F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30A586DC-CCB3-BEDB-215F-542F05273AC9}"/>
              </a:ext>
            </a:extLst>
          </p:cNvPr>
          <p:cNvSpPr/>
          <p:nvPr/>
        </p:nvSpPr>
        <p:spPr>
          <a:xfrm>
            <a:off x="228600" y="1768426"/>
            <a:ext cx="7973008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BCB2337-3F33-6081-A673-2E65444AD963}"/>
              </a:ext>
            </a:extLst>
          </p:cNvPr>
          <p:cNvSpPr/>
          <p:nvPr/>
        </p:nvSpPr>
        <p:spPr>
          <a:xfrm>
            <a:off x="2784571" y="1982395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servizi di esternalizzazione verso Banche di Mercato</a:t>
            </a:r>
            <a:endParaRPr lang="en-US" sz="14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AB678EB-29BF-E807-6B2B-6A9B7039DA7C}"/>
              </a:ext>
            </a:extLst>
          </p:cNvPr>
          <p:cNvSpPr/>
          <p:nvPr/>
        </p:nvSpPr>
        <p:spPr>
          <a:xfrm>
            <a:off x="228600" y="2851995"/>
            <a:ext cx="7973008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334B162-111E-0328-1C55-92CF54354E02}"/>
              </a:ext>
            </a:extLst>
          </p:cNvPr>
          <p:cNvSpPr/>
          <p:nvPr/>
        </p:nvSpPr>
        <p:spPr>
          <a:xfrm>
            <a:off x="2784571" y="3065964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di Supporto AML  +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novità normative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FE0DF2C7-2500-15F3-9CEC-5323EDCE2090}"/>
              </a:ext>
            </a:extLst>
          </p:cNvPr>
          <p:cNvSpPr/>
          <p:nvPr/>
        </p:nvSpPr>
        <p:spPr>
          <a:xfrm>
            <a:off x="228600" y="3942669"/>
            <a:ext cx="7973008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A017690F-1E61-3FF9-7C6C-00B933F06632}"/>
              </a:ext>
            </a:extLst>
          </p:cNvPr>
          <p:cNvSpPr/>
          <p:nvPr/>
        </p:nvSpPr>
        <p:spPr>
          <a:xfrm>
            <a:off x="2813526" y="4149533"/>
            <a:ext cx="6035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piattaforme: Autovalutazione AML + Controlli AML</a:t>
            </a:r>
            <a:endParaRPr lang="en-US" sz="14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6F94058F-6E18-2E3B-ABB8-378230E22069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B021F204-F4D7-E556-36AE-43BB3FD2B3AB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7D7FF69-570C-2020-7A7F-45C7C8D64620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di crescita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2C2EFB94-B333-BE73-19A6-B180F7F6848F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141F0A9-1082-4FFB-8EB9-50A4614938C5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F2841C1B-2433-EB5B-FEC4-75B2000C21E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70EF96F5-0AE4-A152-0DE9-9D72ADA64A98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ED4C70B-60CD-269B-CA13-563772DBE02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BBA5A50-68EB-ECF8-1880-AF0158278F4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036E4B12-E8EB-BA68-9A16-4FD9C55D9C88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9FD495B9-54A8-7A35-6BB7-1BBB767D5F15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08A9A43E-D972-2E19-3A28-81646ED677A7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52034137-9B51-3AC6-39F2-4AC318BF88C0}"/>
              </a:ext>
            </a:extLst>
          </p:cNvPr>
          <p:cNvSpPr/>
          <p:nvPr/>
        </p:nvSpPr>
        <p:spPr>
          <a:xfrm>
            <a:off x="1487646" y="882093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chiave per il Scenario Baseline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3C7F3CB-549F-6223-21BE-684B07134E7E}"/>
              </a:ext>
            </a:extLst>
          </p:cNvPr>
          <p:cNvSpPr/>
          <p:nvPr/>
        </p:nvSpPr>
        <p:spPr>
          <a:xfrm>
            <a:off x="228600" y="1768426"/>
            <a:ext cx="2286000" cy="8229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5159E83-1BE6-C2C6-F0A7-E77C8DA365BE}"/>
              </a:ext>
            </a:extLst>
          </p:cNvPr>
          <p:cNvSpPr/>
          <p:nvPr/>
        </p:nvSpPr>
        <p:spPr>
          <a:xfrm>
            <a:off x="324389" y="208311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6487E2BB-BABE-BB83-6592-14970F52871E}"/>
              </a:ext>
            </a:extLst>
          </p:cNvPr>
          <p:cNvSpPr/>
          <p:nvPr/>
        </p:nvSpPr>
        <p:spPr>
          <a:xfrm>
            <a:off x="228600" y="2851995"/>
            <a:ext cx="2286000" cy="8229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2572E86-82AA-8402-4C97-CD5484541195}"/>
              </a:ext>
            </a:extLst>
          </p:cNvPr>
          <p:cNvSpPr/>
          <p:nvPr/>
        </p:nvSpPr>
        <p:spPr>
          <a:xfrm>
            <a:off x="320040" y="3152627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5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FD3713C1-998B-910C-3B14-78C14FF6CF9C}"/>
              </a:ext>
            </a:extLst>
          </p:cNvPr>
          <p:cNvSpPr/>
          <p:nvPr/>
        </p:nvSpPr>
        <p:spPr>
          <a:xfrm>
            <a:off x="228600" y="3942669"/>
            <a:ext cx="2286000" cy="822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9397154E-9519-043B-BEFC-A8A1B0AE7987}"/>
              </a:ext>
            </a:extLst>
          </p:cNvPr>
          <p:cNvSpPr/>
          <p:nvPr/>
        </p:nvSpPr>
        <p:spPr>
          <a:xfrm>
            <a:off x="330618" y="4216989"/>
            <a:ext cx="2103120" cy="29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REG-TECH</a:t>
            </a:r>
            <a:endParaRPr lang="en-US" sz="105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9BF2CF3-76CD-BDCA-90E8-5E6F942FA5D5}"/>
              </a:ext>
            </a:extLst>
          </p:cNvPr>
          <p:cNvSpPr/>
          <p:nvPr/>
        </p:nvSpPr>
        <p:spPr>
          <a:xfrm>
            <a:off x="-245675" y="1768426"/>
            <a:ext cx="474275" cy="2997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232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72BF-E333-70CD-E7A8-03CDCDAC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34CA16D-556A-5DBF-1FA3-C9CFABA90AED}"/>
              </a:ext>
            </a:extLst>
          </p:cNvPr>
          <p:cNvSpPr/>
          <p:nvPr/>
        </p:nvSpPr>
        <p:spPr>
          <a:xfrm>
            <a:off x="1212981" y="77054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strutturali di medio periodo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BC9884-1EEB-7ECB-5BA2-A2824394E3B6}"/>
              </a:ext>
            </a:extLst>
          </p:cNvPr>
          <p:cNvSpPr/>
          <p:nvPr/>
        </p:nvSpPr>
        <p:spPr>
          <a:xfrm>
            <a:off x="95971" y="1527849"/>
            <a:ext cx="2743200" cy="594360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just"/>
            <a:endParaRPr lang="it-IT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6B9DC8-8657-BA36-4929-D7F149F1F546}"/>
              </a:ext>
            </a:extLst>
          </p:cNvPr>
          <p:cNvSpPr/>
          <p:nvPr/>
        </p:nvSpPr>
        <p:spPr>
          <a:xfrm>
            <a:off x="959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8E645F-6A12-F6A2-7D60-F0A68AE6A61B}"/>
              </a:ext>
            </a:extLst>
          </p:cNvPr>
          <p:cNvSpPr/>
          <p:nvPr/>
        </p:nvSpPr>
        <p:spPr>
          <a:xfrm>
            <a:off x="1874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DEI SERVIZI OFFERTI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FAFC2C-A574-CC90-CB5B-688A2B8363BA}"/>
              </a:ext>
            </a:extLst>
          </p:cNvPr>
          <p:cNvSpPr/>
          <p:nvPr/>
        </p:nvSpPr>
        <p:spPr>
          <a:xfrm>
            <a:off x="2331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profondità e qualità dell'offerta sui segmenti già presidiati (Audit, AML, Risk ICT).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E2AD6B1-4A11-1FC5-BBC6-72C5535D7ED5}"/>
              </a:ext>
            </a:extLst>
          </p:cNvPr>
          <p:cNvSpPr/>
          <p:nvPr/>
        </p:nvSpPr>
        <p:spPr>
          <a:xfrm>
            <a:off x="3067771" y="1527849"/>
            <a:ext cx="2743200" cy="594360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E7C4D5A-EDCB-8563-E009-8174BDDF40EA}"/>
              </a:ext>
            </a:extLst>
          </p:cNvPr>
          <p:cNvSpPr/>
          <p:nvPr/>
        </p:nvSpPr>
        <p:spPr>
          <a:xfrm>
            <a:off x="30677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B9367E-35AF-702D-83DF-7D1300787885}"/>
              </a:ext>
            </a:extLst>
          </p:cNvPr>
          <p:cNvSpPr/>
          <p:nvPr/>
        </p:nvSpPr>
        <p:spPr>
          <a:xfrm>
            <a:off x="31592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DELL'ORGANICO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C3E64D6-7B79-C52E-0AB3-8D77C2B04220}"/>
              </a:ext>
            </a:extLst>
          </p:cNvPr>
          <p:cNvSpPr/>
          <p:nvPr/>
        </p:nvSpPr>
        <p:spPr>
          <a:xfrm>
            <a:off x="32049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di risorse senior nelle aree a più alta crescita. Da 8 a 13 risorse entro il 2028.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A881395C-17C4-6CA2-74EE-1E4956A86F5A}"/>
              </a:ext>
            </a:extLst>
          </p:cNvPr>
          <p:cNvSpPr/>
          <p:nvPr/>
        </p:nvSpPr>
        <p:spPr>
          <a:xfrm>
            <a:off x="6039571" y="1527849"/>
            <a:ext cx="2743200" cy="594360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2E6DBA23-18B0-6B4B-DEBC-2DCD620D6F77}"/>
              </a:ext>
            </a:extLst>
          </p:cNvPr>
          <p:cNvSpPr/>
          <p:nvPr/>
        </p:nvSpPr>
        <p:spPr>
          <a:xfrm>
            <a:off x="60395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061C99F8-0B32-EB68-78F5-DCA04913AF63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OFFERTA REG-TECH</a:t>
            </a:r>
            <a:endParaRPr lang="en-US" sz="1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25B3525C-02F5-A507-F15C-44384CA60138}"/>
              </a:ext>
            </a:extLst>
          </p:cNvPr>
          <p:cNvSpPr/>
          <p:nvPr/>
        </p:nvSpPr>
        <p:spPr>
          <a:xfrm>
            <a:off x="61767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piattaforme applicative proprietarie; ingresso in nuovi mercati (intermediari, 106 TUB).</a:t>
            </a:r>
            <a:endParaRPr lang="en-US" sz="1300" dirty="0">
              <a:solidFill>
                <a:schemeClr val="bg1"/>
              </a:solidFill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76F7DCE-CBE3-A86F-8564-0756983008F9}"/>
              </a:ext>
            </a:extLst>
          </p:cNvPr>
          <p:cNvGrpSpPr/>
          <p:nvPr/>
        </p:nvGrpSpPr>
        <p:grpSpPr>
          <a:xfrm>
            <a:off x="1212981" y="-30378"/>
            <a:ext cx="10577958" cy="784830"/>
            <a:chOff x="-916770" y="-122881"/>
            <a:chExt cx="580914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F6ED5E8-5EFC-9AEC-3FEC-68D6D8566011}"/>
                </a:ext>
              </a:extLst>
            </p:cNvPr>
            <p:cNvSpPr/>
            <p:nvPr/>
          </p:nvSpPr>
          <p:spPr>
            <a:xfrm>
              <a:off x="-916770" y="-122881"/>
              <a:ext cx="5809148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58575BF-06F6-3219-7A79-2E7E8DB088D7}"/>
                </a:ext>
              </a:extLst>
            </p:cNvPr>
            <p:cNvSpPr txBox="1"/>
            <p:nvPr/>
          </p:nvSpPr>
          <p:spPr>
            <a:xfrm>
              <a:off x="-681060" y="33276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– dettaglio consolidamento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D185A2B7-535C-40F7-3328-089E6436E55C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465B99B2-440D-661F-027D-7C44CA6C73D6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B17BA17-AEB6-8EA9-AC81-1BDA2125451D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AE3CAEC3-FC25-F0C2-EAD2-A7586B2C0DF2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33BFACF8-A463-7FA2-BAE6-2DDB41753B01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D2E4C35D-4636-4ED2-7266-D57BED3DCA36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24C8A84-4418-4CA1-2A0C-A934ED9CD3B4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68029E2-8970-8673-FAC4-5463ED66D560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C1ACEAA9-37FC-1690-BAB3-E5A272CDF90F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BA384690-FF79-6879-6A66-B324D2A52C4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2375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AA0B-8A6A-CD81-F2C9-D811EC3F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8D91384-6D2B-8554-0CA0-B531CC7D84C2}"/>
              </a:ext>
            </a:extLst>
          </p:cNvPr>
          <p:cNvSpPr/>
          <p:nvPr/>
        </p:nvSpPr>
        <p:spPr>
          <a:xfrm>
            <a:off x="1212981" y="77054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strutturali di medio periodo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9A1AF5-F284-0582-49D9-BEABF6698EAA}"/>
              </a:ext>
            </a:extLst>
          </p:cNvPr>
          <p:cNvSpPr/>
          <p:nvPr/>
        </p:nvSpPr>
        <p:spPr>
          <a:xfrm>
            <a:off x="95971" y="1527848"/>
            <a:ext cx="2743200" cy="3416893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just"/>
            <a:endParaRPr lang="it-IT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1C0DB25-6EF0-82ED-DBF6-0E95635614CE}"/>
              </a:ext>
            </a:extLst>
          </p:cNvPr>
          <p:cNvSpPr/>
          <p:nvPr/>
        </p:nvSpPr>
        <p:spPr>
          <a:xfrm>
            <a:off x="959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A2AC3F-326B-30AC-BB28-0E463C1BB33B}"/>
              </a:ext>
            </a:extLst>
          </p:cNvPr>
          <p:cNvSpPr/>
          <p:nvPr/>
        </p:nvSpPr>
        <p:spPr>
          <a:xfrm>
            <a:off x="1874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DEI SERVIZI OFFERTI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55AEFD-A1C3-AC83-1469-1F7AF89A8501}"/>
              </a:ext>
            </a:extLst>
          </p:cNvPr>
          <p:cNvSpPr/>
          <p:nvPr/>
        </p:nvSpPr>
        <p:spPr>
          <a:xfrm>
            <a:off x="2331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profondità e qualità dell'offerta sui segmenti già presidiati (Audit, AML, Risk ICT).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E1A924A-513A-68EA-70EB-EEE0DE341D9D}"/>
              </a:ext>
            </a:extLst>
          </p:cNvPr>
          <p:cNvSpPr/>
          <p:nvPr/>
        </p:nvSpPr>
        <p:spPr>
          <a:xfrm>
            <a:off x="3067771" y="1527849"/>
            <a:ext cx="2743200" cy="594360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CCE6123-B343-13C3-B9CE-C5223DBC4ECD}"/>
              </a:ext>
            </a:extLst>
          </p:cNvPr>
          <p:cNvSpPr/>
          <p:nvPr/>
        </p:nvSpPr>
        <p:spPr>
          <a:xfrm>
            <a:off x="30677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4ABE653-9A14-19B6-3CD8-AE8983A88324}"/>
              </a:ext>
            </a:extLst>
          </p:cNvPr>
          <p:cNvSpPr/>
          <p:nvPr/>
        </p:nvSpPr>
        <p:spPr>
          <a:xfrm>
            <a:off x="31592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DELL'ORGANICO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636CE67-E274-8532-D798-6B7D9BD0CD00}"/>
              </a:ext>
            </a:extLst>
          </p:cNvPr>
          <p:cNvSpPr/>
          <p:nvPr/>
        </p:nvSpPr>
        <p:spPr>
          <a:xfrm>
            <a:off x="32049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di risorse senior nelle aree a più alta crescita. Da 8 a 13 risorse entro il 2028.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EC10C94-84DB-1D7E-FC87-D3DD873A65BF}"/>
              </a:ext>
            </a:extLst>
          </p:cNvPr>
          <p:cNvSpPr/>
          <p:nvPr/>
        </p:nvSpPr>
        <p:spPr>
          <a:xfrm>
            <a:off x="6039571" y="1527849"/>
            <a:ext cx="2743200" cy="594360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EC1BFE8F-0C1A-404C-B915-CDE6597417A6}"/>
              </a:ext>
            </a:extLst>
          </p:cNvPr>
          <p:cNvSpPr/>
          <p:nvPr/>
        </p:nvSpPr>
        <p:spPr>
          <a:xfrm>
            <a:off x="60395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C140CDC5-B071-2D76-5696-AD234BBA05A2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OFFERTA REG-TECH</a:t>
            </a:r>
            <a:endParaRPr lang="en-US" sz="1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BB4E9137-3E0B-9486-07F2-D6E2EC1C4245}"/>
              </a:ext>
            </a:extLst>
          </p:cNvPr>
          <p:cNvSpPr/>
          <p:nvPr/>
        </p:nvSpPr>
        <p:spPr>
          <a:xfrm>
            <a:off x="61767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piattaforme applicative proprietarie; ingresso in nuovi mercati (intermediari, 106 TUB).</a:t>
            </a:r>
            <a:endParaRPr lang="en-US" sz="1300" dirty="0">
              <a:solidFill>
                <a:schemeClr val="bg1"/>
              </a:solidFill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8711A586-3196-954D-AC8C-62EFFF584AD8}"/>
              </a:ext>
            </a:extLst>
          </p:cNvPr>
          <p:cNvGrpSpPr/>
          <p:nvPr/>
        </p:nvGrpSpPr>
        <p:grpSpPr>
          <a:xfrm>
            <a:off x="1212981" y="-30378"/>
            <a:ext cx="10577958" cy="784830"/>
            <a:chOff x="-916770" y="-122881"/>
            <a:chExt cx="580914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77A0B6B-54B0-F154-855C-1489E679CFCB}"/>
                </a:ext>
              </a:extLst>
            </p:cNvPr>
            <p:cNvSpPr/>
            <p:nvPr/>
          </p:nvSpPr>
          <p:spPr>
            <a:xfrm>
              <a:off x="-916770" y="-122881"/>
              <a:ext cx="5809148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0C59B45E-F6F3-6BEA-B24A-B86095A58E96}"/>
                </a:ext>
              </a:extLst>
            </p:cNvPr>
            <p:cNvSpPr txBox="1"/>
            <p:nvPr/>
          </p:nvSpPr>
          <p:spPr>
            <a:xfrm>
              <a:off x="-681060" y="33276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– dettaglio consolidamento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C9140232-D6A5-9B94-A753-AC9BF69C994B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0D7C083-95E6-5DB8-5796-822A16F475AE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909BCB8-C574-F6AE-4D1A-EA52FFD93057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F9C64824-8B75-A8B0-D050-48D9207F1711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74F02253-3876-D6FA-EC79-833CA37D8274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E1F9AA73-386A-ACB7-4F7B-8F0EB8B39B9D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F5226AB6-CC10-05E3-AD60-55549138F16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F827F8B-C8A7-44AE-A593-F25D4BBE1605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3305E6E-0B50-CABD-E315-9E082F9BA66C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9B8C8D4-C7F8-8B9A-445E-22AEF39A4F0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5102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5F36E-6FEE-06BC-DF5A-DF66BB9A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FA48B8A-C110-B233-155E-ACA5D2A35EB8}"/>
              </a:ext>
            </a:extLst>
          </p:cNvPr>
          <p:cNvSpPr/>
          <p:nvPr/>
        </p:nvSpPr>
        <p:spPr>
          <a:xfrm>
            <a:off x="1212981" y="77054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strutturali di medio periodo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EEB3585-9E1C-19BA-D806-D42D5BC4EE4A}"/>
              </a:ext>
            </a:extLst>
          </p:cNvPr>
          <p:cNvSpPr/>
          <p:nvPr/>
        </p:nvSpPr>
        <p:spPr>
          <a:xfrm>
            <a:off x="95971" y="1527848"/>
            <a:ext cx="2743200" cy="3416893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just"/>
            <a:endParaRPr lang="it-IT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5E135E2-FC91-CB43-4EC1-767F3A243320}"/>
              </a:ext>
            </a:extLst>
          </p:cNvPr>
          <p:cNvSpPr/>
          <p:nvPr/>
        </p:nvSpPr>
        <p:spPr>
          <a:xfrm>
            <a:off x="959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4C0DC3-1CAD-C7E2-BCE5-C62B39F3FCB9}"/>
              </a:ext>
            </a:extLst>
          </p:cNvPr>
          <p:cNvSpPr/>
          <p:nvPr/>
        </p:nvSpPr>
        <p:spPr>
          <a:xfrm>
            <a:off x="1874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DEI SERVIZI OFFERTI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4B1D47-1254-14F8-3538-3D65611AED6D}"/>
              </a:ext>
            </a:extLst>
          </p:cNvPr>
          <p:cNvSpPr/>
          <p:nvPr/>
        </p:nvSpPr>
        <p:spPr>
          <a:xfrm>
            <a:off x="2331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profondità e qualità dell'offerta sui segmenti già presidiati (Audit, AML, Risk ICT).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4CC2B26-E410-1266-7990-8438687BA7E4}"/>
              </a:ext>
            </a:extLst>
          </p:cNvPr>
          <p:cNvSpPr/>
          <p:nvPr/>
        </p:nvSpPr>
        <p:spPr>
          <a:xfrm>
            <a:off x="3067771" y="1527849"/>
            <a:ext cx="2743200" cy="3416892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8B786EC-2BE5-2FBC-BF56-CE13447A269C}"/>
              </a:ext>
            </a:extLst>
          </p:cNvPr>
          <p:cNvSpPr/>
          <p:nvPr/>
        </p:nvSpPr>
        <p:spPr>
          <a:xfrm>
            <a:off x="30677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19DEEBA-D175-7A5A-AF81-7037178CAABA}"/>
              </a:ext>
            </a:extLst>
          </p:cNvPr>
          <p:cNvSpPr/>
          <p:nvPr/>
        </p:nvSpPr>
        <p:spPr>
          <a:xfrm>
            <a:off x="31592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DELL'ORGANICO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3B495FD-930D-BEA6-5C7B-8BB1B37FFF9C}"/>
              </a:ext>
            </a:extLst>
          </p:cNvPr>
          <p:cNvSpPr/>
          <p:nvPr/>
        </p:nvSpPr>
        <p:spPr>
          <a:xfrm>
            <a:off x="32049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di risorse senior nelle aree a più alta crescita. Da 8 a 13 risorse entro il 2028.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1CC3E1A-6F1D-C8B3-1FEB-EB9BA1C1D9A3}"/>
              </a:ext>
            </a:extLst>
          </p:cNvPr>
          <p:cNvSpPr/>
          <p:nvPr/>
        </p:nvSpPr>
        <p:spPr>
          <a:xfrm>
            <a:off x="6039571" y="1527849"/>
            <a:ext cx="2743200" cy="594360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68EF23A5-BA8B-52FF-3191-9688D6E3AE45}"/>
              </a:ext>
            </a:extLst>
          </p:cNvPr>
          <p:cNvSpPr/>
          <p:nvPr/>
        </p:nvSpPr>
        <p:spPr>
          <a:xfrm>
            <a:off x="60395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441C1407-3E88-2568-C2A0-30BBB2519AFC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OFFERTA REG-TECH</a:t>
            </a:r>
            <a:endParaRPr lang="en-US" sz="1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FE307D98-3B1A-E1F7-52E3-AC914CF05F57}"/>
              </a:ext>
            </a:extLst>
          </p:cNvPr>
          <p:cNvSpPr/>
          <p:nvPr/>
        </p:nvSpPr>
        <p:spPr>
          <a:xfrm>
            <a:off x="61767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piattaforme applicative proprietarie; ingresso in nuovi mercati (intermediari, 106 TUB).</a:t>
            </a:r>
            <a:endParaRPr lang="en-US" sz="1300" dirty="0">
              <a:solidFill>
                <a:schemeClr val="bg1"/>
              </a:solidFill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BE6C140D-A63B-B9CB-6BAF-0F8725C49C93}"/>
              </a:ext>
            </a:extLst>
          </p:cNvPr>
          <p:cNvGrpSpPr/>
          <p:nvPr/>
        </p:nvGrpSpPr>
        <p:grpSpPr>
          <a:xfrm>
            <a:off x="1212981" y="-30378"/>
            <a:ext cx="10577958" cy="784830"/>
            <a:chOff x="-916770" y="-122881"/>
            <a:chExt cx="580914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17B951A-F90A-777D-9ED2-7004267158C4}"/>
                </a:ext>
              </a:extLst>
            </p:cNvPr>
            <p:cNvSpPr/>
            <p:nvPr/>
          </p:nvSpPr>
          <p:spPr>
            <a:xfrm>
              <a:off x="-916770" y="-122881"/>
              <a:ext cx="5809148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2DF9EA0-FF01-B80D-B42E-DC29AEEE8370}"/>
                </a:ext>
              </a:extLst>
            </p:cNvPr>
            <p:cNvSpPr txBox="1"/>
            <p:nvPr/>
          </p:nvSpPr>
          <p:spPr>
            <a:xfrm>
              <a:off x="-681060" y="33276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– dettaglio consolidamento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2E3430EE-8404-0DA9-A366-6ADEF013897A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376ECFA-7D19-50D0-8F55-0738339A744D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D51AA4C-D344-36B0-13D8-C132EB96E24A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DA82C23-530F-BDBD-6DD3-60D73376086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6B486765-930F-15E4-E633-88DF6A00122E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FB6DD7ED-356E-8C49-7B8B-1C79EAA612C2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0E935849-AC4D-BAD4-31F5-AF90DC6D7383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872A38D-3196-7F1C-A3A3-E1F13A3007E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CCAFC88B-A23B-E269-B886-83A27B1E4C45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981155F-B4E3-D611-B02F-AE95D6D8F869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9272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18148-A0E4-F849-FA71-03C1BAA2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37D47F4A-6715-E85B-3613-D92CB907615F}"/>
              </a:ext>
            </a:extLst>
          </p:cNvPr>
          <p:cNvSpPr/>
          <p:nvPr/>
        </p:nvSpPr>
        <p:spPr>
          <a:xfrm>
            <a:off x="1212981" y="77054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strutturali di medio periodo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BD4D2D-ADA5-422F-969D-08AC7A9532DF}"/>
              </a:ext>
            </a:extLst>
          </p:cNvPr>
          <p:cNvSpPr/>
          <p:nvPr/>
        </p:nvSpPr>
        <p:spPr>
          <a:xfrm>
            <a:off x="95971" y="1527848"/>
            <a:ext cx="2743200" cy="3416893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just"/>
            <a:endParaRPr lang="it-IT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6DC69A-5A37-5F70-99B1-2AC2FE3FFCAC}"/>
              </a:ext>
            </a:extLst>
          </p:cNvPr>
          <p:cNvSpPr/>
          <p:nvPr/>
        </p:nvSpPr>
        <p:spPr>
          <a:xfrm>
            <a:off x="959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F4262D-8AB1-C233-189A-10CBFB7F55AC}"/>
              </a:ext>
            </a:extLst>
          </p:cNvPr>
          <p:cNvSpPr/>
          <p:nvPr/>
        </p:nvSpPr>
        <p:spPr>
          <a:xfrm>
            <a:off x="1874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DEI SERVIZI OFFERTI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67973F-4C8B-F8AF-0DBC-39C975957A58}"/>
              </a:ext>
            </a:extLst>
          </p:cNvPr>
          <p:cNvSpPr/>
          <p:nvPr/>
        </p:nvSpPr>
        <p:spPr>
          <a:xfrm>
            <a:off x="2331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profondità e qualità dell'offerta sui segmenti già presidiati (Audit, AML, Risk ICT).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3279990-CD2B-2036-E8F7-65352FB38611}"/>
              </a:ext>
            </a:extLst>
          </p:cNvPr>
          <p:cNvSpPr/>
          <p:nvPr/>
        </p:nvSpPr>
        <p:spPr>
          <a:xfrm>
            <a:off x="3067771" y="1527849"/>
            <a:ext cx="2743200" cy="3416892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2B72CB9-EF1F-F6B6-A173-2260E202F0CE}"/>
              </a:ext>
            </a:extLst>
          </p:cNvPr>
          <p:cNvSpPr/>
          <p:nvPr/>
        </p:nvSpPr>
        <p:spPr>
          <a:xfrm>
            <a:off x="30677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BB3931B-827E-D415-41C4-3B5F4EE3B883}"/>
              </a:ext>
            </a:extLst>
          </p:cNvPr>
          <p:cNvSpPr/>
          <p:nvPr/>
        </p:nvSpPr>
        <p:spPr>
          <a:xfrm>
            <a:off x="31592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RAFFORZAMENTO DELL'ORGANICO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1D9EFDB-D3EF-B5BD-986C-7381DD0136E0}"/>
              </a:ext>
            </a:extLst>
          </p:cNvPr>
          <p:cNvSpPr/>
          <p:nvPr/>
        </p:nvSpPr>
        <p:spPr>
          <a:xfrm>
            <a:off x="32049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di risorse senior nelle aree a più alta crescita. Da 8 a 13 risorse entro il 2028.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75DC371-B5B1-01E0-7646-88B74839727E}"/>
              </a:ext>
            </a:extLst>
          </p:cNvPr>
          <p:cNvSpPr/>
          <p:nvPr/>
        </p:nvSpPr>
        <p:spPr>
          <a:xfrm>
            <a:off x="6039571" y="1527849"/>
            <a:ext cx="2743200" cy="3416892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98408BD8-89DF-B1E0-1DCF-31F4D35EAB4A}"/>
              </a:ext>
            </a:extLst>
          </p:cNvPr>
          <p:cNvSpPr/>
          <p:nvPr/>
        </p:nvSpPr>
        <p:spPr>
          <a:xfrm>
            <a:off x="6039571" y="1527849"/>
            <a:ext cx="2743200" cy="449347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D424133B-58CC-B443-2F2C-D2A2ECD10319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OFFERTA REG-TECH</a:t>
            </a:r>
            <a:endParaRPr lang="en-US" sz="1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07496FA2-87A1-DAB3-417E-D37CE23B305F}"/>
              </a:ext>
            </a:extLst>
          </p:cNvPr>
          <p:cNvSpPr/>
          <p:nvPr/>
        </p:nvSpPr>
        <p:spPr>
          <a:xfrm>
            <a:off x="6176731" y="2122209"/>
            <a:ext cx="2514600" cy="277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piattaforme applicative proprietarie; ingresso in nuovi mercati (intermediari, 106 TUB).</a:t>
            </a:r>
            <a:endParaRPr lang="en-US" sz="1300" dirty="0">
              <a:solidFill>
                <a:schemeClr val="bg1"/>
              </a:solidFill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3F6CA52-DDDA-56B2-B518-E4C9573349E0}"/>
              </a:ext>
            </a:extLst>
          </p:cNvPr>
          <p:cNvGrpSpPr/>
          <p:nvPr/>
        </p:nvGrpSpPr>
        <p:grpSpPr>
          <a:xfrm>
            <a:off x="1212981" y="-30378"/>
            <a:ext cx="10577958" cy="784830"/>
            <a:chOff x="-916770" y="-122881"/>
            <a:chExt cx="580914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69E07AB5-CDAA-A5EE-F00F-CD0F44336182}"/>
                </a:ext>
              </a:extLst>
            </p:cNvPr>
            <p:cNvSpPr/>
            <p:nvPr/>
          </p:nvSpPr>
          <p:spPr>
            <a:xfrm>
              <a:off x="-916770" y="-122881"/>
              <a:ext cx="5809148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9E709E5-9CA0-92B3-7AF4-05CC7AAF1948}"/>
                </a:ext>
              </a:extLst>
            </p:cNvPr>
            <p:cNvSpPr txBox="1"/>
            <p:nvPr/>
          </p:nvSpPr>
          <p:spPr>
            <a:xfrm>
              <a:off x="-681060" y="33276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– dettaglio consolidamento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2E87EE40-5422-BCD9-DE51-18EF3610E293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89123F26-5C18-958A-6B77-26478C788D9D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BAC5E8D-43E9-FE42-6D71-33C9D6B36BF1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5CA6551A-6218-AC94-F62F-4745CBD6EAE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F3CC25EA-0C75-EB07-3377-56C66D0C0DA4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F09DAD4D-FEF1-2586-6164-D2093E2F163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937B7C6D-1E11-15F6-0F43-38A6D30FF42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D833B4B4-1AB2-85C2-6D7D-16D876A70C81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F29FDEFC-FAB8-5BE2-B54C-BF7B22154E7E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0DF33EF-52D8-40DC-5EB2-F5B1FC7D585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7929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57CB-2C3C-19C7-E1E0-515BEB43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732F7E66-FE3E-CFFF-3D21-073DC2F7897C}"/>
              </a:ext>
            </a:extLst>
          </p:cNvPr>
          <p:cNvGrpSpPr/>
          <p:nvPr/>
        </p:nvGrpSpPr>
        <p:grpSpPr>
          <a:xfrm>
            <a:off x="228600" y="4163530"/>
            <a:ext cx="320040" cy="868680"/>
            <a:chOff x="228600" y="4163530"/>
            <a:chExt cx="8686800" cy="868680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33253DCB-24E4-C687-4C73-77649FE8747D}"/>
                </a:ext>
              </a:extLst>
            </p:cNvPr>
            <p:cNvSpPr/>
            <p:nvPr/>
          </p:nvSpPr>
          <p:spPr>
            <a:xfrm>
              <a:off x="228600" y="4163530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EF0FDA1-6524-0B9D-4814-082B5CE7D80C}"/>
                </a:ext>
              </a:extLst>
            </p:cNvPr>
            <p:cNvSpPr/>
            <p:nvPr/>
          </p:nvSpPr>
          <p:spPr>
            <a:xfrm>
              <a:off x="7589520" y="4273258"/>
              <a:ext cx="1143000" cy="658368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29EE5C1E-F9F4-E5A5-C995-061763249B8B}"/>
              </a:ext>
            </a:extLst>
          </p:cNvPr>
          <p:cNvGrpSpPr/>
          <p:nvPr/>
        </p:nvGrpSpPr>
        <p:grpSpPr>
          <a:xfrm>
            <a:off x="228600" y="3175978"/>
            <a:ext cx="320040" cy="868680"/>
            <a:chOff x="228600" y="3175978"/>
            <a:chExt cx="8686800" cy="868680"/>
          </a:xfrm>
        </p:grpSpPr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1161A759-87A9-CC28-09D8-DDE4823E627A}"/>
                </a:ext>
              </a:extLst>
            </p:cNvPr>
            <p:cNvSpPr/>
            <p:nvPr/>
          </p:nvSpPr>
          <p:spPr>
            <a:xfrm>
              <a:off x="228600" y="3175978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1948F6E7-BA17-F5C0-F6B0-1E9FAFDDB2C7}"/>
                </a:ext>
              </a:extLst>
            </p:cNvPr>
            <p:cNvSpPr/>
            <p:nvPr/>
          </p:nvSpPr>
          <p:spPr>
            <a:xfrm>
              <a:off x="7589520" y="3285706"/>
              <a:ext cx="1143000" cy="6583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414859E6-3AA0-43F3-E0B1-BCE70B800128}"/>
              </a:ext>
            </a:extLst>
          </p:cNvPr>
          <p:cNvGrpSpPr/>
          <p:nvPr/>
        </p:nvGrpSpPr>
        <p:grpSpPr>
          <a:xfrm>
            <a:off x="228600" y="2188426"/>
            <a:ext cx="320040" cy="868680"/>
            <a:chOff x="228600" y="2188426"/>
            <a:chExt cx="8686800" cy="868680"/>
          </a:xfrm>
        </p:grpSpPr>
        <p:sp>
          <p:nvSpPr>
            <p:cNvPr id="34" name="Shape 10">
              <a:extLst>
                <a:ext uri="{FF2B5EF4-FFF2-40B4-BE49-F238E27FC236}">
                  <a16:creationId xmlns:a16="http://schemas.microsoft.com/office/drawing/2014/main" id="{082F9077-FE8D-17A5-9AB9-7A38ABE78CDF}"/>
                </a:ext>
              </a:extLst>
            </p:cNvPr>
            <p:cNvSpPr/>
            <p:nvPr/>
          </p:nvSpPr>
          <p:spPr>
            <a:xfrm>
              <a:off x="228600" y="2188426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Shape 14">
              <a:extLst>
                <a:ext uri="{FF2B5EF4-FFF2-40B4-BE49-F238E27FC236}">
                  <a16:creationId xmlns:a16="http://schemas.microsoft.com/office/drawing/2014/main" id="{02F3B4B9-D7A5-A0E5-800C-4FE286329AF7}"/>
                </a:ext>
              </a:extLst>
            </p:cNvPr>
            <p:cNvSpPr/>
            <p:nvPr/>
          </p:nvSpPr>
          <p:spPr>
            <a:xfrm>
              <a:off x="7589520" y="2298154"/>
              <a:ext cx="1143000" cy="658368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410AAC79-CDA2-3E1B-7550-09479E2E98C5}"/>
              </a:ext>
            </a:extLst>
          </p:cNvPr>
          <p:cNvGrpSpPr/>
          <p:nvPr/>
        </p:nvGrpSpPr>
        <p:grpSpPr>
          <a:xfrm>
            <a:off x="228600" y="1200874"/>
            <a:ext cx="320040" cy="868680"/>
            <a:chOff x="228600" y="1200874"/>
            <a:chExt cx="8686800" cy="86868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90FF04E-AC5F-7475-25F0-9E3C0B7F15BB}"/>
                </a:ext>
              </a:extLst>
            </p:cNvPr>
            <p:cNvSpPr/>
            <p:nvPr/>
          </p:nvSpPr>
          <p:spPr>
            <a:xfrm>
              <a:off x="228600" y="1200874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67600E0C-9FA8-DDA2-D0A4-77324260D6A4}"/>
                </a:ext>
              </a:extLst>
            </p:cNvPr>
            <p:cNvSpPr/>
            <p:nvPr/>
          </p:nvSpPr>
          <p:spPr>
            <a:xfrm>
              <a:off x="7589520" y="1310602"/>
              <a:ext cx="1143000" cy="658368"/>
            </a:xfrm>
            <a:prstGeom prst="rect">
              <a:avLst/>
            </a:prstGeom>
            <a:solidFill>
              <a:srgbClr val="E8650A"/>
            </a:solidFill>
            <a:ln w="12700">
              <a:solidFill>
                <a:srgbClr val="E8650A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Shape 5">
            <a:extLst>
              <a:ext uri="{FF2B5EF4-FFF2-40B4-BE49-F238E27FC236}">
                <a16:creationId xmlns:a16="http://schemas.microsoft.com/office/drawing/2014/main" id="{FDA5D19B-B8A9-084D-8689-D3E0AD762EE2}"/>
              </a:ext>
            </a:extLst>
          </p:cNvPr>
          <p:cNvSpPr/>
          <p:nvPr/>
        </p:nvSpPr>
        <p:spPr>
          <a:xfrm>
            <a:off x="228600" y="1200874"/>
            <a:ext cx="164592" cy="86868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E7E355D-57DD-28E3-63EC-9BD3AFD93D6A}"/>
              </a:ext>
            </a:extLst>
          </p:cNvPr>
          <p:cNvSpPr/>
          <p:nvPr/>
        </p:nvSpPr>
        <p:spPr>
          <a:xfrm>
            <a:off x="-2500154" y="13908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4E18AB9C-28FB-7543-FF46-46196523A9F7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889FF33C-1761-2EA0-D147-48AEA2F97F7A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A7C266E1-9CCB-93ED-17D3-4CF4A963E91E}"/>
              </a:ext>
            </a:extLst>
          </p:cNvPr>
          <p:cNvSpPr/>
          <p:nvPr/>
        </p:nvSpPr>
        <p:spPr>
          <a:xfrm>
            <a:off x="228600" y="2188426"/>
            <a:ext cx="16459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ABBB3D1A-221A-82F2-09C7-201D35A5F3D3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F77FBCDF-64AF-11B2-FE76-A1ACC5160805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F33BBA04-383A-8E85-51F5-25DFBD8ADF95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EDA4D3DD-2A83-5F5D-E261-A3B072122EAB}"/>
              </a:ext>
            </a:extLst>
          </p:cNvPr>
          <p:cNvSpPr/>
          <p:nvPr/>
        </p:nvSpPr>
        <p:spPr>
          <a:xfrm>
            <a:off x="228600" y="3175978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5A2C896-B716-9E9F-D903-17ECC5E7C51F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066C7C40-F1DE-C835-59B7-0F8FBD3FE617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8D6B0633-C3A8-4921-26BC-E1BCBE965C1C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C1003615-26F9-982D-9F0B-D4B1B1176B14}"/>
              </a:ext>
            </a:extLst>
          </p:cNvPr>
          <p:cNvSpPr/>
          <p:nvPr/>
        </p:nvSpPr>
        <p:spPr>
          <a:xfrm>
            <a:off x="228600" y="4163530"/>
            <a:ext cx="164592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6C2DC153-3CB9-E865-7D68-C182E2563934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1DBD71E9-CC42-BFC3-9913-DD7FFC989217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35181C5D-0B89-85CF-70B6-D852419C9FB4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7C87A92-A42B-F61C-16B5-6C26B686059B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AA094020-CF53-3EE5-2D0C-12DD1F17CA52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EE1CE03B-BF89-97EB-A1D8-F660FE116485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economici 2025 - 2028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3EF6847-0B27-6369-F8C3-F5572B6BB80D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A2C6D53-D422-9A41-299A-00945F79003A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538C484-B891-19FE-BC72-C855FF801180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085895CD-4243-6096-215B-04E779E56F63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CC3749E-C8C8-B058-98DE-66A51C06892C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69FF9A5-1C7A-BD45-DE40-B0EB165D22B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388D620-BA2A-49C7-FF37-F9FE44759B50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E9CC0C0C-AD9C-4AD2-4910-0C3E5577B7B4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369966A-7764-4713-0CC0-708B889E236A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01031378-5FAE-AD36-4FB5-6478EE83F7AE}"/>
              </a:ext>
            </a:extLst>
          </p:cNvPr>
          <p:cNvSpPr/>
          <p:nvPr/>
        </p:nvSpPr>
        <p:spPr>
          <a:xfrm>
            <a:off x="1371600" y="84468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variazioni attese nel quadriennio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195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C582-811B-70AF-E8DC-64DEEC8A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05C5742C-A810-0A5A-27A3-844BBC635466}"/>
              </a:ext>
            </a:extLst>
          </p:cNvPr>
          <p:cNvGrpSpPr/>
          <p:nvPr/>
        </p:nvGrpSpPr>
        <p:grpSpPr>
          <a:xfrm>
            <a:off x="228600" y="4163530"/>
            <a:ext cx="320040" cy="868680"/>
            <a:chOff x="228600" y="4163530"/>
            <a:chExt cx="8686800" cy="868680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61B6B7B1-96F3-FD08-5482-FCE9948E2D7F}"/>
                </a:ext>
              </a:extLst>
            </p:cNvPr>
            <p:cNvSpPr/>
            <p:nvPr/>
          </p:nvSpPr>
          <p:spPr>
            <a:xfrm>
              <a:off x="228600" y="4163530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CD37957-E4C0-7683-9E7C-C66A1CE2C7D3}"/>
                </a:ext>
              </a:extLst>
            </p:cNvPr>
            <p:cNvSpPr/>
            <p:nvPr/>
          </p:nvSpPr>
          <p:spPr>
            <a:xfrm>
              <a:off x="7589520" y="4273258"/>
              <a:ext cx="1143000" cy="658368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0CB5B98C-96E3-2CA4-501E-423C745CCFB5}"/>
              </a:ext>
            </a:extLst>
          </p:cNvPr>
          <p:cNvGrpSpPr/>
          <p:nvPr/>
        </p:nvGrpSpPr>
        <p:grpSpPr>
          <a:xfrm>
            <a:off x="228600" y="3175978"/>
            <a:ext cx="320040" cy="868680"/>
            <a:chOff x="228600" y="3175978"/>
            <a:chExt cx="8686800" cy="868680"/>
          </a:xfrm>
        </p:grpSpPr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E346D91D-DFB7-DB5E-5FF8-4618F53C3D33}"/>
                </a:ext>
              </a:extLst>
            </p:cNvPr>
            <p:cNvSpPr/>
            <p:nvPr/>
          </p:nvSpPr>
          <p:spPr>
            <a:xfrm>
              <a:off x="228600" y="3175978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783456E9-A6CF-18AB-DADF-805F61AD4B38}"/>
                </a:ext>
              </a:extLst>
            </p:cNvPr>
            <p:cNvSpPr/>
            <p:nvPr/>
          </p:nvSpPr>
          <p:spPr>
            <a:xfrm>
              <a:off x="7589520" y="3285706"/>
              <a:ext cx="1143000" cy="6583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DF3AFAA-9C6F-15E0-B209-15EFE65CD6FC}"/>
              </a:ext>
            </a:extLst>
          </p:cNvPr>
          <p:cNvGrpSpPr/>
          <p:nvPr/>
        </p:nvGrpSpPr>
        <p:grpSpPr>
          <a:xfrm>
            <a:off x="228600" y="2188426"/>
            <a:ext cx="320040" cy="868680"/>
            <a:chOff x="228600" y="2188426"/>
            <a:chExt cx="8686800" cy="868680"/>
          </a:xfrm>
        </p:grpSpPr>
        <p:sp>
          <p:nvSpPr>
            <p:cNvPr id="34" name="Shape 10">
              <a:extLst>
                <a:ext uri="{FF2B5EF4-FFF2-40B4-BE49-F238E27FC236}">
                  <a16:creationId xmlns:a16="http://schemas.microsoft.com/office/drawing/2014/main" id="{02A94125-2640-0258-77E0-BEF24E693AA4}"/>
                </a:ext>
              </a:extLst>
            </p:cNvPr>
            <p:cNvSpPr/>
            <p:nvPr/>
          </p:nvSpPr>
          <p:spPr>
            <a:xfrm>
              <a:off x="228600" y="2188426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Shape 14">
              <a:extLst>
                <a:ext uri="{FF2B5EF4-FFF2-40B4-BE49-F238E27FC236}">
                  <a16:creationId xmlns:a16="http://schemas.microsoft.com/office/drawing/2014/main" id="{C8A5B7AD-F0C2-F3E4-E88E-4FA482E8C6F5}"/>
                </a:ext>
              </a:extLst>
            </p:cNvPr>
            <p:cNvSpPr/>
            <p:nvPr/>
          </p:nvSpPr>
          <p:spPr>
            <a:xfrm>
              <a:off x="7589520" y="2298154"/>
              <a:ext cx="1143000" cy="658368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1D9945DC-E3B9-82AF-459F-F53ED1AE5FE2}"/>
              </a:ext>
            </a:extLst>
          </p:cNvPr>
          <p:cNvGrpSpPr/>
          <p:nvPr/>
        </p:nvGrpSpPr>
        <p:grpSpPr>
          <a:xfrm>
            <a:off x="228600" y="1200874"/>
            <a:ext cx="8686800" cy="868680"/>
            <a:chOff x="228600" y="1200874"/>
            <a:chExt cx="8686800" cy="86868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B42351F7-8C3B-B0B6-8B5E-3F456F147CD7}"/>
                </a:ext>
              </a:extLst>
            </p:cNvPr>
            <p:cNvSpPr/>
            <p:nvPr/>
          </p:nvSpPr>
          <p:spPr>
            <a:xfrm>
              <a:off x="228600" y="1200874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6EFDFDB9-2F51-11FB-4572-3CF30DB35C17}"/>
                </a:ext>
              </a:extLst>
            </p:cNvPr>
            <p:cNvSpPr/>
            <p:nvPr/>
          </p:nvSpPr>
          <p:spPr>
            <a:xfrm>
              <a:off x="7589520" y="1310602"/>
              <a:ext cx="1143000" cy="658368"/>
            </a:xfrm>
            <a:prstGeom prst="rect">
              <a:avLst/>
            </a:prstGeom>
            <a:solidFill>
              <a:srgbClr val="E8650A"/>
            </a:solidFill>
            <a:ln w="12700">
              <a:solidFill>
                <a:srgbClr val="E8650A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Shape 5">
            <a:extLst>
              <a:ext uri="{FF2B5EF4-FFF2-40B4-BE49-F238E27FC236}">
                <a16:creationId xmlns:a16="http://schemas.microsoft.com/office/drawing/2014/main" id="{80817BAC-EA19-B636-0FAC-8CFF66BC7F33}"/>
              </a:ext>
            </a:extLst>
          </p:cNvPr>
          <p:cNvSpPr/>
          <p:nvPr/>
        </p:nvSpPr>
        <p:spPr>
          <a:xfrm>
            <a:off x="228600" y="1200874"/>
            <a:ext cx="164592" cy="86868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89FAD5-119F-D38E-EF94-0AB2EB9D26E0}"/>
              </a:ext>
            </a:extLst>
          </p:cNvPr>
          <p:cNvSpPr/>
          <p:nvPr/>
        </p:nvSpPr>
        <p:spPr>
          <a:xfrm>
            <a:off x="-3098749" y="15057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9553D66E-BD60-6343-2DCE-6471FE1B6266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241F2A5-E5A9-D863-F7C1-54A5A5501196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D6D6B4CC-7A2E-6070-3D1B-084C8D34FA13}"/>
              </a:ext>
            </a:extLst>
          </p:cNvPr>
          <p:cNvSpPr/>
          <p:nvPr/>
        </p:nvSpPr>
        <p:spPr>
          <a:xfrm>
            <a:off x="228600" y="2188426"/>
            <a:ext cx="16459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DAC18A1-027B-597A-14D0-732C71F54663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289A8E43-AAED-D394-57F4-1E6D61304BAA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5045FAB8-1112-6773-C4CE-C551B4A435E4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B5422344-55B3-F437-AE07-C56C9ED06E56}"/>
              </a:ext>
            </a:extLst>
          </p:cNvPr>
          <p:cNvSpPr/>
          <p:nvPr/>
        </p:nvSpPr>
        <p:spPr>
          <a:xfrm>
            <a:off x="228600" y="3175978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5447A274-294F-F4D5-1D99-20C68217B467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197AEEE7-D34E-0CF6-47B5-2B79E2AB72D6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3E03B21-20B1-DE1D-67B7-5C69EC48FFEC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77DA57F6-325B-3E81-BD90-A5EBBCF782CE}"/>
              </a:ext>
            </a:extLst>
          </p:cNvPr>
          <p:cNvSpPr/>
          <p:nvPr/>
        </p:nvSpPr>
        <p:spPr>
          <a:xfrm>
            <a:off x="228600" y="4163530"/>
            <a:ext cx="164592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BCD38AB3-A8B3-29E9-C761-C73E9961D746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9187CFC9-2A0B-59C7-C0F0-B520AA786EEF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ECC1427B-7B98-6B8C-F876-8CC76BEB5372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377B7B9B-9F48-78BE-2A88-AEF2FC9B951F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8BB8138A-0246-0504-4D5D-6DA01EBBCD3B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8AB4FE6A-3D6B-23F4-952C-57A265706EA5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economici 2025 - 2028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564A4B48-37E6-6F5C-6EB2-156887027274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7A36AB9-0B6A-BC7D-E423-5C78B1F8570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25193642-00CA-6713-37E6-218B9196B0D1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5D5E125C-79E7-8744-12A5-FD65C94789FE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EDD7622-D28D-1967-D7D7-7BDA00FBE43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4C9EF9BF-AF6D-D458-5E10-03649B730EDD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BD8C7AE0-4B18-D1DC-69C8-E816FB46A93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09813838-AAF5-7A97-A4F8-0829CD9DB80E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0AF3F3DD-04F7-7754-6B0B-AB2926D060D9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CA4E270D-8086-EFF2-A501-3FAB5F9CEFEC}"/>
              </a:ext>
            </a:extLst>
          </p:cNvPr>
          <p:cNvSpPr/>
          <p:nvPr/>
        </p:nvSpPr>
        <p:spPr>
          <a:xfrm>
            <a:off x="1371600" y="84468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variazioni attese nel quadriennio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BC424B1-202D-4793-E1BD-D2F2AFA29FDC}"/>
              </a:ext>
            </a:extLst>
          </p:cNvPr>
          <p:cNvSpPr/>
          <p:nvPr/>
        </p:nvSpPr>
        <p:spPr>
          <a:xfrm>
            <a:off x="548640" y="136546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F8D5E1E-91C6-5649-0943-078ECFE1A5DB}"/>
              </a:ext>
            </a:extLst>
          </p:cNvPr>
          <p:cNvSpPr/>
          <p:nvPr/>
        </p:nvSpPr>
        <p:spPr>
          <a:xfrm>
            <a:off x="3474720" y="140204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A3CF8AD-190E-5A9D-9183-894E50AC8B3D}"/>
              </a:ext>
            </a:extLst>
          </p:cNvPr>
          <p:cNvSpPr/>
          <p:nvPr/>
        </p:nvSpPr>
        <p:spPr>
          <a:xfrm>
            <a:off x="7589520" y="136546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69409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E8A8-783C-4048-FB1A-34C61527F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91A8E71F-E684-DF11-FFF4-DD02E976F1F8}"/>
              </a:ext>
            </a:extLst>
          </p:cNvPr>
          <p:cNvGrpSpPr/>
          <p:nvPr/>
        </p:nvGrpSpPr>
        <p:grpSpPr>
          <a:xfrm>
            <a:off x="228600" y="4163530"/>
            <a:ext cx="320040" cy="868680"/>
            <a:chOff x="228600" y="4163530"/>
            <a:chExt cx="8686800" cy="868680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A7BF5EB5-D86C-8787-DEEB-EF901EA34879}"/>
                </a:ext>
              </a:extLst>
            </p:cNvPr>
            <p:cNvSpPr/>
            <p:nvPr/>
          </p:nvSpPr>
          <p:spPr>
            <a:xfrm>
              <a:off x="228600" y="4163530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0350456-A76E-2659-4DFD-0C2E3997493E}"/>
                </a:ext>
              </a:extLst>
            </p:cNvPr>
            <p:cNvSpPr/>
            <p:nvPr/>
          </p:nvSpPr>
          <p:spPr>
            <a:xfrm>
              <a:off x="7589520" y="4273258"/>
              <a:ext cx="1143000" cy="658368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1C29E016-BD06-B73F-1B02-368F16C66F8A}"/>
              </a:ext>
            </a:extLst>
          </p:cNvPr>
          <p:cNvGrpSpPr/>
          <p:nvPr/>
        </p:nvGrpSpPr>
        <p:grpSpPr>
          <a:xfrm>
            <a:off x="228600" y="3175978"/>
            <a:ext cx="320040" cy="868680"/>
            <a:chOff x="228600" y="3175978"/>
            <a:chExt cx="8686800" cy="868680"/>
          </a:xfrm>
        </p:grpSpPr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5B9F87A4-161F-CD82-C64C-226C65617279}"/>
                </a:ext>
              </a:extLst>
            </p:cNvPr>
            <p:cNvSpPr/>
            <p:nvPr/>
          </p:nvSpPr>
          <p:spPr>
            <a:xfrm>
              <a:off x="228600" y="3175978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D730D919-9BED-0AA7-798E-5AA0A924EB68}"/>
                </a:ext>
              </a:extLst>
            </p:cNvPr>
            <p:cNvSpPr/>
            <p:nvPr/>
          </p:nvSpPr>
          <p:spPr>
            <a:xfrm>
              <a:off x="7589520" y="3285706"/>
              <a:ext cx="1143000" cy="6583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6D8640C2-CDA0-F275-28FD-94EECF0671A8}"/>
              </a:ext>
            </a:extLst>
          </p:cNvPr>
          <p:cNvGrpSpPr/>
          <p:nvPr/>
        </p:nvGrpSpPr>
        <p:grpSpPr>
          <a:xfrm>
            <a:off x="228600" y="2188426"/>
            <a:ext cx="8686800" cy="868680"/>
            <a:chOff x="228600" y="2188426"/>
            <a:chExt cx="8686800" cy="868680"/>
          </a:xfrm>
        </p:grpSpPr>
        <p:sp>
          <p:nvSpPr>
            <p:cNvPr id="34" name="Shape 10">
              <a:extLst>
                <a:ext uri="{FF2B5EF4-FFF2-40B4-BE49-F238E27FC236}">
                  <a16:creationId xmlns:a16="http://schemas.microsoft.com/office/drawing/2014/main" id="{DDFF26DF-E80C-AB2E-4415-D6EDA8944099}"/>
                </a:ext>
              </a:extLst>
            </p:cNvPr>
            <p:cNvSpPr/>
            <p:nvPr/>
          </p:nvSpPr>
          <p:spPr>
            <a:xfrm>
              <a:off x="228600" y="2188426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Shape 14">
              <a:extLst>
                <a:ext uri="{FF2B5EF4-FFF2-40B4-BE49-F238E27FC236}">
                  <a16:creationId xmlns:a16="http://schemas.microsoft.com/office/drawing/2014/main" id="{92283CC4-EE55-C6C8-FE9F-2B5ACC8953F6}"/>
                </a:ext>
              </a:extLst>
            </p:cNvPr>
            <p:cNvSpPr/>
            <p:nvPr/>
          </p:nvSpPr>
          <p:spPr>
            <a:xfrm>
              <a:off x="7589520" y="2298154"/>
              <a:ext cx="1143000" cy="658368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8D8D56A2-3886-CFBA-6BA5-24B55C86B521}"/>
              </a:ext>
            </a:extLst>
          </p:cNvPr>
          <p:cNvGrpSpPr/>
          <p:nvPr/>
        </p:nvGrpSpPr>
        <p:grpSpPr>
          <a:xfrm>
            <a:off x="228600" y="1200874"/>
            <a:ext cx="8686800" cy="868680"/>
            <a:chOff x="228600" y="1200874"/>
            <a:chExt cx="8686800" cy="86868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DC19E865-94D5-A8DE-6570-8F3824AE0453}"/>
                </a:ext>
              </a:extLst>
            </p:cNvPr>
            <p:cNvSpPr/>
            <p:nvPr/>
          </p:nvSpPr>
          <p:spPr>
            <a:xfrm>
              <a:off x="228600" y="1200874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D3D8BC81-858D-3D65-AF28-97162B7C750F}"/>
                </a:ext>
              </a:extLst>
            </p:cNvPr>
            <p:cNvSpPr/>
            <p:nvPr/>
          </p:nvSpPr>
          <p:spPr>
            <a:xfrm>
              <a:off x="7589520" y="1310602"/>
              <a:ext cx="1143000" cy="658368"/>
            </a:xfrm>
            <a:prstGeom prst="rect">
              <a:avLst/>
            </a:prstGeom>
            <a:solidFill>
              <a:srgbClr val="E8650A"/>
            </a:solidFill>
            <a:ln w="12700">
              <a:solidFill>
                <a:srgbClr val="E8650A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Shape 5">
            <a:extLst>
              <a:ext uri="{FF2B5EF4-FFF2-40B4-BE49-F238E27FC236}">
                <a16:creationId xmlns:a16="http://schemas.microsoft.com/office/drawing/2014/main" id="{4C2376E5-5A67-2565-BFFF-6943C9E6FF47}"/>
              </a:ext>
            </a:extLst>
          </p:cNvPr>
          <p:cNvSpPr/>
          <p:nvPr/>
        </p:nvSpPr>
        <p:spPr>
          <a:xfrm>
            <a:off x="228600" y="1200874"/>
            <a:ext cx="164592" cy="86868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8C0624-10FA-9562-66F3-15FD8312BBDA}"/>
              </a:ext>
            </a:extLst>
          </p:cNvPr>
          <p:cNvSpPr/>
          <p:nvPr/>
        </p:nvSpPr>
        <p:spPr>
          <a:xfrm>
            <a:off x="-3098749" y="15057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185A971D-0193-884F-35E6-2C9596DD3EBD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8AD077E7-1765-3059-D0E7-84C3DE2551F4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00132938-DF04-C2F9-EC95-4DEB0C59A62D}"/>
              </a:ext>
            </a:extLst>
          </p:cNvPr>
          <p:cNvSpPr/>
          <p:nvPr/>
        </p:nvSpPr>
        <p:spPr>
          <a:xfrm>
            <a:off x="228600" y="2188426"/>
            <a:ext cx="16459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4DB23248-4D77-8D7C-1C4E-0D2D48CABD88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DB4E0CD2-BE2E-E115-134D-C6E451671829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847D603-6AB4-BB8F-4BF0-89FEA489B13B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6EA0CD62-AC59-D41B-026A-B8DB914AA321}"/>
              </a:ext>
            </a:extLst>
          </p:cNvPr>
          <p:cNvSpPr/>
          <p:nvPr/>
        </p:nvSpPr>
        <p:spPr>
          <a:xfrm>
            <a:off x="228600" y="3175978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34FB509-D888-B5C0-BED0-6CFDFA995FF9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760ED0F9-CB0C-489C-8C55-50F8327A67E1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171CCF5-AF2F-0D3F-E1E7-93B698AF6FE2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7E1AAA8B-39B7-54CB-418B-7DB92A500C93}"/>
              </a:ext>
            </a:extLst>
          </p:cNvPr>
          <p:cNvSpPr/>
          <p:nvPr/>
        </p:nvSpPr>
        <p:spPr>
          <a:xfrm>
            <a:off x="228600" y="4163530"/>
            <a:ext cx="164592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FAE8DB5A-3DB3-E7B6-6AE8-CBEE1347715B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810FF3E0-25E9-9173-81B5-D7A3C98E496F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8C5BACFC-010A-0A7B-0A0E-94470F96B184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0F6017E-99E3-BB44-BF91-E0000C446020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5ABCF66F-8C05-5BE8-FE49-ACCBA19C579D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5FB8A16-F56C-F21B-A9C8-CC303B7DC3D2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economici 2025 - 2028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97C1BFD-7CFF-B670-99FC-48F4A9FE82EC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75767D5-35ED-ACA8-C92B-4FF51A36C2E7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09A4AD9E-7BB5-9A09-FD62-991C2EF418BD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C9C5EC7-8D21-D57D-4661-0DF301BF19B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E4E7557-EB19-ABFF-16C0-3D919583BF8B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B2721683-97E1-C7C7-A773-E8A75064477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B83FFB01-15CF-031E-7899-1B6D0E574CD8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628DE82-0751-7789-D3FC-0FA38BFE4EA7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695589A7-96BA-1404-EF33-7C5A465D7C8D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3B541F47-EBA0-1551-B382-59A93875CA38}"/>
              </a:ext>
            </a:extLst>
          </p:cNvPr>
          <p:cNvSpPr/>
          <p:nvPr/>
        </p:nvSpPr>
        <p:spPr>
          <a:xfrm>
            <a:off x="1371600" y="84468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variazioni attese nel quadriennio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6AE279A-F00A-501D-ED68-90C76535191E}"/>
              </a:ext>
            </a:extLst>
          </p:cNvPr>
          <p:cNvSpPr/>
          <p:nvPr/>
        </p:nvSpPr>
        <p:spPr>
          <a:xfrm>
            <a:off x="548640" y="136546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C1344E8-0850-EE65-1E72-1BDA2745E93B}"/>
              </a:ext>
            </a:extLst>
          </p:cNvPr>
          <p:cNvSpPr/>
          <p:nvPr/>
        </p:nvSpPr>
        <p:spPr>
          <a:xfrm>
            <a:off x="3474720" y="140204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CB6022C-1881-466E-50A2-2272EA24404B}"/>
              </a:ext>
            </a:extLst>
          </p:cNvPr>
          <p:cNvSpPr/>
          <p:nvPr/>
        </p:nvSpPr>
        <p:spPr>
          <a:xfrm>
            <a:off x="7589520" y="136546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F42E8BC-96DF-550F-32A7-545174248A2D}"/>
              </a:ext>
            </a:extLst>
          </p:cNvPr>
          <p:cNvSpPr/>
          <p:nvPr/>
        </p:nvSpPr>
        <p:spPr>
          <a:xfrm>
            <a:off x="548640" y="23530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B601DC10-2ABB-3F49-315E-DADC936540F2}"/>
              </a:ext>
            </a:extLst>
          </p:cNvPr>
          <p:cNvSpPr/>
          <p:nvPr/>
        </p:nvSpPr>
        <p:spPr>
          <a:xfrm>
            <a:off x="3474720" y="238959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A6A45557-F26A-532D-BCF1-A8FE1C87922C}"/>
              </a:ext>
            </a:extLst>
          </p:cNvPr>
          <p:cNvSpPr/>
          <p:nvPr/>
        </p:nvSpPr>
        <p:spPr>
          <a:xfrm>
            <a:off x="7589520" y="2353018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86419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39F25-BCAF-F6ED-FE79-9BF369D2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1EFB2FDD-7014-3027-E59D-985934E91F0C}"/>
              </a:ext>
            </a:extLst>
          </p:cNvPr>
          <p:cNvGrpSpPr/>
          <p:nvPr/>
        </p:nvGrpSpPr>
        <p:grpSpPr>
          <a:xfrm>
            <a:off x="228600" y="4163530"/>
            <a:ext cx="320040" cy="868680"/>
            <a:chOff x="228600" y="4163530"/>
            <a:chExt cx="8686800" cy="868680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73FDDE2E-0F5E-28D2-F543-FCB379260EBC}"/>
                </a:ext>
              </a:extLst>
            </p:cNvPr>
            <p:cNvSpPr/>
            <p:nvPr/>
          </p:nvSpPr>
          <p:spPr>
            <a:xfrm>
              <a:off x="228600" y="4163530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EB20B14D-ED15-E0D1-622F-6FF367E8F778}"/>
                </a:ext>
              </a:extLst>
            </p:cNvPr>
            <p:cNvSpPr/>
            <p:nvPr/>
          </p:nvSpPr>
          <p:spPr>
            <a:xfrm>
              <a:off x="7589520" y="4273258"/>
              <a:ext cx="1143000" cy="658368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DE89EDF7-E52F-464C-0A4A-9704F039F034}"/>
              </a:ext>
            </a:extLst>
          </p:cNvPr>
          <p:cNvGrpSpPr/>
          <p:nvPr/>
        </p:nvGrpSpPr>
        <p:grpSpPr>
          <a:xfrm>
            <a:off x="228600" y="3175978"/>
            <a:ext cx="8686800" cy="868680"/>
            <a:chOff x="228600" y="3175978"/>
            <a:chExt cx="8686800" cy="868680"/>
          </a:xfrm>
        </p:grpSpPr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E42BD2AE-07B3-C278-030A-A38B6DBE90FB}"/>
                </a:ext>
              </a:extLst>
            </p:cNvPr>
            <p:cNvSpPr/>
            <p:nvPr/>
          </p:nvSpPr>
          <p:spPr>
            <a:xfrm>
              <a:off x="228600" y="3175978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EE6D55D7-FCB3-0EE9-7AD0-3E46B7F465A3}"/>
                </a:ext>
              </a:extLst>
            </p:cNvPr>
            <p:cNvSpPr/>
            <p:nvPr/>
          </p:nvSpPr>
          <p:spPr>
            <a:xfrm>
              <a:off x="7589520" y="3285706"/>
              <a:ext cx="1143000" cy="6583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094D6392-DD65-DD8E-83AA-5C58B4E05E86}"/>
              </a:ext>
            </a:extLst>
          </p:cNvPr>
          <p:cNvGrpSpPr/>
          <p:nvPr/>
        </p:nvGrpSpPr>
        <p:grpSpPr>
          <a:xfrm>
            <a:off x="228600" y="2188426"/>
            <a:ext cx="8686800" cy="868680"/>
            <a:chOff x="228600" y="2188426"/>
            <a:chExt cx="8686800" cy="868680"/>
          </a:xfrm>
        </p:grpSpPr>
        <p:sp>
          <p:nvSpPr>
            <p:cNvPr id="34" name="Shape 10">
              <a:extLst>
                <a:ext uri="{FF2B5EF4-FFF2-40B4-BE49-F238E27FC236}">
                  <a16:creationId xmlns:a16="http://schemas.microsoft.com/office/drawing/2014/main" id="{B73FA506-1627-9C87-8D7B-DB930E4234BD}"/>
                </a:ext>
              </a:extLst>
            </p:cNvPr>
            <p:cNvSpPr/>
            <p:nvPr/>
          </p:nvSpPr>
          <p:spPr>
            <a:xfrm>
              <a:off x="228600" y="2188426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Shape 14">
              <a:extLst>
                <a:ext uri="{FF2B5EF4-FFF2-40B4-BE49-F238E27FC236}">
                  <a16:creationId xmlns:a16="http://schemas.microsoft.com/office/drawing/2014/main" id="{0B613EB3-E9A4-D9BA-F6FA-D6DEF06C21B6}"/>
                </a:ext>
              </a:extLst>
            </p:cNvPr>
            <p:cNvSpPr/>
            <p:nvPr/>
          </p:nvSpPr>
          <p:spPr>
            <a:xfrm>
              <a:off x="7589520" y="2298154"/>
              <a:ext cx="1143000" cy="658368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49F28613-EA69-9E6D-BDC5-0DA154FAC989}"/>
              </a:ext>
            </a:extLst>
          </p:cNvPr>
          <p:cNvGrpSpPr/>
          <p:nvPr/>
        </p:nvGrpSpPr>
        <p:grpSpPr>
          <a:xfrm>
            <a:off x="228600" y="1200874"/>
            <a:ext cx="8686800" cy="868680"/>
            <a:chOff x="228600" y="1200874"/>
            <a:chExt cx="8686800" cy="86868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13FB195-DBAD-04B3-57BC-3629C19EDCD5}"/>
                </a:ext>
              </a:extLst>
            </p:cNvPr>
            <p:cNvSpPr/>
            <p:nvPr/>
          </p:nvSpPr>
          <p:spPr>
            <a:xfrm>
              <a:off x="228600" y="1200874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D8B819F4-8A17-C5EB-B209-659ED2CB28E4}"/>
                </a:ext>
              </a:extLst>
            </p:cNvPr>
            <p:cNvSpPr/>
            <p:nvPr/>
          </p:nvSpPr>
          <p:spPr>
            <a:xfrm>
              <a:off x="7589520" y="1310602"/>
              <a:ext cx="1143000" cy="658368"/>
            </a:xfrm>
            <a:prstGeom prst="rect">
              <a:avLst/>
            </a:prstGeom>
            <a:solidFill>
              <a:srgbClr val="E8650A"/>
            </a:solidFill>
            <a:ln w="12700">
              <a:solidFill>
                <a:srgbClr val="E8650A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Shape 5">
            <a:extLst>
              <a:ext uri="{FF2B5EF4-FFF2-40B4-BE49-F238E27FC236}">
                <a16:creationId xmlns:a16="http://schemas.microsoft.com/office/drawing/2014/main" id="{28F33122-C72D-CEAC-8683-FB96744FE834}"/>
              </a:ext>
            </a:extLst>
          </p:cNvPr>
          <p:cNvSpPr/>
          <p:nvPr/>
        </p:nvSpPr>
        <p:spPr>
          <a:xfrm>
            <a:off x="228600" y="1200874"/>
            <a:ext cx="164592" cy="86868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21809A6-0247-5132-C4D8-A5D783EF67D4}"/>
              </a:ext>
            </a:extLst>
          </p:cNvPr>
          <p:cNvSpPr/>
          <p:nvPr/>
        </p:nvSpPr>
        <p:spPr>
          <a:xfrm>
            <a:off x="-3098749" y="15057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4346C3E0-F3C9-16E1-20BC-46A583E406FE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B87BC58-EEAB-A8BC-B1BE-1D25D284F3F1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E4C560C6-E4CD-7513-A1DC-449933F86276}"/>
              </a:ext>
            </a:extLst>
          </p:cNvPr>
          <p:cNvSpPr/>
          <p:nvPr/>
        </p:nvSpPr>
        <p:spPr>
          <a:xfrm>
            <a:off x="228600" y="2188426"/>
            <a:ext cx="16459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3F94B912-BC30-4B94-3A4F-40B0410FAF77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CD197D19-73DD-9AA4-FF15-AD00593795DD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3C38166-C071-0028-B8CF-D81D3C9391C0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CEA9DAB1-93D4-1504-7847-6F23B257FF44}"/>
              </a:ext>
            </a:extLst>
          </p:cNvPr>
          <p:cNvSpPr/>
          <p:nvPr/>
        </p:nvSpPr>
        <p:spPr>
          <a:xfrm>
            <a:off x="228600" y="3175978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C66B9AE7-CBB2-85D4-5B87-E009E0EB5212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58A13180-B89E-C0E9-BA18-1D472B9F99A3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A16D91F4-74B9-0E95-60E8-A996A37BE5A8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7054E56B-98DB-B057-7A7C-AA1C7F34ACFF}"/>
              </a:ext>
            </a:extLst>
          </p:cNvPr>
          <p:cNvSpPr/>
          <p:nvPr/>
        </p:nvSpPr>
        <p:spPr>
          <a:xfrm>
            <a:off x="228600" y="4163530"/>
            <a:ext cx="164592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A2656880-5233-664C-8269-CB93D3F204F7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6ABCC804-7788-70E1-D5FA-7528FA9BFF73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1D4EEFE0-DE2E-B987-231E-FB91618270EA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D2F1D12E-0217-8506-308C-035E09A46B33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555CB4A-4D16-9071-5BBA-0D8C0EF06AD5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BCD9CF8-D01B-A10D-7E8D-CC16789E9078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economici 2025 - 2028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8A591C1A-A69C-752C-FEC2-0805DCA8A2BD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F55CFB7D-58E2-4FF1-2536-8D1C80E5A0D2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A1F32972-9DEF-C182-08C3-C24FF7B96B13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FC7F6B1E-DD5B-6649-9DB8-126B78EC75F6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616CF68-FC96-D564-9809-AD5D4E03FC4C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8B84E841-9100-5FA2-2029-38B5B368990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FF16F73-0D0D-C259-F242-54F356E25934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3621EF28-29AA-2176-3291-168AA4954ED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047AA1B-95BB-4F95-5D0F-F242A1C9DDD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607E9FF7-A373-CDF1-941A-065B5DCBBEA9}"/>
              </a:ext>
            </a:extLst>
          </p:cNvPr>
          <p:cNvSpPr/>
          <p:nvPr/>
        </p:nvSpPr>
        <p:spPr>
          <a:xfrm>
            <a:off x="1371600" y="84468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variazioni attese nel quadriennio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F4C91D0-736A-0D3D-04AA-298E773D6291}"/>
              </a:ext>
            </a:extLst>
          </p:cNvPr>
          <p:cNvSpPr/>
          <p:nvPr/>
        </p:nvSpPr>
        <p:spPr>
          <a:xfrm>
            <a:off x="548640" y="136546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52590D2-6C82-F3BC-D538-12B23D9A2C82}"/>
              </a:ext>
            </a:extLst>
          </p:cNvPr>
          <p:cNvSpPr/>
          <p:nvPr/>
        </p:nvSpPr>
        <p:spPr>
          <a:xfrm>
            <a:off x="3474720" y="140204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2D0E668-595F-E6AF-F31D-6A5E8C73AC28}"/>
              </a:ext>
            </a:extLst>
          </p:cNvPr>
          <p:cNvSpPr/>
          <p:nvPr/>
        </p:nvSpPr>
        <p:spPr>
          <a:xfrm>
            <a:off x="7589520" y="136546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2FC50191-BBB1-B1D1-214F-A67BA2AEC320}"/>
              </a:ext>
            </a:extLst>
          </p:cNvPr>
          <p:cNvSpPr/>
          <p:nvPr/>
        </p:nvSpPr>
        <p:spPr>
          <a:xfrm>
            <a:off x="548640" y="23530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4FCE7675-DB82-4C01-F61A-4D5F866E5DC7}"/>
              </a:ext>
            </a:extLst>
          </p:cNvPr>
          <p:cNvSpPr/>
          <p:nvPr/>
        </p:nvSpPr>
        <p:spPr>
          <a:xfrm>
            <a:off x="3474720" y="238959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206C8E7A-9DA3-4699-C2A9-FABBDA18D77E}"/>
              </a:ext>
            </a:extLst>
          </p:cNvPr>
          <p:cNvSpPr/>
          <p:nvPr/>
        </p:nvSpPr>
        <p:spPr>
          <a:xfrm>
            <a:off x="7589520" y="2353018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24943EEB-B117-57E1-4E92-E8DC26A8498E}"/>
              </a:ext>
            </a:extLst>
          </p:cNvPr>
          <p:cNvSpPr/>
          <p:nvPr/>
        </p:nvSpPr>
        <p:spPr>
          <a:xfrm>
            <a:off x="548640" y="334057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7DD5A864-C240-BB5C-68FB-4CA397E10AEF}"/>
              </a:ext>
            </a:extLst>
          </p:cNvPr>
          <p:cNvSpPr/>
          <p:nvPr/>
        </p:nvSpPr>
        <p:spPr>
          <a:xfrm>
            <a:off x="3474720" y="337714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A8C84E7B-3524-04A4-C9F8-38B3600596BE}"/>
              </a:ext>
            </a:extLst>
          </p:cNvPr>
          <p:cNvSpPr/>
          <p:nvPr/>
        </p:nvSpPr>
        <p:spPr>
          <a:xfrm>
            <a:off x="7589520" y="334057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9517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95FE-0CFA-3B88-03D5-74AA9C6D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41FC3251-237E-C110-E587-7A5769562277}"/>
              </a:ext>
            </a:extLst>
          </p:cNvPr>
          <p:cNvGrpSpPr/>
          <p:nvPr/>
        </p:nvGrpSpPr>
        <p:grpSpPr>
          <a:xfrm>
            <a:off x="228600" y="4163530"/>
            <a:ext cx="8686800" cy="868680"/>
            <a:chOff x="228600" y="4163530"/>
            <a:chExt cx="8686800" cy="868680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26C50310-0935-01F4-59A1-2384B7726B87}"/>
                </a:ext>
              </a:extLst>
            </p:cNvPr>
            <p:cNvSpPr/>
            <p:nvPr/>
          </p:nvSpPr>
          <p:spPr>
            <a:xfrm>
              <a:off x="228600" y="4163530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F4760D5-C26A-DE23-B5F8-1D294CA0D516}"/>
                </a:ext>
              </a:extLst>
            </p:cNvPr>
            <p:cNvSpPr/>
            <p:nvPr/>
          </p:nvSpPr>
          <p:spPr>
            <a:xfrm>
              <a:off x="7589520" y="4273258"/>
              <a:ext cx="1143000" cy="658368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90B2AED5-4180-4842-FA6D-65B77967566D}"/>
              </a:ext>
            </a:extLst>
          </p:cNvPr>
          <p:cNvGrpSpPr/>
          <p:nvPr/>
        </p:nvGrpSpPr>
        <p:grpSpPr>
          <a:xfrm>
            <a:off x="228600" y="3175978"/>
            <a:ext cx="8686800" cy="868680"/>
            <a:chOff x="228600" y="3175978"/>
            <a:chExt cx="8686800" cy="868680"/>
          </a:xfrm>
        </p:grpSpPr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7D0986F7-8E0A-B7B0-2BFB-A25F09123008}"/>
                </a:ext>
              </a:extLst>
            </p:cNvPr>
            <p:cNvSpPr/>
            <p:nvPr/>
          </p:nvSpPr>
          <p:spPr>
            <a:xfrm>
              <a:off x="228600" y="3175978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2A05EF53-8D1B-30D9-0281-E993D462437F}"/>
                </a:ext>
              </a:extLst>
            </p:cNvPr>
            <p:cNvSpPr/>
            <p:nvPr/>
          </p:nvSpPr>
          <p:spPr>
            <a:xfrm>
              <a:off x="7589520" y="3285706"/>
              <a:ext cx="1143000" cy="658368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AA82FE3C-D6F3-0DBC-FC39-983086D8AE37}"/>
              </a:ext>
            </a:extLst>
          </p:cNvPr>
          <p:cNvGrpSpPr/>
          <p:nvPr/>
        </p:nvGrpSpPr>
        <p:grpSpPr>
          <a:xfrm>
            <a:off x="228600" y="2188426"/>
            <a:ext cx="8686800" cy="868680"/>
            <a:chOff x="228600" y="2188426"/>
            <a:chExt cx="8686800" cy="868680"/>
          </a:xfrm>
        </p:grpSpPr>
        <p:sp>
          <p:nvSpPr>
            <p:cNvPr id="34" name="Shape 10">
              <a:extLst>
                <a:ext uri="{FF2B5EF4-FFF2-40B4-BE49-F238E27FC236}">
                  <a16:creationId xmlns:a16="http://schemas.microsoft.com/office/drawing/2014/main" id="{25AE73C7-C532-29D3-AF29-BAFB588EED91}"/>
                </a:ext>
              </a:extLst>
            </p:cNvPr>
            <p:cNvSpPr/>
            <p:nvPr/>
          </p:nvSpPr>
          <p:spPr>
            <a:xfrm>
              <a:off x="228600" y="2188426"/>
              <a:ext cx="8686800" cy="8686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Shape 14">
              <a:extLst>
                <a:ext uri="{FF2B5EF4-FFF2-40B4-BE49-F238E27FC236}">
                  <a16:creationId xmlns:a16="http://schemas.microsoft.com/office/drawing/2014/main" id="{2BFB3B6A-A3EE-C838-2BD3-2E9C4400129F}"/>
                </a:ext>
              </a:extLst>
            </p:cNvPr>
            <p:cNvSpPr/>
            <p:nvPr/>
          </p:nvSpPr>
          <p:spPr>
            <a:xfrm>
              <a:off x="7589520" y="2298154"/>
              <a:ext cx="1143000" cy="658368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C41920DC-B8A4-3F1D-DDA4-6BDD78850A17}"/>
              </a:ext>
            </a:extLst>
          </p:cNvPr>
          <p:cNvGrpSpPr/>
          <p:nvPr/>
        </p:nvGrpSpPr>
        <p:grpSpPr>
          <a:xfrm>
            <a:off x="228600" y="1200874"/>
            <a:ext cx="8686800" cy="868680"/>
            <a:chOff x="228600" y="1200874"/>
            <a:chExt cx="8686800" cy="86868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7A6952B0-881E-FBBA-C953-70001A46403D}"/>
                </a:ext>
              </a:extLst>
            </p:cNvPr>
            <p:cNvSpPr/>
            <p:nvPr/>
          </p:nvSpPr>
          <p:spPr>
            <a:xfrm>
              <a:off x="228600" y="1200874"/>
              <a:ext cx="8686800" cy="868680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72D68B5A-91BE-2DD4-9652-FF0BD8496581}"/>
                </a:ext>
              </a:extLst>
            </p:cNvPr>
            <p:cNvSpPr/>
            <p:nvPr/>
          </p:nvSpPr>
          <p:spPr>
            <a:xfrm>
              <a:off x="7589520" y="1310602"/>
              <a:ext cx="1143000" cy="658368"/>
            </a:xfrm>
            <a:prstGeom prst="rect">
              <a:avLst/>
            </a:prstGeom>
            <a:solidFill>
              <a:srgbClr val="E8650A"/>
            </a:solidFill>
            <a:ln w="12700">
              <a:solidFill>
                <a:srgbClr val="E8650A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Shape 5">
            <a:extLst>
              <a:ext uri="{FF2B5EF4-FFF2-40B4-BE49-F238E27FC236}">
                <a16:creationId xmlns:a16="http://schemas.microsoft.com/office/drawing/2014/main" id="{55F6B949-AE33-78CB-A791-1DF1E5CB1538}"/>
              </a:ext>
            </a:extLst>
          </p:cNvPr>
          <p:cNvSpPr/>
          <p:nvPr/>
        </p:nvSpPr>
        <p:spPr>
          <a:xfrm>
            <a:off x="228600" y="1200874"/>
            <a:ext cx="164592" cy="86868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6CBD128-2E6B-ED64-4A24-5571BB1B0817}"/>
              </a:ext>
            </a:extLst>
          </p:cNvPr>
          <p:cNvSpPr/>
          <p:nvPr/>
        </p:nvSpPr>
        <p:spPr>
          <a:xfrm>
            <a:off x="-3098749" y="15057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3C15F320-6061-ED66-2BA2-A2255B782A06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DB95CA80-6CDF-8F83-9FE2-2D4D5555BFD6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E1632F14-C469-723F-CC2A-538ED5FCF34F}"/>
              </a:ext>
            </a:extLst>
          </p:cNvPr>
          <p:cNvSpPr/>
          <p:nvPr/>
        </p:nvSpPr>
        <p:spPr>
          <a:xfrm>
            <a:off x="228600" y="2188426"/>
            <a:ext cx="16459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24EA2C4B-564D-E62A-1E21-6DFDCFF99BB3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56CC7043-282C-AE71-49B1-2D2EE531464D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90161D23-B346-31BF-FF7D-733D62D0F4D1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563537A7-C29F-2A2D-C6EE-91E664D99DE0}"/>
              </a:ext>
            </a:extLst>
          </p:cNvPr>
          <p:cNvSpPr/>
          <p:nvPr/>
        </p:nvSpPr>
        <p:spPr>
          <a:xfrm>
            <a:off x="228600" y="3175978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2B2DF5F7-0332-6DE0-E44E-1928B53624DE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0FDAE84B-7673-54C4-B0EA-FC39227E7C08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7E945E0-D4D2-889B-9B04-99943C176E51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89A9D2C0-8F69-4A55-E0BA-22283573E73A}"/>
              </a:ext>
            </a:extLst>
          </p:cNvPr>
          <p:cNvSpPr/>
          <p:nvPr/>
        </p:nvSpPr>
        <p:spPr>
          <a:xfrm>
            <a:off x="228600" y="4163530"/>
            <a:ext cx="164592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653EF2C2-A035-D739-8FAE-3BCFA9D42DEA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123C10E7-BD09-97C6-A5B5-5771F3778290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E950EDF5-DA8F-B82D-FBE7-98A7982470AF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A27972B-39B6-CF9E-1CE8-00A2EFA0B519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B21D54A-7530-537C-F5D3-54AF05C8E350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0A1E72A6-4BF4-2B3C-366B-B9E7800F5965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Drivers economici 2025 - 2028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50BEC578-911A-6C93-F143-B6C3D367D7F4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40D22DD-9D07-ECE6-DDBA-707EF41F867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50874DC6-E96E-D18C-ADA4-56FBC168186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8FCCAC1F-2326-19B3-FFC6-950A454358A8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A171127-86F4-8AFC-B152-1343FE18683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91287A93-76F4-6D6B-494B-7D3C30AF9F6E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75439C90-D1B7-94A2-EDCC-27C28A7F13B7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2288F03-971A-F4CB-E2AB-A72A2CF33F85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5CA67B2-FED9-B583-51DC-42F70CEEF5EF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1179D860-321A-8C8C-00CF-37A0D6EDD484}"/>
              </a:ext>
            </a:extLst>
          </p:cNvPr>
          <p:cNvSpPr/>
          <p:nvPr/>
        </p:nvSpPr>
        <p:spPr>
          <a:xfrm>
            <a:off x="1371600" y="84468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variazioni attese nel quadriennio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CF220BB-5403-B9A4-5290-AA5586F0DCFE}"/>
              </a:ext>
            </a:extLst>
          </p:cNvPr>
          <p:cNvSpPr/>
          <p:nvPr/>
        </p:nvSpPr>
        <p:spPr>
          <a:xfrm>
            <a:off x="548640" y="136546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E6D5E2C-3748-4287-4EC2-2687AE4D86AA}"/>
              </a:ext>
            </a:extLst>
          </p:cNvPr>
          <p:cNvSpPr/>
          <p:nvPr/>
        </p:nvSpPr>
        <p:spPr>
          <a:xfrm>
            <a:off x="3474720" y="140204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32DB2B2-E80F-5A59-506F-B4B66D3F7CF8}"/>
              </a:ext>
            </a:extLst>
          </p:cNvPr>
          <p:cNvSpPr/>
          <p:nvPr/>
        </p:nvSpPr>
        <p:spPr>
          <a:xfrm>
            <a:off x="7589520" y="136546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C7F00075-325B-D094-9BEC-527F83CC24ED}"/>
              </a:ext>
            </a:extLst>
          </p:cNvPr>
          <p:cNvSpPr/>
          <p:nvPr/>
        </p:nvSpPr>
        <p:spPr>
          <a:xfrm>
            <a:off x="548640" y="235301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2A256E4E-C6D5-6149-CAD6-20D126BFE709}"/>
              </a:ext>
            </a:extLst>
          </p:cNvPr>
          <p:cNvSpPr/>
          <p:nvPr/>
        </p:nvSpPr>
        <p:spPr>
          <a:xfrm>
            <a:off x="3474720" y="238959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C61A2D39-7851-781B-526B-395D464AE7F4}"/>
              </a:ext>
            </a:extLst>
          </p:cNvPr>
          <p:cNvSpPr/>
          <p:nvPr/>
        </p:nvSpPr>
        <p:spPr>
          <a:xfrm>
            <a:off x="7589520" y="2353018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99A3EBBA-2A52-4D7A-EF61-84ECBF7AD8BC}"/>
              </a:ext>
            </a:extLst>
          </p:cNvPr>
          <p:cNvSpPr/>
          <p:nvPr/>
        </p:nvSpPr>
        <p:spPr>
          <a:xfrm>
            <a:off x="548640" y="334057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8486E02D-1866-18F8-AE5C-3EAD4E766FB8}"/>
              </a:ext>
            </a:extLst>
          </p:cNvPr>
          <p:cNvSpPr/>
          <p:nvPr/>
        </p:nvSpPr>
        <p:spPr>
          <a:xfrm>
            <a:off x="3474720" y="337714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14663D9A-3D6A-B653-A6EB-95D1DC25CE2E}"/>
              </a:ext>
            </a:extLst>
          </p:cNvPr>
          <p:cNvSpPr/>
          <p:nvPr/>
        </p:nvSpPr>
        <p:spPr>
          <a:xfrm>
            <a:off x="7589520" y="334057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3860A120-9A80-6AF6-7973-86E6393E29B8}"/>
              </a:ext>
            </a:extLst>
          </p:cNvPr>
          <p:cNvSpPr/>
          <p:nvPr/>
        </p:nvSpPr>
        <p:spPr>
          <a:xfrm>
            <a:off x="548640" y="432812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7BD735CB-A0C5-D238-2E9B-CB3768D72488}"/>
              </a:ext>
            </a:extLst>
          </p:cNvPr>
          <p:cNvSpPr/>
          <p:nvPr/>
        </p:nvSpPr>
        <p:spPr>
          <a:xfrm>
            <a:off x="3474720" y="436469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B406A0AF-EAFA-B329-5D7D-0DC42C2A3E62}"/>
              </a:ext>
            </a:extLst>
          </p:cNvPr>
          <p:cNvSpPr/>
          <p:nvPr/>
        </p:nvSpPr>
        <p:spPr>
          <a:xfrm>
            <a:off x="7589520" y="432812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8941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4164-7AD8-0B7A-83F1-6B55E2F3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6">
            <a:extLst>
              <a:ext uri="{FF2B5EF4-FFF2-40B4-BE49-F238E27FC236}">
                <a16:creationId xmlns:a16="http://schemas.microsoft.com/office/drawing/2014/main" id="{12861727-A460-D21A-3D37-E413A059766D}"/>
              </a:ext>
            </a:extLst>
          </p:cNvPr>
          <p:cNvSpPr/>
          <p:nvPr/>
        </p:nvSpPr>
        <p:spPr>
          <a:xfrm>
            <a:off x="6108192" y="1553209"/>
            <a:ext cx="274320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06C112E3-9BF8-97F6-9E81-CBCFB3E8C18D}"/>
              </a:ext>
            </a:extLst>
          </p:cNvPr>
          <p:cNvSpPr/>
          <p:nvPr/>
        </p:nvSpPr>
        <p:spPr>
          <a:xfrm>
            <a:off x="6108192" y="1553209"/>
            <a:ext cx="27432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99B3BF5-FE5E-26B5-75F8-E287FADA9940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OFERTA REG-TECH</a:t>
            </a:r>
            <a:endParaRPr lang="en-US" sz="10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943EE1F-8655-6177-60AF-A61C32E28107}"/>
              </a:ext>
            </a:extLst>
          </p:cNvPr>
          <p:cNvSpPr/>
          <p:nvPr/>
        </p:nvSpPr>
        <p:spPr>
          <a:xfrm>
            <a:off x="164592" y="1553209"/>
            <a:ext cx="274320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25125124-52BD-EF74-3010-A53E3B4FEE57}"/>
              </a:ext>
            </a:extLst>
          </p:cNvPr>
          <p:cNvSpPr/>
          <p:nvPr/>
        </p:nvSpPr>
        <p:spPr>
          <a:xfrm>
            <a:off x="164592" y="1553209"/>
            <a:ext cx="2743200" cy="4572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74D2D2D-C230-058E-6D94-AE114A03B5A0}"/>
              </a:ext>
            </a:extLst>
          </p:cNvPr>
          <p:cNvSpPr/>
          <p:nvPr/>
        </p:nvSpPr>
        <p:spPr>
          <a:xfrm>
            <a:off x="2377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B15EC60F-B16C-97B5-7ECA-D2686340344F}"/>
              </a:ext>
            </a:extLst>
          </p:cNvPr>
          <p:cNvSpPr/>
          <p:nvPr/>
        </p:nvSpPr>
        <p:spPr>
          <a:xfrm>
            <a:off x="850392" y="2101849"/>
            <a:ext cx="1371600" cy="5943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0B2CE2DB-866D-B730-4955-6CA6D20E88FB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F858A89-4356-D9EA-5E29-EA9F75C242FB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BA63F7EA-7B2F-D3B1-80F8-5FF7056D3941}"/>
              </a:ext>
            </a:extLst>
          </p:cNvPr>
          <p:cNvSpPr/>
          <p:nvPr/>
        </p:nvSpPr>
        <p:spPr>
          <a:xfrm>
            <a:off x="3136392" y="1553209"/>
            <a:ext cx="274320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88352EE7-1AED-2DCE-00B6-2CFE004CD455}"/>
              </a:ext>
            </a:extLst>
          </p:cNvPr>
          <p:cNvSpPr/>
          <p:nvPr/>
        </p:nvSpPr>
        <p:spPr>
          <a:xfrm>
            <a:off x="3136392" y="1553209"/>
            <a:ext cx="2743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059279D4-823F-6741-70C4-CEA5B2AE7751}"/>
              </a:ext>
            </a:extLst>
          </p:cNvPr>
          <p:cNvSpPr/>
          <p:nvPr/>
        </p:nvSpPr>
        <p:spPr>
          <a:xfrm>
            <a:off x="32095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7B43C063-9A30-ABA9-3372-AE077811AAC3}"/>
              </a:ext>
            </a:extLst>
          </p:cNvPr>
          <p:cNvSpPr/>
          <p:nvPr/>
        </p:nvSpPr>
        <p:spPr>
          <a:xfrm>
            <a:off x="3822192" y="2101849"/>
            <a:ext cx="1371600" cy="5943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B30EDF4-E211-5BB6-2BBB-B64C71BC91EB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2BE05EE3-A755-0DEF-31CC-6659388E872C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21DA5CB6-E562-2DE5-3E55-DE15FFF0E5E4}"/>
              </a:ext>
            </a:extLst>
          </p:cNvPr>
          <p:cNvSpPr/>
          <p:nvPr/>
        </p:nvSpPr>
        <p:spPr>
          <a:xfrm>
            <a:off x="6793992" y="2101849"/>
            <a:ext cx="1371600" cy="5943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5B5B426D-7072-DD7C-A599-40256AC21957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1B119CE-8C87-ECBC-15B1-5F32AF58918C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E376300-1125-DB0A-9FA9-D14693C564AC}"/>
              </a:ext>
            </a:extLst>
          </p:cNvPr>
          <p:cNvGrpSpPr/>
          <p:nvPr/>
        </p:nvGrpSpPr>
        <p:grpSpPr>
          <a:xfrm>
            <a:off x="3204931" y="-30378"/>
            <a:ext cx="8586008" cy="784830"/>
            <a:chOff x="177159" y="-122881"/>
            <a:chExt cx="4715219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3DC4BEEA-FBCC-D3D3-36DE-81B1CA208B72}"/>
                </a:ext>
              </a:extLst>
            </p:cNvPr>
            <p:cNvSpPr/>
            <p:nvPr/>
          </p:nvSpPr>
          <p:spPr>
            <a:xfrm>
              <a:off x="177159" y="-122881"/>
              <a:ext cx="4715219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83C04DC-BA4F-8BF0-CD54-9224991A0942}"/>
                </a:ext>
              </a:extLst>
            </p:cNvPr>
            <p:cNvSpPr txBox="1"/>
            <p:nvPr/>
          </p:nvSpPr>
          <p:spPr>
            <a:xfrm>
              <a:off x="314204" y="31325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Target ricavi 2025 - 2028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D87F51E8-50C3-F244-0EBF-0EB184CD3E50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1B22339-840B-8264-1EE2-A72963E91953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BA573BE-3DB4-F52C-8112-5A88BAE1A055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3C616AF4-BF45-1910-970D-F2E2F18BE3C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5E03885-C7CB-BDF7-08D4-DECCF37D7EC7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9C0C87DC-E62A-85F9-9AD4-4189A69CCC5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89B3856D-A24A-C600-1DE1-A954DB2B6CDC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9B176457-0AFB-D748-150F-9B98681FB096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8F3EA5CA-33E6-C3E3-16D6-DF2DC1C0878D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95E7FB9-6E89-D3CC-A317-1079289090E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7" name="Text 3">
            <a:extLst>
              <a:ext uri="{FF2B5EF4-FFF2-40B4-BE49-F238E27FC236}">
                <a16:creationId xmlns:a16="http://schemas.microsoft.com/office/drawing/2014/main" id="{9F75E9CB-30D6-428B-CE7D-AC98F28DC89F}"/>
              </a:ext>
            </a:extLst>
          </p:cNvPr>
          <p:cNvSpPr/>
          <p:nvPr/>
        </p:nvSpPr>
        <p:spPr>
          <a:xfrm>
            <a:off x="3204931" y="84649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attesa per pillar di servizio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976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503E-B9F7-6827-AD07-86EC5585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6">
            <a:extLst>
              <a:ext uri="{FF2B5EF4-FFF2-40B4-BE49-F238E27FC236}">
                <a16:creationId xmlns:a16="http://schemas.microsoft.com/office/drawing/2014/main" id="{CA786E8B-6A66-DB83-7CDE-1F50D6EB2586}"/>
              </a:ext>
            </a:extLst>
          </p:cNvPr>
          <p:cNvSpPr/>
          <p:nvPr/>
        </p:nvSpPr>
        <p:spPr>
          <a:xfrm>
            <a:off x="6108192" y="1553209"/>
            <a:ext cx="274320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1AF49319-8762-FBAD-FF2B-9ECAE7E39218}"/>
              </a:ext>
            </a:extLst>
          </p:cNvPr>
          <p:cNvSpPr/>
          <p:nvPr/>
        </p:nvSpPr>
        <p:spPr>
          <a:xfrm>
            <a:off x="6108192" y="1553209"/>
            <a:ext cx="27432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2A5F97B0-9B1A-180E-E288-D1CDBB2D9D1A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OFERTA REG-TECH</a:t>
            </a:r>
            <a:endParaRPr lang="en-US" sz="10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A9F415C3-2105-64EF-4DD3-375456D834ED}"/>
              </a:ext>
            </a:extLst>
          </p:cNvPr>
          <p:cNvSpPr/>
          <p:nvPr/>
        </p:nvSpPr>
        <p:spPr>
          <a:xfrm>
            <a:off x="164592" y="1553208"/>
            <a:ext cx="2743200" cy="3590291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CD03896C-BF28-212E-1DC8-AF01DD8A2C2D}"/>
              </a:ext>
            </a:extLst>
          </p:cNvPr>
          <p:cNvSpPr/>
          <p:nvPr/>
        </p:nvSpPr>
        <p:spPr>
          <a:xfrm>
            <a:off x="164592" y="1553209"/>
            <a:ext cx="2743200" cy="4572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EE444C0-86D1-AAFA-CCD0-84FB7C66D93A}"/>
              </a:ext>
            </a:extLst>
          </p:cNvPr>
          <p:cNvSpPr/>
          <p:nvPr/>
        </p:nvSpPr>
        <p:spPr>
          <a:xfrm>
            <a:off x="2377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C57B1F24-374F-CE65-0C0D-260FBCF461FA}"/>
              </a:ext>
            </a:extLst>
          </p:cNvPr>
          <p:cNvSpPr/>
          <p:nvPr/>
        </p:nvSpPr>
        <p:spPr>
          <a:xfrm>
            <a:off x="850392" y="2101849"/>
            <a:ext cx="1371600" cy="5943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DB501093-8979-ADCC-87BA-45AB3732E2FD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AA8C817D-F43B-5B17-04DD-C309F0046BD3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FD746439-7833-C306-F1D9-BF73A1D523DF}"/>
              </a:ext>
            </a:extLst>
          </p:cNvPr>
          <p:cNvSpPr/>
          <p:nvPr/>
        </p:nvSpPr>
        <p:spPr>
          <a:xfrm>
            <a:off x="3136392" y="1553209"/>
            <a:ext cx="274320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D0D6866-2F48-2568-AF75-BA6ECC004D77}"/>
              </a:ext>
            </a:extLst>
          </p:cNvPr>
          <p:cNvSpPr/>
          <p:nvPr/>
        </p:nvSpPr>
        <p:spPr>
          <a:xfrm>
            <a:off x="3136392" y="1553209"/>
            <a:ext cx="2743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70657711-6144-943B-7D7E-9310278F2016}"/>
              </a:ext>
            </a:extLst>
          </p:cNvPr>
          <p:cNvSpPr/>
          <p:nvPr/>
        </p:nvSpPr>
        <p:spPr>
          <a:xfrm>
            <a:off x="32095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55FCF9CE-D11E-FED7-6377-75B02033EE56}"/>
              </a:ext>
            </a:extLst>
          </p:cNvPr>
          <p:cNvSpPr/>
          <p:nvPr/>
        </p:nvSpPr>
        <p:spPr>
          <a:xfrm>
            <a:off x="3822192" y="2101849"/>
            <a:ext cx="1371600" cy="5943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37624760-ABF8-FF49-7DA2-A6EFBE795F47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9DA7C584-0C89-425B-CF2B-0E43C106CECE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44069E41-2323-91A8-5656-02D2B3A1BB83}"/>
              </a:ext>
            </a:extLst>
          </p:cNvPr>
          <p:cNvSpPr/>
          <p:nvPr/>
        </p:nvSpPr>
        <p:spPr>
          <a:xfrm>
            <a:off x="6793992" y="2101849"/>
            <a:ext cx="1371600" cy="5943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D1ECA0E4-AA25-DB07-398B-89AE83E5D0D9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D2F68CB4-82CE-BDA1-1899-BCFD4DC0FE96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A772FAFD-4645-AD9B-3C35-D75CB95A3FA6}"/>
              </a:ext>
            </a:extLst>
          </p:cNvPr>
          <p:cNvGrpSpPr/>
          <p:nvPr/>
        </p:nvGrpSpPr>
        <p:grpSpPr>
          <a:xfrm>
            <a:off x="3204931" y="-30378"/>
            <a:ext cx="8586008" cy="784830"/>
            <a:chOff x="177159" y="-122881"/>
            <a:chExt cx="4715219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6A5F81F3-DE06-3A7A-C148-FD8C2B776087}"/>
                </a:ext>
              </a:extLst>
            </p:cNvPr>
            <p:cNvSpPr/>
            <p:nvPr/>
          </p:nvSpPr>
          <p:spPr>
            <a:xfrm>
              <a:off x="177159" y="-122881"/>
              <a:ext cx="4715219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E7FE1A2E-D86F-1EB5-D2A0-0154DB99349E}"/>
                </a:ext>
              </a:extLst>
            </p:cNvPr>
            <p:cNvSpPr txBox="1"/>
            <p:nvPr/>
          </p:nvSpPr>
          <p:spPr>
            <a:xfrm>
              <a:off x="314204" y="31325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Target ricavi 2025 - 2028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EF05D448-1295-C045-A690-0ABAB06BF837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48A93AC2-32E7-182A-0B6A-D2C0B68D36B3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84BB2BC-5921-6A05-DE8F-13A3745989D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0D42B782-FF67-83D9-128B-8CFB21C5ADB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FBBD8D01-D0B7-5225-888B-FCADBC2E144B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F9969BF0-E529-346E-EF47-2D498C4848C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BDBA1131-1C72-302B-C225-FC09019EFBEA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CC5E5FC7-6A04-2F64-60A7-3B1A6EBBD247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3AF6571C-F5C6-4351-C90D-2A8C8E3A8484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295903F7-7A95-48DD-8445-60CE93926B1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7" name="Text 3">
            <a:extLst>
              <a:ext uri="{FF2B5EF4-FFF2-40B4-BE49-F238E27FC236}">
                <a16:creationId xmlns:a16="http://schemas.microsoft.com/office/drawing/2014/main" id="{76E5598C-3B77-5316-EF8B-729CB24ECFE4}"/>
              </a:ext>
            </a:extLst>
          </p:cNvPr>
          <p:cNvSpPr/>
          <p:nvPr/>
        </p:nvSpPr>
        <p:spPr>
          <a:xfrm>
            <a:off x="3204931" y="84649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attesa per pillar di servizio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E7F4C6BF-0991-3791-491A-796E83BECF89}"/>
              </a:ext>
            </a:extLst>
          </p:cNvPr>
          <p:cNvSpPr/>
          <p:nvPr/>
        </p:nvSpPr>
        <p:spPr>
          <a:xfrm>
            <a:off x="850392" y="212013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0597453C-E668-2183-A854-BE141A5A09FE}"/>
              </a:ext>
            </a:extLst>
          </p:cNvPr>
          <p:cNvSpPr/>
          <p:nvPr/>
        </p:nvSpPr>
        <p:spPr>
          <a:xfrm>
            <a:off x="274320" y="281508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29062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D1057-D78E-4300-25E7-9C821624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6">
            <a:extLst>
              <a:ext uri="{FF2B5EF4-FFF2-40B4-BE49-F238E27FC236}">
                <a16:creationId xmlns:a16="http://schemas.microsoft.com/office/drawing/2014/main" id="{A179855F-FFBE-3847-C052-A9EE9DCFF5F9}"/>
              </a:ext>
            </a:extLst>
          </p:cNvPr>
          <p:cNvSpPr/>
          <p:nvPr/>
        </p:nvSpPr>
        <p:spPr>
          <a:xfrm>
            <a:off x="6108192" y="1553209"/>
            <a:ext cx="274320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8C0F674D-F8F6-A108-05DF-92B5F94A19F9}"/>
              </a:ext>
            </a:extLst>
          </p:cNvPr>
          <p:cNvSpPr/>
          <p:nvPr/>
        </p:nvSpPr>
        <p:spPr>
          <a:xfrm>
            <a:off x="6108192" y="1553209"/>
            <a:ext cx="27432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877213B0-0053-FC18-9C76-A480D5827D75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OFERTA REG-TECH</a:t>
            </a:r>
            <a:endParaRPr lang="en-US" sz="10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55A31634-973A-052C-14C9-4C78997C401B}"/>
              </a:ext>
            </a:extLst>
          </p:cNvPr>
          <p:cNvSpPr/>
          <p:nvPr/>
        </p:nvSpPr>
        <p:spPr>
          <a:xfrm>
            <a:off x="164592" y="1553208"/>
            <a:ext cx="2743200" cy="3590291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68C65B94-61FD-C1D0-EB1C-9AB3EFBE522D}"/>
              </a:ext>
            </a:extLst>
          </p:cNvPr>
          <p:cNvSpPr/>
          <p:nvPr/>
        </p:nvSpPr>
        <p:spPr>
          <a:xfrm>
            <a:off x="164592" y="1553209"/>
            <a:ext cx="2743200" cy="4572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EAF49706-EA35-3D85-F63D-3A4457F0B779}"/>
              </a:ext>
            </a:extLst>
          </p:cNvPr>
          <p:cNvSpPr/>
          <p:nvPr/>
        </p:nvSpPr>
        <p:spPr>
          <a:xfrm>
            <a:off x="2377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6806FE0-E5D8-558A-C2A9-25E0AD19DC75}"/>
              </a:ext>
            </a:extLst>
          </p:cNvPr>
          <p:cNvSpPr/>
          <p:nvPr/>
        </p:nvSpPr>
        <p:spPr>
          <a:xfrm>
            <a:off x="850392" y="2101849"/>
            <a:ext cx="1371600" cy="5943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809A653A-4C7D-A66B-FDD2-4CA8AA1334E9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6AC9CAD0-F486-53BB-FF5E-3D4E47B1CF93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EC1234EF-3C7B-48AA-9414-2357BC33318A}"/>
              </a:ext>
            </a:extLst>
          </p:cNvPr>
          <p:cNvSpPr/>
          <p:nvPr/>
        </p:nvSpPr>
        <p:spPr>
          <a:xfrm>
            <a:off x="3136392" y="1553208"/>
            <a:ext cx="2743200" cy="3590291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8E19359-24FF-8FE9-8359-B34CDAA34D4D}"/>
              </a:ext>
            </a:extLst>
          </p:cNvPr>
          <p:cNvSpPr/>
          <p:nvPr/>
        </p:nvSpPr>
        <p:spPr>
          <a:xfrm>
            <a:off x="3136392" y="1553209"/>
            <a:ext cx="2743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D997C610-D330-0ACD-B8EA-1EB4DCAD057C}"/>
              </a:ext>
            </a:extLst>
          </p:cNvPr>
          <p:cNvSpPr/>
          <p:nvPr/>
        </p:nvSpPr>
        <p:spPr>
          <a:xfrm>
            <a:off x="32095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1B788B98-18EF-CBE6-6FDD-D62081E78C68}"/>
              </a:ext>
            </a:extLst>
          </p:cNvPr>
          <p:cNvSpPr/>
          <p:nvPr/>
        </p:nvSpPr>
        <p:spPr>
          <a:xfrm>
            <a:off x="3822192" y="2101849"/>
            <a:ext cx="1371600" cy="5943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DD4A062-60B4-5391-554F-BBA961D92EEB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CF8CDC02-EE16-9460-F796-704B56ACA0DF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64872EA7-30E9-B6AD-2A31-3AC45C98AD79}"/>
              </a:ext>
            </a:extLst>
          </p:cNvPr>
          <p:cNvSpPr/>
          <p:nvPr/>
        </p:nvSpPr>
        <p:spPr>
          <a:xfrm>
            <a:off x="6793992" y="2101849"/>
            <a:ext cx="1371600" cy="5943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5BDB7000-A56B-5BAA-386F-5237C731BE4E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6F11600F-62E4-F060-75C7-3B0BBDB0A268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CAB6AFAA-C04A-9454-EACE-2E532A36EB7E}"/>
              </a:ext>
            </a:extLst>
          </p:cNvPr>
          <p:cNvGrpSpPr/>
          <p:nvPr/>
        </p:nvGrpSpPr>
        <p:grpSpPr>
          <a:xfrm>
            <a:off x="3204931" y="-30378"/>
            <a:ext cx="8586008" cy="784830"/>
            <a:chOff x="177159" y="-122881"/>
            <a:chExt cx="4715219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393C6DAA-B5E3-5E42-6BAF-7FB4F6BCBC4B}"/>
                </a:ext>
              </a:extLst>
            </p:cNvPr>
            <p:cNvSpPr/>
            <p:nvPr/>
          </p:nvSpPr>
          <p:spPr>
            <a:xfrm>
              <a:off x="177159" y="-122881"/>
              <a:ext cx="4715219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09C466C9-210B-A366-DAD0-1CA801DA5BE0}"/>
                </a:ext>
              </a:extLst>
            </p:cNvPr>
            <p:cNvSpPr txBox="1"/>
            <p:nvPr/>
          </p:nvSpPr>
          <p:spPr>
            <a:xfrm>
              <a:off x="314204" y="31325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Target ricavi 2025 - 2028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83CC126E-DFF6-D4FC-C0C9-09553C49FBED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EFBE56A-B7B6-2ABD-CE34-17CDCAA6376B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8DA689F-6D77-D98E-5F0C-7657AB8A058A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D6D9933-0CCA-4EEA-72A4-5E13EC700A2D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513BFC0A-E200-4CF4-E699-37F9E8B66FD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1919EE0D-8AE1-13F5-523F-68E2D362C34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F8F6676-E44A-9D03-FE57-8C0E513483B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6828939A-BA50-721D-3AE2-95F89764DD85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B947B5B-B606-7007-D21C-2D48D866E690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D7A2B0E9-E8C0-D0F1-63B1-427E99C16F32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7" name="Text 3">
            <a:extLst>
              <a:ext uri="{FF2B5EF4-FFF2-40B4-BE49-F238E27FC236}">
                <a16:creationId xmlns:a16="http://schemas.microsoft.com/office/drawing/2014/main" id="{9E35069A-0D35-307A-7A85-9015835E85C7}"/>
              </a:ext>
            </a:extLst>
          </p:cNvPr>
          <p:cNvSpPr/>
          <p:nvPr/>
        </p:nvSpPr>
        <p:spPr>
          <a:xfrm>
            <a:off x="3204931" y="84649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attesa per pillar di servizio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D034E13C-6599-350A-201E-B0B59A7360C5}"/>
              </a:ext>
            </a:extLst>
          </p:cNvPr>
          <p:cNvSpPr/>
          <p:nvPr/>
        </p:nvSpPr>
        <p:spPr>
          <a:xfrm>
            <a:off x="850392" y="212013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AD05620-C81D-55B8-A432-006670D2E54A}"/>
              </a:ext>
            </a:extLst>
          </p:cNvPr>
          <p:cNvSpPr/>
          <p:nvPr/>
        </p:nvSpPr>
        <p:spPr>
          <a:xfrm>
            <a:off x="274320" y="281508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64AA7F5A-9EC6-AA79-B852-C346E7A427F0}"/>
              </a:ext>
            </a:extLst>
          </p:cNvPr>
          <p:cNvSpPr/>
          <p:nvPr/>
        </p:nvSpPr>
        <p:spPr>
          <a:xfrm>
            <a:off x="3822192" y="212013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8E08C38D-239E-7FB2-9C95-AAC62850D33F}"/>
              </a:ext>
            </a:extLst>
          </p:cNvPr>
          <p:cNvSpPr/>
          <p:nvPr/>
        </p:nvSpPr>
        <p:spPr>
          <a:xfrm>
            <a:off x="3246120" y="281508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01887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99367-1294-247E-FB13-7B76490D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6">
            <a:extLst>
              <a:ext uri="{FF2B5EF4-FFF2-40B4-BE49-F238E27FC236}">
                <a16:creationId xmlns:a16="http://schemas.microsoft.com/office/drawing/2014/main" id="{4419987D-024A-50B3-C489-D1CF960D07CE}"/>
              </a:ext>
            </a:extLst>
          </p:cNvPr>
          <p:cNvSpPr/>
          <p:nvPr/>
        </p:nvSpPr>
        <p:spPr>
          <a:xfrm>
            <a:off x="6108192" y="1553209"/>
            <a:ext cx="2743200" cy="359029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4EF8ACF1-23D6-1899-9427-24E701CCDC38}"/>
              </a:ext>
            </a:extLst>
          </p:cNvPr>
          <p:cNvSpPr/>
          <p:nvPr/>
        </p:nvSpPr>
        <p:spPr>
          <a:xfrm>
            <a:off x="6108192" y="1553209"/>
            <a:ext cx="27432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3A4CD464-683E-5BA2-2553-3AEB23A057E7}"/>
              </a:ext>
            </a:extLst>
          </p:cNvPr>
          <p:cNvSpPr/>
          <p:nvPr/>
        </p:nvSpPr>
        <p:spPr>
          <a:xfrm>
            <a:off x="6131011" y="1582713"/>
            <a:ext cx="2560320" cy="367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CONSOLIDAMENTO OFERTA REG-TECH</a:t>
            </a:r>
            <a:endParaRPr lang="en-US" sz="10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8B7BA1FB-3104-7864-7AD4-A881A4448D2B}"/>
              </a:ext>
            </a:extLst>
          </p:cNvPr>
          <p:cNvSpPr/>
          <p:nvPr/>
        </p:nvSpPr>
        <p:spPr>
          <a:xfrm>
            <a:off x="164592" y="1553208"/>
            <a:ext cx="2743200" cy="3590291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E7B687EE-A6E8-864F-13DD-299C483BCBB0}"/>
              </a:ext>
            </a:extLst>
          </p:cNvPr>
          <p:cNvSpPr/>
          <p:nvPr/>
        </p:nvSpPr>
        <p:spPr>
          <a:xfrm>
            <a:off x="164592" y="1553209"/>
            <a:ext cx="2743200" cy="4572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3E65528-0396-11FE-6422-9F9854F78353}"/>
              </a:ext>
            </a:extLst>
          </p:cNvPr>
          <p:cNvSpPr/>
          <p:nvPr/>
        </p:nvSpPr>
        <p:spPr>
          <a:xfrm>
            <a:off x="2377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CONTROLLO</a:t>
            </a:r>
            <a:endParaRPr lang="en-US" sz="10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D40D071A-D66D-D809-F00C-0D91C0585854}"/>
              </a:ext>
            </a:extLst>
          </p:cNvPr>
          <p:cNvSpPr/>
          <p:nvPr/>
        </p:nvSpPr>
        <p:spPr>
          <a:xfrm>
            <a:off x="850392" y="2101849"/>
            <a:ext cx="1371600" cy="59436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E9BC884-DFC2-0609-28F9-30EC0FAE4E09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4EB167D4-C86C-36CF-EC9A-1A58E18BDC1E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F023A85-175D-ABA2-7045-1714AB73B90F}"/>
              </a:ext>
            </a:extLst>
          </p:cNvPr>
          <p:cNvSpPr/>
          <p:nvPr/>
        </p:nvSpPr>
        <p:spPr>
          <a:xfrm>
            <a:off x="3136392" y="1553208"/>
            <a:ext cx="2743200" cy="3590291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B702FBB9-91CF-1D69-74F2-E11BDFABD637}"/>
              </a:ext>
            </a:extLst>
          </p:cNvPr>
          <p:cNvSpPr/>
          <p:nvPr/>
        </p:nvSpPr>
        <p:spPr>
          <a:xfrm>
            <a:off x="3136392" y="1553209"/>
            <a:ext cx="2743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34817B2-AC83-3985-C7D9-916F4CD5F3CF}"/>
              </a:ext>
            </a:extLst>
          </p:cNvPr>
          <p:cNvSpPr/>
          <p:nvPr/>
        </p:nvSpPr>
        <p:spPr>
          <a:xfrm>
            <a:off x="3209544" y="160807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endParaRPr lang="en-US" sz="10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095EF5D5-036A-770C-331B-0A03949DDE5A}"/>
              </a:ext>
            </a:extLst>
          </p:cNvPr>
          <p:cNvSpPr/>
          <p:nvPr/>
        </p:nvSpPr>
        <p:spPr>
          <a:xfrm>
            <a:off x="3822192" y="2101849"/>
            <a:ext cx="1371600" cy="5943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A9E9AE31-7672-18EA-8E2F-A57A9BFE2442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5CEA2FD8-DD6B-88B0-356F-855E1292013E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7C76F1BB-5BF1-8A1B-DF6F-1164700A520D}"/>
              </a:ext>
            </a:extLst>
          </p:cNvPr>
          <p:cNvSpPr/>
          <p:nvPr/>
        </p:nvSpPr>
        <p:spPr>
          <a:xfrm>
            <a:off x="6793992" y="2101849"/>
            <a:ext cx="1371600" cy="5943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5A31634-89FE-6368-0469-02974B6C63A6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7AF518F-7483-90E1-309D-C7EC87463ABF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BA904368-FCDD-4AA8-84C1-BFAF878CF35D}"/>
              </a:ext>
            </a:extLst>
          </p:cNvPr>
          <p:cNvGrpSpPr/>
          <p:nvPr/>
        </p:nvGrpSpPr>
        <p:grpSpPr>
          <a:xfrm>
            <a:off x="3204931" y="-30378"/>
            <a:ext cx="8586008" cy="784830"/>
            <a:chOff x="177159" y="-122881"/>
            <a:chExt cx="4715219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6B05208-FD4B-93B1-1CAA-584A950C3D45}"/>
                </a:ext>
              </a:extLst>
            </p:cNvPr>
            <p:cNvSpPr/>
            <p:nvPr/>
          </p:nvSpPr>
          <p:spPr>
            <a:xfrm>
              <a:off x="177159" y="-122881"/>
              <a:ext cx="4715219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083C3C55-9653-A57C-6567-D1C4D34DFEBE}"/>
                </a:ext>
              </a:extLst>
            </p:cNvPr>
            <p:cNvSpPr txBox="1"/>
            <p:nvPr/>
          </p:nvSpPr>
          <p:spPr>
            <a:xfrm>
              <a:off x="314204" y="31325"/>
              <a:ext cx="3625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Target ricavi 2025 - 2028</a:t>
              </a:r>
            </a:p>
          </p:txBody>
        </p:sp>
      </p:grpSp>
      <p:sp>
        <p:nvSpPr>
          <p:cNvPr id="10" name="Rettangolo 9">
            <a:extLst>
              <a:ext uri="{FF2B5EF4-FFF2-40B4-BE49-F238E27FC236}">
                <a16:creationId xmlns:a16="http://schemas.microsoft.com/office/drawing/2014/main" id="{62B93A51-AA4E-8FAF-2287-2C5AA56B8E45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02E93ED4-182C-C227-E9F9-8580A2354E54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618DEE80-10E5-5C53-1B57-3B18C42D623C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98C8CB7-0BDC-63C0-A9EC-380B6EB25867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72E6DB9D-1FA7-152D-3F1F-E45C9B46010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D6635F01-D982-C223-D6ED-A62DE743687D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2987F4C1-734B-5434-638F-4957FC25B15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95DF338-7519-A90B-60CD-7BF894F7F28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9743BD66-9C79-47A5-95DF-7D6163C61B90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DB70255-FCE4-5B54-9485-C45FBAA7C1F3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7" name="Text 3">
            <a:extLst>
              <a:ext uri="{FF2B5EF4-FFF2-40B4-BE49-F238E27FC236}">
                <a16:creationId xmlns:a16="http://schemas.microsoft.com/office/drawing/2014/main" id="{D74BFC53-1C12-73A3-FDF1-2A9A224144D8}"/>
              </a:ext>
            </a:extLst>
          </p:cNvPr>
          <p:cNvSpPr/>
          <p:nvPr/>
        </p:nvSpPr>
        <p:spPr>
          <a:xfrm>
            <a:off x="3204931" y="84649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attesa per pillar di servizio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5A6E1BB7-A116-12B8-8C42-6EDE6DE6B7FD}"/>
              </a:ext>
            </a:extLst>
          </p:cNvPr>
          <p:cNvSpPr/>
          <p:nvPr/>
        </p:nvSpPr>
        <p:spPr>
          <a:xfrm>
            <a:off x="850392" y="212013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FAB45B61-EFBF-19E5-1315-5AAC1F61C177}"/>
              </a:ext>
            </a:extLst>
          </p:cNvPr>
          <p:cNvSpPr/>
          <p:nvPr/>
        </p:nvSpPr>
        <p:spPr>
          <a:xfrm>
            <a:off x="274320" y="281508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3F905CD5-5ECF-097E-5852-041B8BD02C41}"/>
              </a:ext>
            </a:extLst>
          </p:cNvPr>
          <p:cNvSpPr/>
          <p:nvPr/>
        </p:nvSpPr>
        <p:spPr>
          <a:xfrm>
            <a:off x="3822192" y="212013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BB49AACE-B158-2705-4F3A-A96CAAD21BC3}"/>
              </a:ext>
            </a:extLst>
          </p:cNvPr>
          <p:cNvSpPr/>
          <p:nvPr/>
        </p:nvSpPr>
        <p:spPr>
          <a:xfrm>
            <a:off x="3246120" y="281508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C2089FBF-D22C-F846-BA6A-DFBFBA8EAE6C}"/>
              </a:ext>
            </a:extLst>
          </p:cNvPr>
          <p:cNvSpPr/>
          <p:nvPr/>
        </p:nvSpPr>
        <p:spPr>
          <a:xfrm>
            <a:off x="6793992" y="212013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6FDC978E-DA32-E27C-E074-A853D7FFFE78}"/>
              </a:ext>
            </a:extLst>
          </p:cNvPr>
          <p:cNvSpPr/>
          <p:nvPr/>
        </p:nvSpPr>
        <p:spPr>
          <a:xfrm>
            <a:off x="6217920" y="281508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245160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6577-3440-0850-0AE9-14910D8D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">
            <a:extLst>
              <a:ext uri="{FF2B5EF4-FFF2-40B4-BE49-F238E27FC236}">
                <a16:creationId xmlns:a16="http://schemas.microsoft.com/office/drawing/2014/main" id="{D815FBDC-FEE8-75BA-5A28-5C39EF8D5307}"/>
              </a:ext>
            </a:extLst>
          </p:cNvPr>
          <p:cNvSpPr/>
          <p:nvPr/>
        </p:nvSpPr>
        <p:spPr>
          <a:xfrm>
            <a:off x="375637" y="3830355"/>
            <a:ext cx="1699318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E95026A4-DC8D-3EB7-DE39-6A9E775A1463}"/>
              </a:ext>
            </a:extLst>
          </p:cNvPr>
          <p:cNvSpPr/>
          <p:nvPr/>
        </p:nvSpPr>
        <p:spPr>
          <a:xfrm>
            <a:off x="37563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17,9%</a:t>
            </a:r>
            <a:endParaRPr lang="en-US" sz="105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68C2DCFC-4075-D02D-21A2-11E9B963DA01}"/>
              </a:ext>
            </a:extLst>
          </p:cNvPr>
          <p:cNvSpPr/>
          <p:nvPr/>
        </p:nvSpPr>
        <p:spPr>
          <a:xfrm>
            <a:off x="2570197" y="3830355"/>
            <a:ext cx="169931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9D8872E7-BE21-F2DF-D353-C08A08FB33F0}"/>
              </a:ext>
            </a:extLst>
          </p:cNvPr>
          <p:cNvSpPr/>
          <p:nvPr/>
        </p:nvSpPr>
        <p:spPr>
          <a:xfrm>
            <a:off x="257019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2028: 16,4%</a:t>
            </a:r>
            <a:endParaRPr lang="en-US" sz="1050" dirty="0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8CAED3F8-AD3E-A17D-707B-C4E524A69F12}"/>
              </a:ext>
            </a:extLst>
          </p:cNvPr>
          <p:cNvSpPr/>
          <p:nvPr/>
        </p:nvSpPr>
        <p:spPr>
          <a:xfrm>
            <a:off x="4764757" y="3830355"/>
            <a:ext cx="1699318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293E10D4-D7F6-8F9A-9F9B-ACEFBC5A3F33}"/>
              </a:ext>
            </a:extLst>
          </p:cNvPr>
          <p:cNvSpPr/>
          <p:nvPr/>
        </p:nvSpPr>
        <p:spPr>
          <a:xfrm>
            <a:off x="476475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2028: 8,1%</a:t>
            </a:r>
            <a:endParaRPr lang="en-US" sz="1050" dirty="0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3C7EAE68-12F7-42AB-E622-ED4DCC1FCFC0}"/>
              </a:ext>
            </a:extLst>
          </p:cNvPr>
          <p:cNvSpPr/>
          <p:nvPr/>
        </p:nvSpPr>
        <p:spPr>
          <a:xfrm>
            <a:off x="6959317" y="3830355"/>
            <a:ext cx="1699318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D46B1F3D-64AD-F06A-46EA-C668380EE7D4}"/>
              </a:ext>
            </a:extLst>
          </p:cNvPr>
          <p:cNvSpPr/>
          <p:nvPr/>
        </p:nvSpPr>
        <p:spPr>
          <a:xfrm>
            <a:off x="695931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2028: 13</a:t>
            </a:r>
            <a:endParaRPr lang="en-US" sz="1050" dirty="0"/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E8B37390-DF7A-EDCA-3191-36BCD128B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089150"/>
              </p:ext>
            </p:extLst>
          </p:nvPr>
        </p:nvGraphicFramePr>
        <p:xfrm>
          <a:off x="310896" y="1664433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della Produzione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del personale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Spese per servizi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totali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(ante imposte)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9B139A9A-C73F-1BC9-60D7-DE8B693190DE}"/>
              </a:ext>
            </a:extLst>
          </p:cNvPr>
          <p:cNvSpPr/>
          <p:nvPr/>
        </p:nvSpPr>
        <p:spPr>
          <a:xfrm>
            <a:off x="-2500154" y="13908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C4DD60D4-084B-4E96-AE14-CF8032CDF2C6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08FBF60C-3F6C-9B8D-3356-067180032229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50CEA22-4FB4-BF6D-92A6-B442FA3AFCB0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DF635465-3578-A26D-8618-1D56505E4A34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6680D931-FAB9-1E8D-6607-972844D14D25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B49DB16B-3D21-65E6-85FD-E27F0A0CB932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B64DBBC-0DFB-656C-5673-571E864C7BBD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3DB64BC-27FF-D473-98FB-37AF2E59A768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669EA0EB-635A-C4B6-D3BB-C691CACBD535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33C159F9-DA6B-9916-5DF4-08A70D8A9ED9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9E46D509-1832-5D59-9A45-EC770CA8F08B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34C288B-AE99-03D5-7DE9-5D939B60C7B7}"/>
              </a:ext>
            </a:extLst>
          </p:cNvPr>
          <p:cNvSpPr/>
          <p:nvPr/>
        </p:nvSpPr>
        <p:spPr>
          <a:xfrm>
            <a:off x="-1320802" y="-4602"/>
            <a:ext cx="9205170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9EC68EE1-6871-61F1-1BEF-97895C59C4FC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8F4A27D-4E06-0713-E237-55AC9EA67B79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C622C511-6312-4CCE-06EA-E07009999D0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5D8372BD-0DDC-F0BB-0800-4A4600787D7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7C659BD-E6B9-B956-2294-8CBCCB5B2C3B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2D9CC57B-BFBE-0804-23C2-254F772CF8BF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FF05FFFE-1D04-919D-766E-BA2BFF0C303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7E981DA-937A-D438-78AF-54957CA3B721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24ED7113-082C-DCAF-0BD9-3CDF78D573B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EBAC00D2-DA22-6652-5CE2-5F6992BA390C}"/>
              </a:ext>
            </a:extLst>
          </p:cNvPr>
          <p:cNvSpPr/>
          <p:nvPr/>
        </p:nvSpPr>
        <p:spPr>
          <a:xfrm>
            <a:off x="1758821" y="127713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conto economico previsionale</a:t>
            </a:r>
            <a:endParaRPr lang="en-US" sz="24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C78EB99B-92CA-431E-1528-94865DC52C3A}"/>
              </a:ext>
            </a:extLst>
          </p:cNvPr>
          <p:cNvSpPr/>
          <p:nvPr/>
        </p:nvSpPr>
        <p:spPr>
          <a:xfrm>
            <a:off x="1450057" y="83113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migliaia di euro (€000)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181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ABED-69D1-97FF-2A56-DA54BC96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32B0E5A7-7E09-2EFA-1275-74E2D6C041D1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1664433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della Produzione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del personale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Spese per servizi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totali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(ante imposte)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Shape 4">
            <a:extLst>
              <a:ext uri="{FF2B5EF4-FFF2-40B4-BE49-F238E27FC236}">
                <a16:creationId xmlns:a16="http://schemas.microsoft.com/office/drawing/2014/main" id="{A8F4BA02-644D-2048-3967-AF1763D543EE}"/>
              </a:ext>
            </a:extLst>
          </p:cNvPr>
          <p:cNvSpPr/>
          <p:nvPr/>
        </p:nvSpPr>
        <p:spPr>
          <a:xfrm>
            <a:off x="375637" y="4557869"/>
            <a:ext cx="1699318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D9E4DB41-AB18-E297-A34A-52C0CE400334}"/>
              </a:ext>
            </a:extLst>
          </p:cNvPr>
          <p:cNvSpPr/>
          <p:nvPr/>
        </p:nvSpPr>
        <p:spPr>
          <a:xfrm>
            <a:off x="375637" y="4576157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17,9%</a:t>
            </a:r>
            <a:endParaRPr lang="en-US" sz="105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A831856E-7068-BFC6-458D-96944AFAEAFB}"/>
              </a:ext>
            </a:extLst>
          </p:cNvPr>
          <p:cNvSpPr/>
          <p:nvPr/>
        </p:nvSpPr>
        <p:spPr>
          <a:xfrm>
            <a:off x="2570197" y="4557869"/>
            <a:ext cx="169931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C2D2B14A-CFCA-F0A8-E056-AC6D8014B611}"/>
              </a:ext>
            </a:extLst>
          </p:cNvPr>
          <p:cNvSpPr/>
          <p:nvPr/>
        </p:nvSpPr>
        <p:spPr>
          <a:xfrm>
            <a:off x="2570197" y="4576157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2028: 16,4%</a:t>
            </a:r>
            <a:endParaRPr lang="en-US" sz="1050" dirty="0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ACC25B0F-299B-C561-C26F-7D6F57F73118}"/>
              </a:ext>
            </a:extLst>
          </p:cNvPr>
          <p:cNvSpPr/>
          <p:nvPr/>
        </p:nvSpPr>
        <p:spPr>
          <a:xfrm>
            <a:off x="4764757" y="4557869"/>
            <a:ext cx="1699318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4551ED22-0656-F32C-52EA-CD7376BE6565}"/>
              </a:ext>
            </a:extLst>
          </p:cNvPr>
          <p:cNvSpPr/>
          <p:nvPr/>
        </p:nvSpPr>
        <p:spPr>
          <a:xfrm>
            <a:off x="4764757" y="4576157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2028: 8,1%</a:t>
            </a:r>
            <a:endParaRPr lang="en-US" sz="1050" dirty="0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6BEFFF2A-A2AF-8144-5B6B-B7A6B1EAFEB9}"/>
              </a:ext>
            </a:extLst>
          </p:cNvPr>
          <p:cNvSpPr/>
          <p:nvPr/>
        </p:nvSpPr>
        <p:spPr>
          <a:xfrm>
            <a:off x="6959317" y="4557869"/>
            <a:ext cx="1699318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39C31285-7D91-D17F-AFE1-F9A7D04522AC}"/>
              </a:ext>
            </a:extLst>
          </p:cNvPr>
          <p:cNvSpPr/>
          <p:nvPr/>
        </p:nvSpPr>
        <p:spPr>
          <a:xfrm>
            <a:off x="6959317" y="4576157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2028: 13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3C2B386-C966-5C1E-112B-EF4C0E95BBD5}"/>
              </a:ext>
            </a:extLst>
          </p:cNvPr>
          <p:cNvSpPr/>
          <p:nvPr/>
        </p:nvSpPr>
        <p:spPr>
          <a:xfrm>
            <a:off x="-2500154" y="13908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8DFB99A8-56B9-B08C-EFE9-A802E0C8CF12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062DA559-BBB5-696F-A467-72C6D646B558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22C9AAE9-F3AB-8E6C-C1B7-E2799198A52E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982C115-CBAB-315F-9B7F-7C1FFB673FEB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4ECC588-30E2-75BC-E313-3247F46783FB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C0880E63-9A74-A769-585F-38F6D13CBB21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4A8E5ADE-63DC-6C82-444F-EBA150236531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58AB7157-0517-6793-551A-E0CD69A8F635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061992C9-B39C-6C98-8831-D8324A286C27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B4BAE2A6-7A13-7300-D58E-4EB21B08EEFE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B6D63D20-DBB0-CB13-2E10-B4D0C827D5CA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9B68E93-F016-2113-8AF6-287AE63ADA64}"/>
              </a:ext>
            </a:extLst>
          </p:cNvPr>
          <p:cNvSpPr/>
          <p:nvPr/>
        </p:nvSpPr>
        <p:spPr>
          <a:xfrm>
            <a:off x="-1320802" y="-4602"/>
            <a:ext cx="9205170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B0CBAB9-CA52-EBDE-F1BB-8EA4A22D35E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3E1C1B3F-FCEB-688F-0590-836A631D0CB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B8C7E7C-49DC-9CBB-5F90-C09752EDD615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4CC0363-84EC-23EC-7C52-C56B72DCFAE8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CE7EBE8-B173-2D2D-5079-624C3853F5C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F924BD1-9120-D3CB-B9EA-E12FD10DE16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2913DE2D-D5F5-5269-9BEE-999216481767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C692DD53-1479-9FAB-AAE5-559C1A29807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F974D05-A773-1EE6-6D7E-231412928BC8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69E094E7-EA58-BA51-F088-8B8CA35C8C89}"/>
              </a:ext>
            </a:extLst>
          </p:cNvPr>
          <p:cNvSpPr/>
          <p:nvPr/>
        </p:nvSpPr>
        <p:spPr>
          <a:xfrm>
            <a:off x="1758821" y="127713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conto economico previsionale</a:t>
            </a:r>
            <a:endParaRPr lang="en-US" sz="24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E278A28-39DE-A552-F53C-8C13C2B42992}"/>
              </a:ext>
            </a:extLst>
          </p:cNvPr>
          <p:cNvSpPr/>
          <p:nvPr/>
        </p:nvSpPr>
        <p:spPr>
          <a:xfrm>
            <a:off x="1450057" y="83113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migliaia di euro (€000)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5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BC2C-70B6-FC3F-2C89-E16B998E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3F8157A6-D589-26F4-7D4F-E8D762FFC4F8}"/>
              </a:ext>
            </a:extLst>
          </p:cNvPr>
          <p:cNvSpPr/>
          <p:nvPr/>
        </p:nvSpPr>
        <p:spPr>
          <a:xfrm>
            <a:off x="367095" y="3599024"/>
            <a:ext cx="1716624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DC2E910-C6AE-0491-BEC7-12C641CBB95B}"/>
              </a:ext>
            </a:extLst>
          </p:cNvPr>
          <p:cNvSpPr/>
          <p:nvPr/>
        </p:nvSpPr>
        <p:spPr>
          <a:xfrm>
            <a:off x="367095" y="3617312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Attivo 2028: 1.475</a:t>
            </a:r>
            <a:endParaRPr lang="en-US" sz="10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D2FB75F-AB25-72E7-5FE6-6ED7CF582E46}"/>
              </a:ext>
            </a:extLst>
          </p:cNvPr>
          <p:cNvSpPr/>
          <p:nvPr/>
        </p:nvSpPr>
        <p:spPr>
          <a:xfrm>
            <a:off x="2561655" y="3599024"/>
            <a:ext cx="171662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92B3F4C-1F4C-42AF-2988-9ED0EEABC825}"/>
              </a:ext>
            </a:extLst>
          </p:cNvPr>
          <p:cNvSpPr/>
          <p:nvPr/>
        </p:nvSpPr>
        <p:spPr>
          <a:xfrm>
            <a:off x="2561655" y="3617312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Netto 2028: 914</a:t>
            </a:r>
            <a:endParaRPr lang="en-US" sz="10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E6F12B62-604B-1A99-8C08-C4CCBC6D033F}"/>
              </a:ext>
            </a:extLst>
          </p:cNvPr>
          <p:cNvSpPr/>
          <p:nvPr/>
        </p:nvSpPr>
        <p:spPr>
          <a:xfrm>
            <a:off x="4756215" y="3599024"/>
            <a:ext cx="1716624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F021866-EC05-FB94-C9DB-4F39BE9BF37D}"/>
              </a:ext>
            </a:extLst>
          </p:cNvPr>
          <p:cNvSpPr/>
          <p:nvPr/>
        </p:nvSpPr>
        <p:spPr>
          <a:xfrm>
            <a:off x="4756215" y="3617312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ratio: 62%</a:t>
            </a:r>
            <a:endParaRPr lang="en-US" sz="10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94CE8E36-19E5-7C70-6184-BD04EF5B7600}"/>
              </a:ext>
            </a:extLst>
          </p:cNvPr>
          <p:cNvSpPr/>
          <p:nvPr/>
        </p:nvSpPr>
        <p:spPr>
          <a:xfrm>
            <a:off x="6950775" y="3599024"/>
            <a:ext cx="1716624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A9970BE0-5ADC-E317-D81E-39F6CC4C28AE}"/>
              </a:ext>
            </a:extLst>
          </p:cNvPr>
          <p:cNvSpPr/>
          <p:nvPr/>
        </p:nvSpPr>
        <p:spPr>
          <a:xfrm>
            <a:off x="6950775" y="3617312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Debito finanziario: 0</a:t>
            </a:r>
            <a:endParaRPr lang="en-US" sz="10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EB04373-92C1-F789-398B-30D382DDC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21286"/>
              </p:ext>
            </p:extLst>
          </p:nvPr>
        </p:nvGraphicFramePr>
        <p:xfrm>
          <a:off x="309233" y="1441456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Immobilizzazioni nette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Crediti commerciali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Disponibilità liquide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ATTIVO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 netto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Fondi rischi e TFR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Debiti e risconti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Text 8">
            <a:extLst>
              <a:ext uri="{FF2B5EF4-FFF2-40B4-BE49-F238E27FC236}">
                <a16:creationId xmlns:a16="http://schemas.microsoft.com/office/drawing/2014/main" id="{08021CBE-03D6-045B-B44D-56F976C59D2F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6FFE4C53-05A1-74DA-FF99-73C16D832744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ACE68BE-3C94-D832-961C-2709AF55C934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3059645-94CA-84DB-28E8-38AFFEE22002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B54C9AE5-359E-8907-1A59-F1D967A1CA51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D5710EF-770D-CC70-CB21-9FF69052185F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237064A-5EA0-BC9F-61E4-2DA61803521C}"/>
              </a:ext>
            </a:extLst>
          </p:cNvPr>
          <p:cNvSpPr/>
          <p:nvPr/>
        </p:nvSpPr>
        <p:spPr>
          <a:xfrm>
            <a:off x="3204931" y="-30378"/>
            <a:ext cx="8586008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42EE268-E854-1D22-715F-9EC5D9FC5880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51B8DEAF-4123-4A01-19F9-94F26D85464E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D32BAC62-A847-D2D0-9972-4A3C01998A83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4C4595F9-E42E-0102-F17A-6665A4E4759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5FF6122-283B-B50C-1CE4-C3ECBB25D4B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5A74812-3841-5C9C-1E0D-ADE8F51EFE3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9861F093-EE25-8699-97BA-4FD3661C7BEC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A781690-6FAD-0965-6DF7-1B605C1624EF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11A67DA2-0FF4-D33E-249D-F892B333A99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9C248EAA-4FC7-36F5-1D4B-DB75FF8AA3DA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1">
            <a:extLst>
              <a:ext uri="{FF2B5EF4-FFF2-40B4-BE49-F238E27FC236}">
                <a16:creationId xmlns:a16="http://schemas.microsoft.com/office/drawing/2014/main" id="{60B481C8-9D0F-6B10-881E-5C2DBCC8CE4F}"/>
              </a:ext>
            </a:extLst>
          </p:cNvPr>
          <p:cNvSpPr/>
          <p:nvPr/>
        </p:nvSpPr>
        <p:spPr>
          <a:xfrm>
            <a:off x="3404466" y="110577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Patrimoniale Prospettico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FE6282-8643-DDE9-514C-B5B2FB9DBC96}"/>
              </a:ext>
            </a:extLst>
          </p:cNvPr>
          <p:cNvSpPr/>
          <p:nvPr/>
        </p:nvSpPr>
        <p:spPr>
          <a:xfrm>
            <a:off x="3154535" y="81265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migliaia di euro (€000) — struttura equity-financed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409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87A00-E13F-0B6A-C9D3-A40E1E10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A0FC8063-FF5E-7AF5-C18C-ED2386FBCD44}"/>
              </a:ext>
            </a:extLst>
          </p:cNvPr>
          <p:cNvGraphicFramePr>
            <a:graphicFrameLocks noGrp="1"/>
          </p:cNvGraphicFramePr>
          <p:nvPr/>
        </p:nvGraphicFramePr>
        <p:xfrm>
          <a:off x="309233" y="1441456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Immobilizzazioni nette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Crediti commerciali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Disponibilità liquide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ATTIVO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 netto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Fondi rischi e TFR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Debiti e risconti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>
            <a:extLst>
              <a:ext uri="{FF2B5EF4-FFF2-40B4-BE49-F238E27FC236}">
                <a16:creationId xmlns:a16="http://schemas.microsoft.com/office/drawing/2014/main" id="{F1EEC442-A7B9-4B2A-D862-E19C709F723A}"/>
              </a:ext>
            </a:extLst>
          </p:cNvPr>
          <p:cNvSpPr/>
          <p:nvPr/>
        </p:nvSpPr>
        <p:spPr>
          <a:xfrm>
            <a:off x="367095" y="4446678"/>
            <a:ext cx="1716624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7B8CFEC-32B8-603F-56A6-527E93359EB9}"/>
              </a:ext>
            </a:extLst>
          </p:cNvPr>
          <p:cNvSpPr/>
          <p:nvPr/>
        </p:nvSpPr>
        <p:spPr>
          <a:xfrm>
            <a:off x="367095" y="4464966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Attivo 2028: 1.475</a:t>
            </a:r>
            <a:endParaRPr lang="en-US" sz="10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899987A-4376-E339-08AE-9A1329B06BC3}"/>
              </a:ext>
            </a:extLst>
          </p:cNvPr>
          <p:cNvSpPr/>
          <p:nvPr/>
        </p:nvSpPr>
        <p:spPr>
          <a:xfrm>
            <a:off x="2561655" y="4446678"/>
            <a:ext cx="171662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A401CD1-869C-F0FC-4AA1-1471C44A99FF}"/>
              </a:ext>
            </a:extLst>
          </p:cNvPr>
          <p:cNvSpPr/>
          <p:nvPr/>
        </p:nvSpPr>
        <p:spPr>
          <a:xfrm>
            <a:off x="2561655" y="4464966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Netto 2028: 914</a:t>
            </a:r>
            <a:endParaRPr lang="en-US" sz="10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5234D04-48BA-2960-8CE9-5E338AD987E9}"/>
              </a:ext>
            </a:extLst>
          </p:cNvPr>
          <p:cNvSpPr/>
          <p:nvPr/>
        </p:nvSpPr>
        <p:spPr>
          <a:xfrm>
            <a:off x="4756215" y="4446678"/>
            <a:ext cx="1716624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6F26D98-6919-D9D9-12DA-899BD56CB35B}"/>
              </a:ext>
            </a:extLst>
          </p:cNvPr>
          <p:cNvSpPr/>
          <p:nvPr/>
        </p:nvSpPr>
        <p:spPr>
          <a:xfrm>
            <a:off x="4756215" y="4464966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ratio: 62%</a:t>
            </a:r>
            <a:endParaRPr lang="en-US" sz="10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10E9CB7D-F194-7B01-34F1-CA8FFAF10CE3}"/>
              </a:ext>
            </a:extLst>
          </p:cNvPr>
          <p:cNvSpPr/>
          <p:nvPr/>
        </p:nvSpPr>
        <p:spPr>
          <a:xfrm>
            <a:off x="6950775" y="4446678"/>
            <a:ext cx="1716624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55AB3DC-EE76-88DC-456C-840D13F39E1B}"/>
              </a:ext>
            </a:extLst>
          </p:cNvPr>
          <p:cNvSpPr/>
          <p:nvPr/>
        </p:nvSpPr>
        <p:spPr>
          <a:xfrm>
            <a:off x="6950775" y="4464966"/>
            <a:ext cx="171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Debito finanziario: 0</a:t>
            </a:r>
            <a:endParaRPr lang="en-US" sz="10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A6940CA-4162-1667-521B-CBAB0DDB6B4A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CCF347C1-725A-ADDB-1A68-B189A80DEEDF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F5278F6-9F0D-4CDD-6C4E-6D58C9489905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A4372503-C32C-D144-F64A-79B7241B9EC3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BF494639-28D6-2625-F5E1-C12058A02625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D0A4FB0-8854-8E29-8C92-BEBD7A7DB596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3B0E99B-D2A2-DE49-4D18-1BD37AA43D89}"/>
              </a:ext>
            </a:extLst>
          </p:cNvPr>
          <p:cNvSpPr/>
          <p:nvPr/>
        </p:nvSpPr>
        <p:spPr>
          <a:xfrm>
            <a:off x="3204931" y="-30378"/>
            <a:ext cx="8586008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3D5AFD9-5104-AEE7-6868-ABE0A8A30A85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8DAB5B4F-5B7E-6ADB-C2EA-24BE3EE14232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379DA3CA-02BD-0822-CD9B-379E2BF20963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AB87BA0D-695A-B342-70C8-B69D916C5D24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B281E0B1-D2A5-DEA3-2C1C-E6F6A0B6E382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0730387-4680-E969-9334-102AF371FC0A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3BAE8316-86B3-535B-D81D-A6A4219F28D4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76164E20-1FA9-51A5-A512-81A43BF93F6A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9B9CB827-081C-25CD-C646-DFE7C6D1F439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0E5A477-A45D-57F5-8AE3-9BFD279F6A1B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5" name="Text 1">
            <a:extLst>
              <a:ext uri="{FF2B5EF4-FFF2-40B4-BE49-F238E27FC236}">
                <a16:creationId xmlns:a16="http://schemas.microsoft.com/office/drawing/2014/main" id="{E65CB5B7-F79D-FCE0-7D6F-7B1FCF013F43}"/>
              </a:ext>
            </a:extLst>
          </p:cNvPr>
          <p:cNvSpPr/>
          <p:nvPr/>
        </p:nvSpPr>
        <p:spPr>
          <a:xfrm>
            <a:off x="3404466" y="110577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Patrimoniale Prospettico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899027A-177C-0991-F1D8-7637CC223CBD}"/>
              </a:ext>
            </a:extLst>
          </p:cNvPr>
          <p:cNvSpPr/>
          <p:nvPr/>
        </p:nvSpPr>
        <p:spPr>
          <a:xfrm>
            <a:off x="3154535" y="81265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migliaia di euro (€000) — struttura equity-financed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62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392-1B9A-111B-9EBD-AA2BD6AF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4">
            <a:extLst>
              <a:ext uri="{FF2B5EF4-FFF2-40B4-BE49-F238E27FC236}">
                <a16:creationId xmlns:a16="http://schemas.microsoft.com/office/drawing/2014/main" id="{5FC654F6-EE7A-CA85-AB0C-5A7B64EF6098}"/>
              </a:ext>
            </a:extLst>
          </p:cNvPr>
          <p:cNvSpPr/>
          <p:nvPr/>
        </p:nvSpPr>
        <p:spPr>
          <a:xfrm>
            <a:off x="375637" y="3830355"/>
            <a:ext cx="1699318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777D7F1-950F-A3C4-1AFA-C26B0CEE7369}"/>
              </a:ext>
            </a:extLst>
          </p:cNvPr>
          <p:cNvSpPr/>
          <p:nvPr/>
        </p:nvSpPr>
        <p:spPr>
          <a:xfrm>
            <a:off x="37563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2028: 138</a:t>
            </a:r>
            <a:endParaRPr lang="en-US" sz="105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4BFB06A-AA8A-C8F7-1D0D-0F126D4581AD}"/>
              </a:ext>
            </a:extLst>
          </p:cNvPr>
          <p:cNvSpPr/>
          <p:nvPr/>
        </p:nvSpPr>
        <p:spPr>
          <a:xfrm>
            <a:off x="2570197" y="3830355"/>
            <a:ext cx="169931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A4F1F1E4-8F03-F14F-DA3F-29C5E453DFBD}"/>
              </a:ext>
            </a:extLst>
          </p:cNvPr>
          <p:cNvSpPr/>
          <p:nvPr/>
        </p:nvSpPr>
        <p:spPr>
          <a:xfrm>
            <a:off x="257019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operativo 2028: 209</a:t>
            </a:r>
            <a:endParaRPr lang="en-US" sz="105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17AEF029-ABEB-5D35-F5CC-EC415EA3044B}"/>
              </a:ext>
            </a:extLst>
          </p:cNvPr>
          <p:cNvSpPr/>
          <p:nvPr/>
        </p:nvSpPr>
        <p:spPr>
          <a:xfrm>
            <a:off x="4764757" y="3830355"/>
            <a:ext cx="1699318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B86EBEBD-011B-DED7-CD81-66B31970688D}"/>
              </a:ext>
            </a:extLst>
          </p:cNvPr>
          <p:cNvSpPr/>
          <p:nvPr/>
        </p:nvSpPr>
        <p:spPr>
          <a:xfrm>
            <a:off x="476475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annuo: ~70</a:t>
            </a:r>
            <a:endParaRPr lang="en-US" sz="10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FB1EAAC8-E867-B647-B2F8-023778FD9EE8}"/>
              </a:ext>
            </a:extLst>
          </p:cNvPr>
          <p:cNvSpPr/>
          <p:nvPr/>
        </p:nvSpPr>
        <p:spPr>
          <a:xfrm>
            <a:off x="6959317" y="3830355"/>
            <a:ext cx="1699318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00AC8C83-4E8E-766E-DB12-A567C70C1B33}"/>
              </a:ext>
            </a:extLst>
          </p:cNvPr>
          <p:cNvSpPr/>
          <p:nvPr/>
        </p:nvSpPr>
        <p:spPr>
          <a:xfrm>
            <a:off x="6959317" y="3848643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 fine 2028: 1.029</a:t>
            </a:r>
            <a:endParaRPr lang="en-US" sz="105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391FBF8E-FC40-4468-8C24-5EAE52079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341903"/>
              </p:ext>
            </p:extLst>
          </p:nvPr>
        </p:nvGraphicFramePr>
        <p:xfrm>
          <a:off x="310896" y="1673228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(Flusso ante CCN)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Variazione CCN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Imposte e interessi netti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Flusso operativo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Investimenti (B)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 (A+B)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 fine esercizio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DEDD2210-135E-E29E-2EA6-03623B0EA69D}"/>
              </a:ext>
            </a:extLst>
          </p:cNvPr>
          <p:cNvSpPr/>
          <p:nvPr/>
        </p:nvSpPr>
        <p:spPr>
          <a:xfrm>
            <a:off x="-2500154" y="13908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F1393C5D-7650-3744-CEDE-A5FC6F449D21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77C3AE70-FB76-62ED-86AC-81CC3DE9AC2F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332EC45-E2E6-060B-BA6D-3944AEF30D95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B2227395-BF1B-4AAF-6340-7D17723BA237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8AE0019-F902-6CC6-4534-7A18867C3ACC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56B36C50-E890-2145-EFDA-E67F50654AF1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183DC53E-F7A3-BB43-2B41-6FF21DD54E9A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60EBF4BB-567A-934E-5119-54DE9D3464EA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EC126842-5159-E1B1-87A0-7195722B8592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2F1428E8-5E98-5D1D-DE3A-B730BA96B5D9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A2D12D88-7268-E4C7-421C-845B234D62BD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61DB0C3-C2B2-33F9-3C8D-C9634C3611CD}"/>
              </a:ext>
            </a:extLst>
          </p:cNvPr>
          <p:cNvSpPr/>
          <p:nvPr/>
        </p:nvSpPr>
        <p:spPr>
          <a:xfrm>
            <a:off x="-1320802" y="-4602"/>
            <a:ext cx="9205170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FF0F093-DF31-D042-D18A-95A5C6FD5C47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28B372E-DDC9-C24C-2EE6-8CD8D7891C81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B777319-6569-D50D-9897-3746C98FB87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7A570BA-34FD-1F9F-8640-8F2DE25F321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1F11CB2-2C5D-77AC-39C9-896B02FC1DF1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F94C9D82-A5A8-F463-94E6-7C5FA6E902B9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B2D049C5-D198-7756-F336-9000EEAFC23C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1AF11A0C-38BB-F321-D59E-D8ACE589F4F0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EF444792-2D9D-9780-856A-9B2F8C7D0D1D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" name="Text 1">
            <a:extLst>
              <a:ext uri="{FF2B5EF4-FFF2-40B4-BE49-F238E27FC236}">
                <a16:creationId xmlns:a16="http://schemas.microsoft.com/office/drawing/2014/main" id="{5535EDD4-0F33-A98C-1C9D-D75433664A96}"/>
              </a:ext>
            </a:extLst>
          </p:cNvPr>
          <p:cNvSpPr/>
          <p:nvPr/>
        </p:nvSpPr>
        <p:spPr>
          <a:xfrm>
            <a:off x="1601397" y="15167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Rendiconto Finanziario Prospettico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2CE850E-4764-1185-C63E-D56C5F1F0920}"/>
              </a:ext>
            </a:extLst>
          </p:cNvPr>
          <p:cNvSpPr/>
          <p:nvPr/>
        </p:nvSpPr>
        <p:spPr>
          <a:xfrm>
            <a:off x="1398688" y="83338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migliaia di euro (€000) — flussi di cassa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453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5074-FD86-948E-479D-0C5BE87D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C8A7321-A2DC-B2AC-92FB-213DA63A1CA0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1673228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(Flusso ante CCN)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Variazione CCN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Imposte e interessi netti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Flusso operativo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Investimenti (B)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 (A+B)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 fine esercizio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Shape 4">
            <a:extLst>
              <a:ext uri="{FF2B5EF4-FFF2-40B4-BE49-F238E27FC236}">
                <a16:creationId xmlns:a16="http://schemas.microsoft.com/office/drawing/2014/main" id="{1B68199B-FEEC-F39E-D570-233F6B3F904D}"/>
              </a:ext>
            </a:extLst>
          </p:cNvPr>
          <p:cNvSpPr/>
          <p:nvPr/>
        </p:nvSpPr>
        <p:spPr>
          <a:xfrm>
            <a:off x="375637" y="4517821"/>
            <a:ext cx="1699318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9D6CEA80-19B9-FEA6-C506-ECF5812B5F20}"/>
              </a:ext>
            </a:extLst>
          </p:cNvPr>
          <p:cNvSpPr/>
          <p:nvPr/>
        </p:nvSpPr>
        <p:spPr>
          <a:xfrm>
            <a:off x="375637" y="4536109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2028: 138</a:t>
            </a:r>
            <a:endParaRPr lang="en-US" sz="105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E9F005E4-8D9D-32CF-213A-6D16F97DC80C}"/>
              </a:ext>
            </a:extLst>
          </p:cNvPr>
          <p:cNvSpPr/>
          <p:nvPr/>
        </p:nvSpPr>
        <p:spPr>
          <a:xfrm>
            <a:off x="2570197" y="4517821"/>
            <a:ext cx="169931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5C1C98D-6FA8-AF0C-7597-2F4CB898D9D6}"/>
              </a:ext>
            </a:extLst>
          </p:cNvPr>
          <p:cNvSpPr/>
          <p:nvPr/>
        </p:nvSpPr>
        <p:spPr>
          <a:xfrm>
            <a:off x="2570197" y="4536109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operativo 2028: 209</a:t>
            </a:r>
            <a:endParaRPr lang="en-US" sz="105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7F05ED3B-F545-7B2F-E619-4E1C06988762}"/>
              </a:ext>
            </a:extLst>
          </p:cNvPr>
          <p:cNvSpPr/>
          <p:nvPr/>
        </p:nvSpPr>
        <p:spPr>
          <a:xfrm>
            <a:off x="4764757" y="4517821"/>
            <a:ext cx="1699318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8AA968D-3152-2809-2559-2913601591D4}"/>
              </a:ext>
            </a:extLst>
          </p:cNvPr>
          <p:cNvSpPr/>
          <p:nvPr/>
        </p:nvSpPr>
        <p:spPr>
          <a:xfrm>
            <a:off x="4764757" y="4536109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annuo: ~70</a:t>
            </a:r>
            <a:endParaRPr lang="en-US" sz="10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37028889-10E4-4456-5A81-A416E90FE17E}"/>
              </a:ext>
            </a:extLst>
          </p:cNvPr>
          <p:cNvSpPr/>
          <p:nvPr/>
        </p:nvSpPr>
        <p:spPr>
          <a:xfrm>
            <a:off x="6959317" y="4517821"/>
            <a:ext cx="1699318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F2A66C29-73D6-5E69-EBD9-FF9E8DB4F911}"/>
              </a:ext>
            </a:extLst>
          </p:cNvPr>
          <p:cNvSpPr/>
          <p:nvPr/>
        </p:nvSpPr>
        <p:spPr>
          <a:xfrm>
            <a:off x="6959317" y="4536109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 fine 2028: 1.029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4E5B530-7AEE-0C59-62D3-6F9156DA174D}"/>
              </a:ext>
            </a:extLst>
          </p:cNvPr>
          <p:cNvSpPr/>
          <p:nvPr/>
        </p:nvSpPr>
        <p:spPr>
          <a:xfrm>
            <a:off x="-2500154" y="13908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F061E04A-6839-6C02-D053-84B222D13393}"/>
              </a:ext>
            </a:extLst>
          </p:cNvPr>
          <p:cNvSpPr/>
          <p:nvPr/>
        </p:nvSpPr>
        <p:spPr>
          <a:xfrm>
            <a:off x="-2390423" y="1507915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interna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4E6F259-0163-BB27-81E3-49AFEE58A039}"/>
              </a:ext>
            </a:extLst>
          </p:cNvPr>
          <p:cNvSpPr/>
          <p:nvPr/>
        </p:nvSpPr>
        <p:spPr>
          <a:xfrm>
            <a:off x="-2122030" y="1515274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+ 64%</a:t>
            </a:r>
            <a:endParaRPr lang="en-US" sz="16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0C882A03-306F-B5EF-B0C5-14C878124E2A}"/>
              </a:ext>
            </a:extLst>
          </p:cNvPr>
          <p:cNvSpPr/>
          <p:nvPr/>
        </p:nvSpPr>
        <p:spPr>
          <a:xfrm>
            <a:off x="-3493630" y="231908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DEL PERSONALE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85B199D-619A-B765-80E9-90CB98CC65CD}"/>
              </a:ext>
            </a:extLst>
          </p:cNvPr>
          <p:cNvSpPr/>
          <p:nvPr/>
        </p:nvSpPr>
        <p:spPr>
          <a:xfrm>
            <a:off x="-2899270" y="2302069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13 risorse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AF99B2A8-DA0A-E7FC-FFCA-00743A3F6A72}"/>
              </a:ext>
            </a:extLst>
          </p:cNvPr>
          <p:cNvSpPr/>
          <p:nvPr/>
        </p:nvSpPr>
        <p:spPr>
          <a:xfrm>
            <a:off x="-2693530" y="2188426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+ 69%</a:t>
            </a:r>
            <a:endParaRPr lang="en-US" sz="16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72A589EC-CCC0-7BBB-B4A3-17AB4225F0B9}"/>
              </a:ext>
            </a:extLst>
          </p:cNvPr>
          <p:cNvSpPr/>
          <p:nvPr/>
        </p:nvSpPr>
        <p:spPr>
          <a:xfrm>
            <a:off x="-3217228" y="317597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AMMORTAMENTI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BB4CF5E6-B315-25CC-71F1-4479EB859A9A}"/>
              </a:ext>
            </a:extLst>
          </p:cNvPr>
          <p:cNvSpPr/>
          <p:nvPr/>
        </p:nvSpPr>
        <p:spPr>
          <a:xfrm>
            <a:off x="-3529584" y="3162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tecnologia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C43F5E66-6EBC-B6DB-A068-14C4CE6EB39F}"/>
              </a:ext>
            </a:extLst>
          </p:cNvPr>
          <p:cNvSpPr/>
          <p:nvPr/>
        </p:nvSpPr>
        <p:spPr>
          <a:xfrm>
            <a:off x="-2500154" y="2996467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+ 156%</a:t>
            </a:r>
            <a:endParaRPr lang="en-US" sz="16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DF7506DF-3772-92A3-0504-3168AA773156}"/>
              </a:ext>
            </a:extLst>
          </p:cNvPr>
          <p:cNvSpPr/>
          <p:nvPr/>
        </p:nvSpPr>
        <p:spPr>
          <a:xfrm>
            <a:off x="-3300254" y="436469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PER SERVIZI</a:t>
            </a:r>
            <a:endParaRPr lang="en-US" sz="13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A089D1E7-0C7E-91AA-FC93-5CF69B5DAD2C}"/>
              </a:ext>
            </a:extLst>
          </p:cNvPr>
          <p:cNvSpPr/>
          <p:nvPr/>
        </p:nvSpPr>
        <p:spPr>
          <a:xfrm>
            <a:off x="-3765868" y="41955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amm.vi · Infrastrutture · Formazione</a:t>
            </a:r>
            <a:endParaRPr lang="en-US" sz="12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B8015E27-A379-3AB8-8309-82BAAE375808}"/>
              </a:ext>
            </a:extLst>
          </p:cNvPr>
          <p:cNvSpPr/>
          <p:nvPr/>
        </p:nvSpPr>
        <p:spPr>
          <a:xfrm>
            <a:off x="-2961923" y="416353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+ 19%</a:t>
            </a:r>
            <a:endParaRPr lang="en-US" sz="16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C4404AE-3457-6B96-E6BA-623728046DC3}"/>
              </a:ext>
            </a:extLst>
          </p:cNvPr>
          <p:cNvSpPr/>
          <p:nvPr/>
        </p:nvSpPr>
        <p:spPr>
          <a:xfrm>
            <a:off x="-1320802" y="-4602"/>
            <a:ext cx="9205170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5560B2F6-8F2D-8F53-54B2-A995F8497971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2B8B45D6-6B22-425D-1FE3-3665903795B6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3DDB898C-D17B-D4B2-A8E9-55C21D589E0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4F5A0DF4-636B-7643-5E54-EBD22CFA32DD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C36C1B1-471F-5F7F-280D-08A6B8602EBC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9EC68FCD-064F-0FCE-A06D-6E6E44F1F7ED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0CA59A21-1E18-5E9D-803C-CB9EC2D95BBB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105DF687-F2B1-D1C2-EAE0-83226960C357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E759D2FB-D0C9-AD0C-25C8-C7C12B4AB55F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" name="Text 1">
            <a:extLst>
              <a:ext uri="{FF2B5EF4-FFF2-40B4-BE49-F238E27FC236}">
                <a16:creationId xmlns:a16="http://schemas.microsoft.com/office/drawing/2014/main" id="{2E77522D-DCF4-B1D5-338C-6393D8783E09}"/>
              </a:ext>
            </a:extLst>
          </p:cNvPr>
          <p:cNvSpPr/>
          <p:nvPr/>
        </p:nvSpPr>
        <p:spPr>
          <a:xfrm>
            <a:off x="1601397" y="15167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Rendiconto Finanziario Prospettico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56E525B-E897-CA86-FA02-7AD9DAEADF56}"/>
              </a:ext>
            </a:extLst>
          </p:cNvPr>
          <p:cNvSpPr/>
          <p:nvPr/>
        </p:nvSpPr>
        <p:spPr>
          <a:xfrm>
            <a:off x="1398688" y="83338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 migliaia di euro (€000) — flussi di cassa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097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B651-37AC-C4DF-A79F-FCA0D3B0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4">
            <a:extLst>
              <a:ext uri="{FF2B5EF4-FFF2-40B4-BE49-F238E27FC236}">
                <a16:creationId xmlns:a16="http://schemas.microsoft.com/office/drawing/2014/main" id="{BB840A98-E1DA-3136-8CB7-D6703D3BE1CE}"/>
              </a:ext>
            </a:extLst>
          </p:cNvPr>
          <p:cNvSpPr/>
          <p:nvPr/>
        </p:nvSpPr>
        <p:spPr>
          <a:xfrm>
            <a:off x="373768" y="3602094"/>
            <a:ext cx="1709951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01055A9-213A-63DE-2629-614B64900637}"/>
              </a:ext>
            </a:extLst>
          </p:cNvPr>
          <p:cNvSpPr/>
          <p:nvPr/>
        </p:nvSpPr>
        <p:spPr>
          <a:xfrm>
            <a:off x="373768" y="3620382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2028: 11,7%</a:t>
            </a:r>
            <a:endParaRPr lang="en-US" sz="105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903D1DEC-D6A4-7383-1B10-FC6600EDC16B}"/>
              </a:ext>
            </a:extLst>
          </p:cNvPr>
          <p:cNvSpPr/>
          <p:nvPr/>
        </p:nvSpPr>
        <p:spPr>
          <a:xfrm>
            <a:off x="2568328" y="3602094"/>
            <a:ext cx="1709951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BA82FA0D-4250-2F28-B80C-8BFA06A022EB}"/>
              </a:ext>
            </a:extLst>
          </p:cNvPr>
          <p:cNvSpPr/>
          <p:nvPr/>
        </p:nvSpPr>
        <p:spPr>
          <a:xfrm>
            <a:off x="2568328" y="3620382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2028: 16,4%</a:t>
            </a:r>
            <a:endParaRPr lang="en-US" sz="105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95D371B8-2251-E6C3-AEBA-DD6FB67ECFC2}"/>
              </a:ext>
            </a:extLst>
          </p:cNvPr>
          <p:cNvSpPr/>
          <p:nvPr/>
        </p:nvSpPr>
        <p:spPr>
          <a:xfrm>
            <a:off x="4762888" y="3602094"/>
            <a:ext cx="1709951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596EA605-4B06-EFCF-0932-BC9F39248264}"/>
              </a:ext>
            </a:extLst>
          </p:cNvPr>
          <p:cNvSpPr/>
          <p:nvPr/>
        </p:nvSpPr>
        <p:spPr>
          <a:xfrm>
            <a:off x="4762888" y="3620382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2028: 8,1%</a:t>
            </a:r>
            <a:endParaRPr lang="en-US" sz="105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0D9353DD-164E-21C1-C73B-61BA8BE4E19F}"/>
              </a:ext>
            </a:extLst>
          </p:cNvPr>
          <p:cNvSpPr/>
          <p:nvPr/>
        </p:nvSpPr>
        <p:spPr>
          <a:xfrm>
            <a:off x="6957448" y="3602094"/>
            <a:ext cx="1709951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474569ED-9E7B-FFDD-C7E4-0136CEFA01A7}"/>
              </a:ext>
            </a:extLst>
          </p:cNvPr>
          <p:cNvSpPr/>
          <p:nvPr/>
        </p:nvSpPr>
        <p:spPr>
          <a:xfrm>
            <a:off x="6957448" y="3620382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2028: 13</a:t>
            </a:r>
            <a:endParaRPr lang="en-US" sz="1050" dirty="0"/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B2ABBD86-60DB-1930-FA56-AA95C3229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358722"/>
              </p:ext>
            </p:extLst>
          </p:nvPr>
        </p:nvGraphicFramePr>
        <p:xfrm>
          <a:off x="309233" y="1441456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Incidenza costo lavoro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per dipendente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114.712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Dipendenti (n°)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medio dipendente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Text 8">
            <a:extLst>
              <a:ext uri="{FF2B5EF4-FFF2-40B4-BE49-F238E27FC236}">
                <a16:creationId xmlns:a16="http://schemas.microsoft.com/office/drawing/2014/main" id="{89A3620E-D7E7-204C-7938-0A8C55208E9D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41F4DF3-9258-0946-024C-D0C6987AC21E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D968780D-0E29-3829-2883-D1A541FF5A88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41E14FB-8FFA-0C13-7029-BF37B2D3AF1E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C93B8199-A05F-6C4A-FF44-B8699726EB1B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BFDC256-E25C-286F-7682-93214020EA2A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DB40E7-13ED-E05A-C1C4-0B6809D8208C}"/>
              </a:ext>
            </a:extLst>
          </p:cNvPr>
          <p:cNvSpPr/>
          <p:nvPr/>
        </p:nvSpPr>
        <p:spPr>
          <a:xfrm>
            <a:off x="2561655" y="-30378"/>
            <a:ext cx="9229284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7B362D5-F3D1-F653-4B7D-BDA93CBD13DE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2EA6C822-E15E-B23E-EE15-B2DC20A812A2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17CD40F4-27AF-EF19-04CB-BF0D190B4EF3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D3611718-47B7-48F3-A910-21B356C3AD2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86D97C0-A4FA-8EAF-8679-469BD3F6018D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76746B7-3F95-AE81-53EE-8DB64C4F88DF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3EE11880-7CCB-7BED-D00D-0C17D13BF7DE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FC4D3D61-684E-B8F8-68A4-F838A7AE3624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82BCC93B-157E-6685-3446-5F2848879D4D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271E55A0-C030-C650-CBAA-EC054906AA6F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" name="Text 1">
            <a:extLst>
              <a:ext uri="{FF2B5EF4-FFF2-40B4-BE49-F238E27FC236}">
                <a16:creationId xmlns:a16="http://schemas.microsoft.com/office/drawing/2014/main" id="{8615EBEA-CB65-D30A-47BB-1B4856E74616}"/>
              </a:ext>
            </a:extLst>
          </p:cNvPr>
          <p:cNvSpPr/>
          <p:nvPr/>
        </p:nvSpPr>
        <p:spPr>
          <a:xfrm>
            <a:off x="2771092" y="68955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Margini e Indicatori di Produttività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9A87C99-7DE0-8001-836D-1B4A231F2802}"/>
              </a:ext>
            </a:extLst>
          </p:cNvPr>
          <p:cNvSpPr/>
          <p:nvPr/>
        </p:nvSpPr>
        <p:spPr>
          <a:xfrm>
            <a:off x="-1058315" y="7921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 di redditività e produttività per addetto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716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68AE-7F48-9D24-6C63-FC362E1F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17401606-9D65-7ABE-E29A-1A6E9D4EB3EC}"/>
              </a:ext>
            </a:extLst>
          </p:cNvPr>
          <p:cNvGraphicFramePr>
            <a:graphicFrameLocks noGrp="1"/>
          </p:cNvGraphicFramePr>
          <p:nvPr/>
        </p:nvGraphicFramePr>
        <p:xfrm>
          <a:off x="309233" y="1441456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Incidenza costo lavoro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per dipendente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114.712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Dipendenti (n°)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medio dipendente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Shape 4">
            <a:extLst>
              <a:ext uri="{FF2B5EF4-FFF2-40B4-BE49-F238E27FC236}">
                <a16:creationId xmlns:a16="http://schemas.microsoft.com/office/drawing/2014/main" id="{B5544A8E-1B97-3245-81FF-D5C5CF028531}"/>
              </a:ext>
            </a:extLst>
          </p:cNvPr>
          <p:cNvSpPr/>
          <p:nvPr/>
        </p:nvSpPr>
        <p:spPr>
          <a:xfrm>
            <a:off x="373768" y="4436395"/>
            <a:ext cx="1709951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301E140-52A4-7855-5E9F-2212C85DEB51}"/>
              </a:ext>
            </a:extLst>
          </p:cNvPr>
          <p:cNvSpPr/>
          <p:nvPr/>
        </p:nvSpPr>
        <p:spPr>
          <a:xfrm>
            <a:off x="373768" y="4454683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2028: 11,7%</a:t>
            </a:r>
            <a:endParaRPr lang="en-US" sz="105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E1D80A85-4949-E405-A6CA-8EC284330FAC}"/>
              </a:ext>
            </a:extLst>
          </p:cNvPr>
          <p:cNvSpPr/>
          <p:nvPr/>
        </p:nvSpPr>
        <p:spPr>
          <a:xfrm>
            <a:off x="2568328" y="4436395"/>
            <a:ext cx="1709951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9D63A5C7-7E08-6F50-46D4-68AD361A951E}"/>
              </a:ext>
            </a:extLst>
          </p:cNvPr>
          <p:cNvSpPr/>
          <p:nvPr/>
        </p:nvSpPr>
        <p:spPr>
          <a:xfrm>
            <a:off x="2568328" y="4454683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2028: 16,4%</a:t>
            </a:r>
            <a:endParaRPr lang="en-US" sz="105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EC5A500E-DF35-A8E1-D584-0F6518E87616}"/>
              </a:ext>
            </a:extLst>
          </p:cNvPr>
          <p:cNvSpPr/>
          <p:nvPr/>
        </p:nvSpPr>
        <p:spPr>
          <a:xfrm>
            <a:off x="4762888" y="4436395"/>
            <a:ext cx="1709951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396900F7-0DC7-D381-2320-A5826974406D}"/>
              </a:ext>
            </a:extLst>
          </p:cNvPr>
          <p:cNvSpPr/>
          <p:nvPr/>
        </p:nvSpPr>
        <p:spPr>
          <a:xfrm>
            <a:off x="4762888" y="4454683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2028: 8,1%</a:t>
            </a:r>
            <a:endParaRPr lang="en-US" sz="105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022FBEBB-0C58-E80C-95AA-7F9894B37B54}"/>
              </a:ext>
            </a:extLst>
          </p:cNvPr>
          <p:cNvSpPr/>
          <p:nvPr/>
        </p:nvSpPr>
        <p:spPr>
          <a:xfrm>
            <a:off x="6957448" y="4436395"/>
            <a:ext cx="1709951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E9073A7-4993-0E2A-B995-A4E24E4EA90D}"/>
              </a:ext>
            </a:extLst>
          </p:cNvPr>
          <p:cNvSpPr/>
          <p:nvPr/>
        </p:nvSpPr>
        <p:spPr>
          <a:xfrm>
            <a:off x="6957448" y="4454683"/>
            <a:ext cx="17099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2028: 13</a:t>
            </a:r>
            <a:endParaRPr lang="en-US" sz="10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430FD23-1686-6CCF-3475-52B30CB9CD41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B606802-6A8E-0D39-B780-8703BEFEE64D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D542F351-091A-A09F-75A7-727396346CDC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10D35075-86A9-398C-00D8-B0D981147DAF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AFC6111E-76F0-2460-B52B-E17CAE91BF85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194D086-D168-EAFD-4660-6F3FD5C047F9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F6EDDA4-22C0-20ED-92B6-74C0EB58ADD3}"/>
              </a:ext>
            </a:extLst>
          </p:cNvPr>
          <p:cNvSpPr/>
          <p:nvPr/>
        </p:nvSpPr>
        <p:spPr>
          <a:xfrm>
            <a:off x="2561655" y="-30378"/>
            <a:ext cx="9229284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45F3E39-5C64-E907-3B74-15AA11198EED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7ED0993-408C-C5F4-E863-1C97BB61BC2A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D823DA5-58CD-28F4-D539-9547058616EC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FAD4211A-6D4B-1A18-AD76-9CF0E5C07401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1FBACA2-7A2A-A2BB-CB6B-ABD70FE7CF9F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852EEF8-CF88-B349-4A1C-2E05A245C86B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F344A34-2C4F-D98B-CD0B-F9CE4F45911F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F9A7890-8807-ED85-9749-D5D18362CF46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F7EE4C5-3463-1667-0665-0BB6CA32FA51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85207144-F1BA-91AE-8662-07E8A0A624EE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2" name="Text 1">
            <a:extLst>
              <a:ext uri="{FF2B5EF4-FFF2-40B4-BE49-F238E27FC236}">
                <a16:creationId xmlns:a16="http://schemas.microsoft.com/office/drawing/2014/main" id="{D4FFC7E1-E07A-AA0B-D1CB-DB7A70AD807C}"/>
              </a:ext>
            </a:extLst>
          </p:cNvPr>
          <p:cNvSpPr/>
          <p:nvPr/>
        </p:nvSpPr>
        <p:spPr>
          <a:xfrm>
            <a:off x="2771092" y="68955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Margini e Indicatori di Produttività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1ACAA07-C9C3-34D6-F87F-8C7A4C99B102}"/>
              </a:ext>
            </a:extLst>
          </p:cNvPr>
          <p:cNvSpPr/>
          <p:nvPr/>
        </p:nvSpPr>
        <p:spPr>
          <a:xfrm>
            <a:off x="-1058315" y="7921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 di redditività e produttività per addetto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24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AC77-F8C1-65E6-831B-2BBE3197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ttangolo con angoli arrotondati 112">
            <a:extLst>
              <a:ext uri="{FF2B5EF4-FFF2-40B4-BE49-F238E27FC236}">
                <a16:creationId xmlns:a16="http://schemas.microsoft.com/office/drawing/2014/main" id="{065086B0-4788-8729-6415-269D885A8BDB}"/>
              </a:ext>
            </a:extLst>
          </p:cNvPr>
          <p:cNvSpPr/>
          <p:nvPr/>
        </p:nvSpPr>
        <p:spPr>
          <a:xfrm rot="5400000">
            <a:off x="7818077" y="3476173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1" name="Rettangolo con angoli arrotondati 100">
            <a:extLst>
              <a:ext uri="{FF2B5EF4-FFF2-40B4-BE49-F238E27FC236}">
                <a16:creationId xmlns:a16="http://schemas.microsoft.com/office/drawing/2014/main" id="{24192543-131D-28EF-7A50-AD19F7BD9324}"/>
              </a:ext>
            </a:extLst>
          </p:cNvPr>
          <p:cNvSpPr/>
          <p:nvPr/>
        </p:nvSpPr>
        <p:spPr>
          <a:xfrm rot="16200000">
            <a:off x="7801610" y="1342390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B4795CA1-2EA3-E929-1A8C-E5F647E3CAF0}"/>
              </a:ext>
            </a:extLst>
          </p:cNvPr>
          <p:cNvSpPr/>
          <p:nvPr/>
        </p:nvSpPr>
        <p:spPr>
          <a:xfrm>
            <a:off x="3206748" y="5068678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18ECC09-3CB6-B124-C5EB-475A61C2AB6A}"/>
              </a:ext>
            </a:extLst>
          </p:cNvPr>
          <p:cNvSpPr/>
          <p:nvPr/>
        </p:nvSpPr>
        <p:spPr>
          <a:xfrm rot="16200000">
            <a:off x="-1344368" y="2179520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61491D0A-63E4-53B1-0710-921DAE381CC8}"/>
              </a:ext>
            </a:extLst>
          </p:cNvPr>
          <p:cNvSpPr/>
          <p:nvPr/>
        </p:nvSpPr>
        <p:spPr>
          <a:xfrm rot="16200000">
            <a:off x="-1353071" y="2330650"/>
            <a:ext cx="2730500" cy="63500"/>
          </a:xfrm>
          <a:prstGeom prst="rect">
            <a:avLst/>
          </a:prstGeom>
          <a:solidFill>
            <a:srgbClr val="FF91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FF188EB-E8C1-61E9-2687-29F3609A94C9}"/>
              </a:ext>
            </a:extLst>
          </p:cNvPr>
          <p:cNvSpPr/>
          <p:nvPr/>
        </p:nvSpPr>
        <p:spPr>
          <a:xfrm>
            <a:off x="-1320802" y="-4602"/>
            <a:ext cx="7461298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22D3ECE-C89D-3175-5EC2-1DA35FCF9AAE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C24877B-3938-563B-512E-628B3379E25D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9C3D693-EA92-4384-18ED-1F25C898E55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6795F88-A58E-1D44-B1C4-3593261580C2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F2C1E39-E340-7B18-5A07-7CC63BB86780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B34F45EA-F05F-9408-4BAE-0FB19B5CB100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94FC2049-85D7-70D6-65AE-9429A1413351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5B2F7FB8-669C-B267-AF8F-B7C9622BF21E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0285D85-31A2-48B1-6622-A78598B0199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38" name="Text 1">
            <a:extLst>
              <a:ext uri="{FF2B5EF4-FFF2-40B4-BE49-F238E27FC236}">
                <a16:creationId xmlns:a16="http://schemas.microsoft.com/office/drawing/2014/main" id="{B8D507F5-01E0-4B22-C42F-CD5056D2FDA0}"/>
              </a:ext>
            </a:extLst>
          </p:cNvPr>
          <p:cNvSpPr/>
          <p:nvPr/>
        </p:nvSpPr>
        <p:spPr>
          <a:xfrm>
            <a:off x="1650504" y="141129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 commento ai risultati</a:t>
            </a:r>
            <a:endParaRPr lang="en-US" sz="24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7D571F7F-A030-2F68-C4F0-A88177D6F35C}"/>
              </a:ext>
            </a:extLst>
          </p:cNvPr>
          <p:cNvSpPr/>
          <p:nvPr/>
        </p:nvSpPr>
        <p:spPr>
          <a:xfrm>
            <a:off x="1487646" y="83713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delle dinamiche economico-finanziarie 2025–2028</a:t>
            </a:r>
            <a:endParaRPr lang="en-US" sz="1400" dirty="0"/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662A81BF-64C2-5B7C-CCFA-174206E5FCA4}"/>
              </a:ext>
            </a:extLst>
          </p:cNvPr>
          <p:cNvSpPr/>
          <p:nvPr/>
        </p:nvSpPr>
        <p:spPr>
          <a:xfrm rot="10800000">
            <a:off x="3206750" y="5059788"/>
            <a:ext cx="27305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A3E8836D-072E-070B-6BCD-2177EA7EB7C4}"/>
              </a:ext>
            </a:extLst>
          </p:cNvPr>
          <p:cNvSpPr/>
          <p:nvPr/>
        </p:nvSpPr>
        <p:spPr>
          <a:xfrm rot="16200000">
            <a:off x="-1344368" y="3487435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1A4572EF-EC30-A8CC-F529-EF493332BEE0}"/>
              </a:ext>
            </a:extLst>
          </p:cNvPr>
          <p:cNvSpPr/>
          <p:nvPr/>
        </p:nvSpPr>
        <p:spPr>
          <a:xfrm rot="16200000">
            <a:off x="7774315" y="1328898"/>
            <a:ext cx="2730500" cy="635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6" name="Rettangolo 105">
            <a:extLst>
              <a:ext uri="{FF2B5EF4-FFF2-40B4-BE49-F238E27FC236}">
                <a16:creationId xmlns:a16="http://schemas.microsoft.com/office/drawing/2014/main" id="{7D05D36C-B319-D2D3-DB96-27CC39872AA3}"/>
              </a:ext>
            </a:extLst>
          </p:cNvPr>
          <p:cNvSpPr/>
          <p:nvPr/>
        </p:nvSpPr>
        <p:spPr>
          <a:xfrm rot="16200000">
            <a:off x="-1353348" y="3467282"/>
            <a:ext cx="2730500" cy="63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B2834204-92A6-14F5-A8E2-3FC0D2420D80}"/>
              </a:ext>
            </a:extLst>
          </p:cNvPr>
          <p:cNvSpPr/>
          <p:nvPr/>
        </p:nvSpPr>
        <p:spPr>
          <a:xfrm>
            <a:off x="3206750" y="5091538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0" name="Rettangolo 109">
            <a:extLst>
              <a:ext uri="{FF2B5EF4-FFF2-40B4-BE49-F238E27FC236}">
                <a16:creationId xmlns:a16="http://schemas.microsoft.com/office/drawing/2014/main" id="{4E94FD26-8CEB-70B5-53E2-CB07A3DB2A58}"/>
              </a:ext>
            </a:extLst>
          </p:cNvPr>
          <p:cNvSpPr/>
          <p:nvPr/>
        </p:nvSpPr>
        <p:spPr>
          <a:xfrm>
            <a:off x="3206750" y="5091538"/>
            <a:ext cx="2730500" cy="63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4" name="Rettangolo 113">
            <a:extLst>
              <a:ext uri="{FF2B5EF4-FFF2-40B4-BE49-F238E27FC236}">
                <a16:creationId xmlns:a16="http://schemas.microsoft.com/office/drawing/2014/main" id="{38894A5C-8AFA-8873-0872-78D45B337795}"/>
              </a:ext>
            </a:extLst>
          </p:cNvPr>
          <p:cNvSpPr/>
          <p:nvPr/>
        </p:nvSpPr>
        <p:spPr>
          <a:xfrm rot="16200000">
            <a:off x="7770979" y="3482612"/>
            <a:ext cx="2730500" cy="56827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63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BD9A-0105-FD68-8711-4895CADF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0D8F4EA-17D2-A382-F20F-66BA1D5FAF14}"/>
              </a:ext>
            </a:extLst>
          </p:cNvPr>
          <p:cNvSpPr/>
          <p:nvPr/>
        </p:nvSpPr>
        <p:spPr>
          <a:xfrm>
            <a:off x="-1320802" y="-4602"/>
            <a:ext cx="7461298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E6541A6-6434-FC00-E0C6-6262E2EC62AD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3113263B-57B0-F20C-E66E-E3861A73967B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98FB63F3-6E3B-7279-2C4D-8B55B7C5EEFD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4FF6AD2-FED7-BAB9-BED8-AEE3A9880C86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E8E29C28-9F76-B08F-48A7-F58146BEF611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B5B7BE48-5A2A-FDDB-C068-BED72DFAA11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9F8503FF-D950-470F-437B-19FE5940D806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A6A3BDB-E4B6-F25E-A38B-43DFD2A69B5B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2EA5AF09-95B9-5E70-F9AE-ADD06B5B28A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38" name="Text 1">
            <a:extLst>
              <a:ext uri="{FF2B5EF4-FFF2-40B4-BE49-F238E27FC236}">
                <a16:creationId xmlns:a16="http://schemas.microsoft.com/office/drawing/2014/main" id="{152253A4-FCD5-92B1-A528-55EDE34EB796}"/>
              </a:ext>
            </a:extLst>
          </p:cNvPr>
          <p:cNvSpPr/>
          <p:nvPr/>
        </p:nvSpPr>
        <p:spPr>
          <a:xfrm>
            <a:off x="1650504" y="141129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 commento ai risultati</a:t>
            </a:r>
            <a:endParaRPr lang="en-US" sz="24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06D7956-EA92-56B9-70CC-173263C22891}"/>
              </a:ext>
            </a:extLst>
          </p:cNvPr>
          <p:cNvSpPr/>
          <p:nvPr/>
        </p:nvSpPr>
        <p:spPr>
          <a:xfrm>
            <a:off x="1487646" y="83713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delle dinamiche economico-finanziarie 2025–2028</a:t>
            </a:r>
            <a:endParaRPr lang="en-US" sz="1400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55ABEAC6-FE2E-662C-429D-306BB1761276}"/>
              </a:ext>
            </a:extLst>
          </p:cNvPr>
          <p:cNvSpPr/>
          <p:nvPr/>
        </p:nvSpPr>
        <p:spPr>
          <a:xfrm rot="16200000">
            <a:off x="-1344368" y="3487435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6" name="Rettangolo 105">
            <a:extLst>
              <a:ext uri="{FF2B5EF4-FFF2-40B4-BE49-F238E27FC236}">
                <a16:creationId xmlns:a16="http://schemas.microsoft.com/office/drawing/2014/main" id="{6A392298-01EA-B46F-29B3-DBF7AB970DC4}"/>
              </a:ext>
            </a:extLst>
          </p:cNvPr>
          <p:cNvSpPr/>
          <p:nvPr/>
        </p:nvSpPr>
        <p:spPr>
          <a:xfrm rot="16200000">
            <a:off x="-1353348" y="3467282"/>
            <a:ext cx="2730500" cy="63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98D3A7E4-3768-F1DE-C9FB-BA5BA1A2C037}"/>
              </a:ext>
            </a:extLst>
          </p:cNvPr>
          <p:cNvSpPr/>
          <p:nvPr/>
        </p:nvSpPr>
        <p:spPr>
          <a:xfrm>
            <a:off x="3206750" y="5091538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0" name="Rettangolo 109">
            <a:extLst>
              <a:ext uri="{FF2B5EF4-FFF2-40B4-BE49-F238E27FC236}">
                <a16:creationId xmlns:a16="http://schemas.microsoft.com/office/drawing/2014/main" id="{EC0CD267-0E06-1216-092B-A9E83BE5E77D}"/>
              </a:ext>
            </a:extLst>
          </p:cNvPr>
          <p:cNvSpPr/>
          <p:nvPr/>
        </p:nvSpPr>
        <p:spPr>
          <a:xfrm>
            <a:off x="3206750" y="5091538"/>
            <a:ext cx="2730500" cy="63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3" name="Rettangolo con angoli arrotondati 112">
            <a:extLst>
              <a:ext uri="{FF2B5EF4-FFF2-40B4-BE49-F238E27FC236}">
                <a16:creationId xmlns:a16="http://schemas.microsoft.com/office/drawing/2014/main" id="{8AB45722-9760-E651-3675-2D6A3EA322D7}"/>
              </a:ext>
            </a:extLst>
          </p:cNvPr>
          <p:cNvSpPr/>
          <p:nvPr/>
        </p:nvSpPr>
        <p:spPr>
          <a:xfrm rot="5400000">
            <a:off x="7769859" y="3487436"/>
            <a:ext cx="2730500" cy="45719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4" name="Rettangolo 113">
            <a:extLst>
              <a:ext uri="{FF2B5EF4-FFF2-40B4-BE49-F238E27FC236}">
                <a16:creationId xmlns:a16="http://schemas.microsoft.com/office/drawing/2014/main" id="{B381E3AF-6067-008D-615A-F888FB21C14B}"/>
              </a:ext>
            </a:extLst>
          </p:cNvPr>
          <p:cNvSpPr/>
          <p:nvPr/>
        </p:nvSpPr>
        <p:spPr>
          <a:xfrm rot="16200000">
            <a:off x="7772076" y="3478546"/>
            <a:ext cx="2730500" cy="635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BF666F46-02E5-315C-D5A3-32168D988CB7}"/>
              </a:ext>
            </a:extLst>
          </p:cNvPr>
          <p:cNvSpPr/>
          <p:nvPr/>
        </p:nvSpPr>
        <p:spPr>
          <a:xfrm>
            <a:off x="297372" y="1601424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B9DFF3D-5559-EF8A-75F8-48F1C8179694}"/>
              </a:ext>
            </a:extLst>
          </p:cNvPr>
          <p:cNvSpPr/>
          <p:nvPr/>
        </p:nvSpPr>
        <p:spPr>
          <a:xfrm>
            <a:off x="297372" y="1601424"/>
            <a:ext cx="2730500" cy="63500"/>
          </a:xfrm>
          <a:prstGeom prst="rect">
            <a:avLst/>
          </a:prstGeom>
          <a:solidFill>
            <a:srgbClr val="FF91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FC32241-A8C5-C76B-D74B-D03A64727748}"/>
              </a:ext>
            </a:extLst>
          </p:cNvPr>
          <p:cNvSpPr txBox="1"/>
          <p:nvPr/>
        </p:nvSpPr>
        <p:spPr>
          <a:xfrm>
            <a:off x="475172" y="1753824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F914D"/>
                </a:solidFill>
              </a:rPr>
              <a:t>Crescita ricavi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0B658DC-CA9D-E467-8400-CE655686A9DD}"/>
              </a:ext>
            </a:extLst>
          </p:cNvPr>
          <p:cNvSpPr txBox="1"/>
          <p:nvPr/>
        </p:nvSpPr>
        <p:spPr>
          <a:xfrm>
            <a:off x="475172" y="2134824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 err="1">
                <a:solidFill>
                  <a:srgbClr val="374151"/>
                </a:solidFill>
              </a:rPr>
              <a:t>VdP</a:t>
            </a:r>
            <a:r>
              <a:rPr lang="it-IT" sz="1000" dirty="0">
                <a:solidFill>
                  <a:srgbClr val="374151"/>
                </a:solidFill>
              </a:rPr>
              <a:t> da € 918k a € 1.504k (CAGR +17,9%). Crescita uniforme, accelerazione 2028 (+9,1% </a:t>
            </a:r>
            <a:r>
              <a:rPr lang="it-IT" sz="1000" dirty="0" err="1">
                <a:solidFill>
                  <a:srgbClr val="374151"/>
                </a:solidFill>
              </a:rPr>
              <a:t>YoY</a:t>
            </a:r>
            <a:r>
              <a:rPr lang="it-IT" sz="1000" dirty="0">
                <a:solidFill>
                  <a:srgbClr val="374151"/>
                </a:solidFill>
              </a:rPr>
              <a:t>). Driver: sviluppo servizi attuali e nuovi prodotti.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956583EC-B708-7B63-A11B-8964B3294867}"/>
              </a:ext>
            </a:extLst>
          </p:cNvPr>
          <p:cNvSpPr/>
          <p:nvPr/>
        </p:nvSpPr>
        <p:spPr>
          <a:xfrm>
            <a:off x="3205672" y="1601424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B7AFB98A-FEE0-298B-7804-09450DB33975}"/>
              </a:ext>
            </a:extLst>
          </p:cNvPr>
          <p:cNvSpPr/>
          <p:nvPr/>
        </p:nvSpPr>
        <p:spPr>
          <a:xfrm>
            <a:off x="3205672" y="1601424"/>
            <a:ext cx="27305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A75B3D1-74DF-140F-784D-ECD63FB5FAA3}"/>
              </a:ext>
            </a:extLst>
          </p:cNvPr>
          <p:cNvSpPr txBox="1"/>
          <p:nvPr/>
        </p:nvSpPr>
        <p:spPr>
          <a:xfrm>
            <a:off x="3383472" y="1753824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06B6D4"/>
                </a:solidFill>
              </a:rPr>
              <a:t>Redditività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FA1DEE5-0845-681F-66D0-5357546560EC}"/>
              </a:ext>
            </a:extLst>
          </p:cNvPr>
          <p:cNvSpPr txBox="1"/>
          <p:nvPr/>
        </p:nvSpPr>
        <p:spPr>
          <a:xfrm>
            <a:off x="3383472" y="2134824"/>
            <a:ext cx="23749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>
                <a:solidFill>
                  <a:srgbClr val="374151"/>
                </a:solidFill>
              </a:rPr>
              <a:t>EBITDA </a:t>
            </a:r>
            <a:r>
              <a:rPr lang="it-IT" sz="1000" dirty="0" err="1">
                <a:solidFill>
                  <a:srgbClr val="374151"/>
                </a:solidFill>
              </a:rPr>
              <a:t>margin</a:t>
            </a:r>
            <a:r>
              <a:rPr lang="it-IT" sz="1000" dirty="0">
                <a:solidFill>
                  <a:srgbClr val="374151"/>
                </a:solidFill>
              </a:rPr>
              <a:t> dall'11,4% al 16,4%. Utile netto 2028: € 122k (net </a:t>
            </a:r>
            <a:r>
              <a:rPr lang="it-IT" sz="1000" dirty="0" err="1">
                <a:solidFill>
                  <a:srgbClr val="374151"/>
                </a:solidFill>
              </a:rPr>
              <a:t>margin</a:t>
            </a:r>
            <a:r>
              <a:rPr lang="it-IT" sz="1000" dirty="0">
                <a:solidFill>
                  <a:srgbClr val="374151"/>
                </a:solidFill>
              </a:rPr>
              <a:t> 8,1%). 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133AE8D-69EF-A611-A018-6772C182CB82}"/>
              </a:ext>
            </a:extLst>
          </p:cNvPr>
          <p:cNvSpPr/>
          <p:nvPr/>
        </p:nvSpPr>
        <p:spPr>
          <a:xfrm>
            <a:off x="6113972" y="1601424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BE41232C-011C-A77B-5CDD-C59A688D9D7D}"/>
              </a:ext>
            </a:extLst>
          </p:cNvPr>
          <p:cNvSpPr/>
          <p:nvPr/>
        </p:nvSpPr>
        <p:spPr>
          <a:xfrm>
            <a:off x="6113972" y="1601424"/>
            <a:ext cx="2730500" cy="635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2EF22BA-30DA-D747-1241-CE853E7C8B82}"/>
              </a:ext>
            </a:extLst>
          </p:cNvPr>
          <p:cNvSpPr txBox="1"/>
          <p:nvPr/>
        </p:nvSpPr>
        <p:spPr>
          <a:xfrm>
            <a:off x="6291772" y="1753824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8B5CF6"/>
                </a:solidFill>
              </a:rPr>
              <a:t>Costo del lavoro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3F140677-2F34-9728-F55B-71C742621E54}"/>
              </a:ext>
            </a:extLst>
          </p:cNvPr>
          <p:cNvSpPr txBox="1"/>
          <p:nvPr/>
        </p:nvSpPr>
        <p:spPr>
          <a:xfrm>
            <a:off x="6291772" y="2134824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>
                <a:solidFill>
                  <a:srgbClr val="374151"/>
                </a:solidFill>
              </a:rPr>
              <a:t>Personale 2028: € 958k (incidenza 63,7%). Da 8 a 13 dipendenti coerente con sviluppo fatturato. Ricavi/dipendente stabili a € 115-120k.</a:t>
            </a:r>
          </a:p>
        </p:txBody>
      </p:sp>
    </p:spTree>
    <p:extLst>
      <p:ext uri="{BB962C8B-B14F-4D97-AF65-F5344CB8AC3E}">
        <p14:creationId xmlns:p14="http://schemas.microsoft.com/office/powerpoint/2010/main" val="2540500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5BB9-383A-B3BB-A618-B84431D5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7B69320B-0A42-70F1-6BDE-2BE35D0007D2}"/>
              </a:ext>
            </a:extLst>
          </p:cNvPr>
          <p:cNvSpPr/>
          <p:nvPr/>
        </p:nvSpPr>
        <p:spPr>
          <a:xfrm>
            <a:off x="-1320802" y="-4602"/>
            <a:ext cx="7461298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5E7EE9F-510B-B731-215F-5C9DFF96AFE3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00973BFD-E8D7-CFD4-4348-962FB6084420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1E0F101D-30BF-8352-58D4-E76FA3AD2AE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81725804-5FFA-9240-1C8F-A15FB9C2A82D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DD2AE4A8-6D72-2DD2-0821-FE316C0F38CB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596DC0A7-1740-9E3A-96D5-444D611A6044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C784AC8E-A9DE-D962-8FC3-A0E0966C596C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78E3D158-641D-5901-CD8B-637D6E95E1D9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EC686E58-F2B4-8752-B36F-F4E15D226E0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38" name="Text 1">
            <a:extLst>
              <a:ext uri="{FF2B5EF4-FFF2-40B4-BE49-F238E27FC236}">
                <a16:creationId xmlns:a16="http://schemas.microsoft.com/office/drawing/2014/main" id="{92B4DC23-C70E-14C3-FC59-F7A25FC5FAF2}"/>
              </a:ext>
            </a:extLst>
          </p:cNvPr>
          <p:cNvSpPr/>
          <p:nvPr/>
        </p:nvSpPr>
        <p:spPr>
          <a:xfrm>
            <a:off x="1650504" y="141129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 commento ai risultati</a:t>
            </a:r>
            <a:endParaRPr lang="en-US" sz="24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09376FF-4A4C-1327-4E66-FD8325CADA03}"/>
              </a:ext>
            </a:extLst>
          </p:cNvPr>
          <p:cNvSpPr/>
          <p:nvPr/>
        </p:nvSpPr>
        <p:spPr>
          <a:xfrm>
            <a:off x="1487646" y="83713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delle dinamiche economico-finanziarie 2025–2028</a:t>
            </a:r>
            <a:endParaRPr lang="en-US" sz="1400" dirty="0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409E473A-B57E-4C8F-E43E-2D36AA898893}"/>
              </a:ext>
            </a:extLst>
          </p:cNvPr>
          <p:cNvSpPr/>
          <p:nvPr/>
        </p:nvSpPr>
        <p:spPr>
          <a:xfrm>
            <a:off x="297372" y="1601424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8214604-80B2-166D-C313-6FF5361B186D}"/>
              </a:ext>
            </a:extLst>
          </p:cNvPr>
          <p:cNvSpPr/>
          <p:nvPr/>
        </p:nvSpPr>
        <p:spPr>
          <a:xfrm>
            <a:off x="297372" y="1601424"/>
            <a:ext cx="2730500" cy="63500"/>
          </a:xfrm>
          <a:prstGeom prst="rect">
            <a:avLst/>
          </a:prstGeom>
          <a:solidFill>
            <a:srgbClr val="FF91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97B0C61-60B0-7AD0-447C-AD1F327E1503}"/>
              </a:ext>
            </a:extLst>
          </p:cNvPr>
          <p:cNvSpPr txBox="1"/>
          <p:nvPr/>
        </p:nvSpPr>
        <p:spPr>
          <a:xfrm>
            <a:off x="475172" y="1753824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F914D"/>
                </a:solidFill>
              </a:rPr>
              <a:t>Crescita ricavi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3295E2-0706-5EF2-54D1-7638C2978044}"/>
              </a:ext>
            </a:extLst>
          </p:cNvPr>
          <p:cNvSpPr txBox="1"/>
          <p:nvPr/>
        </p:nvSpPr>
        <p:spPr>
          <a:xfrm>
            <a:off x="475172" y="2134824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 err="1">
                <a:solidFill>
                  <a:srgbClr val="374151"/>
                </a:solidFill>
              </a:rPr>
              <a:t>VdP</a:t>
            </a:r>
            <a:r>
              <a:rPr lang="it-IT" sz="1000" dirty="0">
                <a:solidFill>
                  <a:srgbClr val="374151"/>
                </a:solidFill>
              </a:rPr>
              <a:t> da € 918k a € 1.504k (CAGR +17,9%). Crescita uniforme, accelerazione 2028 (+9,1% </a:t>
            </a:r>
            <a:r>
              <a:rPr lang="it-IT" sz="1000" dirty="0" err="1">
                <a:solidFill>
                  <a:srgbClr val="374151"/>
                </a:solidFill>
              </a:rPr>
              <a:t>YoY</a:t>
            </a:r>
            <a:r>
              <a:rPr lang="it-IT" sz="1000" dirty="0">
                <a:solidFill>
                  <a:srgbClr val="374151"/>
                </a:solidFill>
              </a:rPr>
              <a:t>). Driver: sviluppo servizi attuali e nuovi prodotti.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444F8E4-3192-CB4B-93D8-E97D102576B3}"/>
              </a:ext>
            </a:extLst>
          </p:cNvPr>
          <p:cNvSpPr/>
          <p:nvPr/>
        </p:nvSpPr>
        <p:spPr>
          <a:xfrm>
            <a:off x="3205672" y="1601424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1E15D62-E8FF-5854-CBEC-3D0807D7C640}"/>
              </a:ext>
            </a:extLst>
          </p:cNvPr>
          <p:cNvSpPr/>
          <p:nvPr/>
        </p:nvSpPr>
        <p:spPr>
          <a:xfrm>
            <a:off x="3205672" y="1601424"/>
            <a:ext cx="27305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7F850B2-A5F7-DF28-7D46-5D3D7CAC6170}"/>
              </a:ext>
            </a:extLst>
          </p:cNvPr>
          <p:cNvSpPr txBox="1"/>
          <p:nvPr/>
        </p:nvSpPr>
        <p:spPr>
          <a:xfrm>
            <a:off x="3383472" y="1753824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06B6D4"/>
                </a:solidFill>
              </a:rPr>
              <a:t>Redditività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D9ED562-5573-8C77-1FCB-080D091EEC2A}"/>
              </a:ext>
            </a:extLst>
          </p:cNvPr>
          <p:cNvSpPr txBox="1"/>
          <p:nvPr/>
        </p:nvSpPr>
        <p:spPr>
          <a:xfrm>
            <a:off x="3383472" y="2134824"/>
            <a:ext cx="23749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>
                <a:solidFill>
                  <a:srgbClr val="374151"/>
                </a:solidFill>
              </a:rPr>
              <a:t>EBITDA </a:t>
            </a:r>
            <a:r>
              <a:rPr lang="it-IT" sz="1000" dirty="0" err="1">
                <a:solidFill>
                  <a:srgbClr val="374151"/>
                </a:solidFill>
              </a:rPr>
              <a:t>margin</a:t>
            </a:r>
            <a:r>
              <a:rPr lang="it-IT" sz="1000" dirty="0">
                <a:solidFill>
                  <a:srgbClr val="374151"/>
                </a:solidFill>
              </a:rPr>
              <a:t> dall'11,4% al 16,4%. Utile netto 2028: € 122k (net </a:t>
            </a:r>
            <a:r>
              <a:rPr lang="it-IT" sz="1000" dirty="0" err="1">
                <a:solidFill>
                  <a:srgbClr val="374151"/>
                </a:solidFill>
              </a:rPr>
              <a:t>margin</a:t>
            </a:r>
            <a:r>
              <a:rPr lang="it-IT" sz="1000" dirty="0">
                <a:solidFill>
                  <a:srgbClr val="374151"/>
                </a:solidFill>
              </a:rPr>
              <a:t> 8,1%). 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DC093AA-E89C-2BA1-A66E-0826F8291300}"/>
              </a:ext>
            </a:extLst>
          </p:cNvPr>
          <p:cNvSpPr/>
          <p:nvPr/>
        </p:nvSpPr>
        <p:spPr>
          <a:xfrm>
            <a:off x="6113972" y="1601424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145CA09-6F72-EF36-2989-22AAC226A259}"/>
              </a:ext>
            </a:extLst>
          </p:cNvPr>
          <p:cNvSpPr/>
          <p:nvPr/>
        </p:nvSpPr>
        <p:spPr>
          <a:xfrm>
            <a:off x="6113972" y="1601424"/>
            <a:ext cx="2730500" cy="635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868DAA5-15D0-1BF7-5403-5AC83C57D503}"/>
              </a:ext>
            </a:extLst>
          </p:cNvPr>
          <p:cNvSpPr txBox="1"/>
          <p:nvPr/>
        </p:nvSpPr>
        <p:spPr>
          <a:xfrm>
            <a:off x="6291772" y="1753824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8B5CF6"/>
                </a:solidFill>
              </a:rPr>
              <a:t>Costo del lavoro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7512871-8AD6-8EC4-ED4E-212ADE276BB6}"/>
              </a:ext>
            </a:extLst>
          </p:cNvPr>
          <p:cNvSpPr txBox="1"/>
          <p:nvPr/>
        </p:nvSpPr>
        <p:spPr>
          <a:xfrm>
            <a:off x="6291772" y="2134824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>
                <a:solidFill>
                  <a:srgbClr val="374151"/>
                </a:solidFill>
              </a:rPr>
              <a:t>Personale 2028: € 958k (incidenza 63,7%). Da 8 a 13 dipendenti coerente con sviluppo fatturato. Ricavi/dipendente stabili a € 115-120k.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981D944-4051-166C-FD5E-42A0682CE344}"/>
              </a:ext>
            </a:extLst>
          </p:cNvPr>
          <p:cNvSpPr/>
          <p:nvPr/>
        </p:nvSpPr>
        <p:spPr>
          <a:xfrm>
            <a:off x="285254" y="3410657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D7045039-CF70-3D70-6F6C-11B3102BDD6B}"/>
              </a:ext>
            </a:extLst>
          </p:cNvPr>
          <p:cNvSpPr/>
          <p:nvPr/>
        </p:nvSpPr>
        <p:spPr>
          <a:xfrm>
            <a:off x="285254" y="3410657"/>
            <a:ext cx="2730500" cy="63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CCABA4F-B8BE-A387-05B6-1A45677210DA}"/>
              </a:ext>
            </a:extLst>
          </p:cNvPr>
          <p:cNvSpPr txBox="1"/>
          <p:nvPr/>
        </p:nvSpPr>
        <p:spPr>
          <a:xfrm>
            <a:off x="463054" y="3563057"/>
            <a:ext cx="23749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Investimenti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A9FC9D6-59E4-08C4-73F4-CFBB25CD95AE}"/>
              </a:ext>
            </a:extLst>
          </p:cNvPr>
          <p:cNvSpPr txBox="1"/>
          <p:nvPr/>
        </p:nvSpPr>
        <p:spPr>
          <a:xfrm>
            <a:off x="463054" y="3944057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000" dirty="0">
                <a:solidFill>
                  <a:srgbClr val="374151"/>
                </a:solidFill>
              </a:rPr>
              <a:t>Ammortamenti +156% (€ 29k → € 75k). Capex annuo ~€ 70k in software proprietari (AML, Risk, DWH). Riduce EBIT, non impatta cassa.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E0526AB-59E0-FAE5-69DA-E381EFEE6197}"/>
              </a:ext>
            </a:extLst>
          </p:cNvPr>
          <p:cNvSpPr/>
          <p:nvPr/>
        </p:nvSpPr>
        <p:spPr>
          <a:xfrm>
            <a:off x="3193554" y="3410657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82876C96-5DBA-F792-C2CE-D6902A09FD5D}"/>
              </a:ext>
            </a:extLst>
          </p:cNvPr>
          <p:cNvSpPr/>
          <p:nvPr/>
        </p:nvSpPr>
        <p:spPr>
          <a:xfrm>
            <a:off x="3193554" y="3410657"/>
            <a:ext cx="2730500" cy="63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81D23E5-A67D-2009-CC4E-96C4AAF65590}"/>
              </a:ext>
            </a:extLst>
          </p:cNvPr>
          <p:cNvSpPr txBox="1"/>
          <p:nvPr/>
        </p:nvSpPr>
        <p:spPr>
          <a:xfrm>
            <a:off x="3371354" y="3563057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59E0B"/>
                </a:solidFill>
              </a:rPr>
              <a:t>Stato Patrimoniale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B4648C9-0FEF-C960-F265-13288A3AFB64}"/>
              </a:ext>
            </a:extLst>
          </p:cNvPr>
          <p:cNvSpPr txBox="1"/>
          <p:nvPr/>
        </p:nvSpPr>
        <p:spPr>
          <a:xfrm>
            <a:off x="3371354" y="3944057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>
                <a:solidFill>
                  <a:srgbClr val="374151"/>
                </a:solidFill>
              </a:rPr>
              <a:t>Tot attivo +44,9% a € 1.475k. Struttura equity-financed (zero debito), equity ratio 60-62%. PN da € 617k a € 914k via reinvestimento utili.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86031038-2874-5A75-8BF9-35CF21A55BD0}"/>
              </a:ext>
            </a:extLst>
          </p:cNvPr>
          <p:cNvSpPr/>
          <p:nvPr/>
        </p:nvSpPr>
        <p:spPr>
          <a:xfrm>
            <a:off x="6101854" y="3410657"/>
            <a:ext cx="2730500" cy="1528918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19CC27F7-2D48-2643-FD36-4DE6B485D0D7}"/>
              </a:ext>
            </a:extLst>
          </p:cNvPr>
          <p:cNvSpPr/>
          <p:nvPr/>
        </p:nvSpPr>
        <p:spPr>
          <a:xfrm>
            <a:off x="6101854" y="3410657"/>
            <a:ext cx="2730500" cy="635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BD2F725-E24D-1C1A-F946-8DAE3A4590C4}"/>
              </a:ext>
            </a:extLst>
          </p:cNvPr>
          <p:cNvSpPr txBox="1"/>
          <p:nvPr/>
        </p:nvSpPr>
        <p:spPr>
          <a:xfrm>
            <a:off x="6279654" y="3563057"/>
            <a:ext cx="2374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1A1A2E"/>
                </a:solidFill>
              </a:rPr>
              <a:t>Flussi di cassa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6256467-EC62-04C9-9BAA-D7AE957F545D}"/>
              </a:ext>
            </a:extLst>
          </p:cNvPr>
          <p:cNvSpPr txBox="1"/>
          <p:nvPr/>
        </p:nvSpPr>
        <p:spPr>
          <a:xfrm>
            <a:off x="6279654" y="3944057"/>
            <a:ext cx="23749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it-IT" sz="1000" dirty="0">
                <a:solidFill>
                  <a:srgbClr val="374151"/>
                </a:solidFill>
              </a:rPr>
              <a:t>Flusso operativo da € 103k a € 209k. CCN strutturalmente positivo (DSO ~5gg). FCF 2028: € 138k. Capex interamente coperto da operativo.</a:t>
            </a:r>
          </a:p>
        </p:txBody>
      </p:sp>
    </p:spTree>
    <p:extLst>
      <p:ext uri="{BB962C8B-B14F-4D97-AF65-F5344CB8AC3E}">
        <p14:creationId xmlns:p14="http://schemas.microsoft.com/office/powerpoint/2010/main" val="1046970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EA3-5E1E-82A5-2055-826C90FF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31D82D71-2FB9-B1A5-3FC8-ED0D13B1E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8122700"/>
              </p:ext>
            </p:extLst>
          </p:nvPr>
        </p:nvGraphicFramePr>
        <p:xfrm>
          <a:off x="446190" y="1337655"/>
          <a:ext cx="8251620" cy="3676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Text 8">
            <a:extLst>
              <a:ext uri="{FF2B5EF4-FFF2-40B4-BE49-F238E27FC236}">
                <a16:creationId xmlns:a16="http://schemas.microsoft.com/office/drawing/2014/main" id="{24A6BB7F-69AB-FA37-439B-C26766FAC46C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156BEEC9-C8E9-026D-70BD-21BBD300159E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39C5B81-7009-CCD9-E93E-B41B2B50B994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8D034DEE-A095-4930-CAEC-896605B3E72C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30FD71E9-11BF-7553-4BAA-440C16A5F5A9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4790F647-784B-B660-3673-1818503B322F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4F4B27E-7017-E0DD-87B6-A148401A4EAB}"/>
              </a:ext>
            </a:extLst>
          </p:cNvPr>
          <p:cNvSpPr/>
          <p:nvPr/>
        </p:nvSpPr>
        <p:spPr>
          <a:xfrm>
            <a:off x="1581845" y="-30378"/>
            <a:ext cx="10209094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A69F690-280E-630E-8C63-75B0CCB73633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998A6BA-3AFE-9F4C-F7EF-FB1D2DC9342F}"/>
              </a:ext>
            </a:extLst>
          </p:cNvPr>
          <p:cNvSpPr/>
          <p:nvPr/>
        </p:nvSpPr>
        <p:spPr>
          <a:xfrm>
            <a:off x="1763679" y="129557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dei ricavi e dei costi previsionali</a:t>
            </a:r>
            <a:endParaRPr lang="en-US" sz="24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30170C3-57BF-B702-C28A-2A0ECA619A25}"/>
              </a:ext>
            </a:extLst>
          </p:cNvPr>
          <p:cNvSpPr/>
          <p:nvPr/>
        </p:nvSpPr>
        <p:spPr>
          <a:xfrm>
            <a:off x="2896712" y="1769268"/>
            <a:ext cx="5689971" cy="2894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kern="120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E780CEB-421B-3ACB-325D-EEEC3A79E65B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24C61D0E-38C9-F06D-A0D4-243033198E1C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B4FAE74B-21E9-AC54-C070-A3F307C8C254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A62A229-B356-E11E-ACC8-B145993D1563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E3CEC95-89DD-C54A-F26B-3981D3B26752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EA23C12D-088D-E898-A0F5-9028D8686C36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A716BFA7-678F-17C3-5EA1-3CB95C23117D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EE106141-A5E5-1ED7-F585-2236A2376B98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4ED5E8E2-5533-3F1C-B7B8-B01F506E789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96783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07BA-AEF9-6DD4-A992-01115672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D1423F3-06F2-E9CF-ABAA-5B7DBE8A5C55}"/>
              </a:ext>
            </a:extLst>
          </p:cNvPr>
          <p:cNvSpPr/>
          <p:nvPr/>
        </p:nvSpPr>
        <p:spPr>
          <a:xfrm>
            <a:off x="8349740" y="1769268"/>
            <a:ext cx="236943" cy="2894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kern="120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3166C117-E727-D09D-4B36-920C2C93C2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195402"/>
              </p:ext>
            </p:extLst>
          </p:nvPr>
        </p:nvGraphicFramePr>
        <p:xfrm>
          <a:off x="446190" y="1337655"/>
          <a:ext cx="8251620" cy="3676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Text 8">
            <a:extLst>
              <a:ext uri="{FF2B5EF4-FFF2-40B4-BE49-F238E27FC236}">
                <a16:creationId xmlns:a16="http://schemas.microsoft.com/office/drawing/2014/main" id="{84B1AB36-9835-2232-58F4-BA42C2136DEE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DBFB7B65-9465-C1A4-8E08-79E05E7877B9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14E9C48E-1E71-9B14-7B69-4A11652D8B28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3009E6B-DE93-69DB-27A6-D23E3D27B32E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1E0EE3C1-F8D3-D0D3-C1AF-4FA2AF8D801B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8B9BBDDE-E2AA-9867-03C4-227EC9F91E4A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9950001-6F1B-FFBF-1830-344498ABD43D}"/>
              </a:ext>
            </a:extLst>
          </p:cNvPr>
          <p:cNvSpPr/>
          <p:nvPr/>
        </p:nvSpPr>
        <p:spPr>
          <a:xfrm>
            <a:off x="1581845" y="-30378"/>
            <a:ext cx="10209094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DDAB35D-53E2-0AE0-6DD0-051AA75777F8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1E6385CC-A471-7840-8475-96D7066DB412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B1D7178-FE3C-DD4B-9AE9-3992BF624228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327CB29A-2991-407F-14F5-210BB28DC2B4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312C43E-FAC1-8164-6EF8-541587BC6C04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CBB9BD1A-A2BD-9496-239D-78C21785E85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EF61CA05-B00B-00F7-5CB1-1E8A10928C39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88B559AF-3D32-0FA8-EE3E-8AD92C60E78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E47FE87C-EAED-B573-150E-D7C57794DC7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EDADCE0A-BF73-1C3C-54D8-9BA2A4FC8CA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A0681D8E-6D69-7321-7FCF-A5CB5E414173}"/>
              </a:ext>
            </a:extLst>
          </p:cNvPr>
          <p:cNvSpPr/>
          <p:nvPr/>
        </p:nvSpPr>
        <p:spPr>
          <a:xfrm>
            <a:off x="1763679" y="129557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dei ricavi e dei costi previsionali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7832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C9DF6-1609-7E62-316F-B7A4F02C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6EB2DC4A-9C18-38B0-2152-968AB2D11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304555"/>
              </p:ext>
            </p:extLst>
          </p:nvPr>
        </p:nvGraphicFramePr>
        <p:xfrm>
          <a:off x="446190" y="1296761"/>
          <a:ext cx="8246795" cy="3676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6FD77EED-8BB1-5AB2-C8B5-426AA96FC6AB}"/>
              </a:ext>
            </a:extLst>
          </p:cNvPr>
          <p:cNvSpPr/>
          <p:nvPr/>
        </p:nvSpPr>
        <p:spPr>
          <a:xfrm>
            <a:off x="-1320803" y="-4602"/>
            <a:ext cx="8148767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0E0E2757-A222-E4C1-ADA0-D91741140667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DC54265-0E7B-0E40-1098-B67190027FE9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7E52ABAD-4C1A-0CAF-D6BE-3534F22C39A3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3ED99F6-47D4-1687-B618-6AA1805E35E6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A2C2BB9-2881-44B4-5D71-28D570C4BB9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A76625B2-F371-7EF7-34BF-16C343A354C0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E8D260E6-9066-45C1-32F5-E995FEEBAE28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E23C2EF-F69D-6D3C-B156-3EC457A43AF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8AA0B8F-D062-DEC0-796A-50AFCA3B7316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DC1CBEEF-569B-AA33-CC3C-6D7A7265F799}"/>
              </a:ext>
            </a:extLst>
          </p:cNvPr>
          <p:cNvSpPr/>
          <p:nvPr/>
        </p:nvSpPr>
        <p:spPr>
          <a:xfrm>
            <a:off x="1650504" y="15727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tendenziale 2025–2028</a:t>
            </a:r>
            <a:endParaRPr lang="en-US" sz="240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276DBE8-A7C7-9160-EF41-6B7067529AF7}"/>
              </a:ext>
            </a:extLst>
          </p:cNvPr>
          <p:cNvSpPr/>
          <p:nvPr/>
        </p:nvSpPr>
        <p:spPr>
          <a:xfrm>
            <a:off x="1982493" y="1687475"/>
            <a:ext cx="5689971" cy="2894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kern="1200"/>
          </a:p>
        </p:txBody>
      </p:sp>
    </p:spTree>
    <p:extLst>
      <p:ext uri="{BB962C8B-B14F-4D97-AF65-F5344CB8AC3E}">
        <p14:creationId xmlns:p14="http://schemas.microsoft.com/office/powerpoint/2010/main" val="158752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56425-F141-804C-56F8-B95D5075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464A5F17-6521-0542-C4D6-2CF2C8E25B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088640"/>
              </p:ext>
            </p:extLst>
          </p:nvPr>
        </p:nvGraphicFramePr>
        <p:xfrm>
          <a:off x="446190" y="1296761"/>
          <a:ext cx="8246795" cy="3676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A4A1B06C-BB9A-A2EF-E65B-AB08722715F2}"/>
              </a:ext>
            </a:extLst>
          </p:cNvPr>
          <p:cNvSpPr/>
          <p:nvPr/>
        </p:nvSpPr>
        <p:spPr>
          <a:xfrm>
            <a:off x="-1320803" y="-4602"/>
            <a:ext cx="8148767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272C2DB-AD67-D423-5CA1-44BAC516A0D3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A4EB1895-1813-490C-1963-5E221928D24B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6C48CD2-8C82-DC89-7D90-37A988F202C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C2A3170C-2B17-46CF-0F39-3115C99A816E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C4C11E8-9930-4C47-A26D-031C3D88658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998F47BA-458C-E622-E7E0-F6A7C92F6431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47CC9281-BC68-B3C1-7821-9A60DC5BF62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E989D6F1-85BA-DEE2-A744-56CCD9746D6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7AD0CF0A-2F06-F986-7939-CB42900B0A50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82CB647B-E913-A992-2BE9-34135751EB12}"/>
              </a:ext>
            </a:extLst>
          </p:cNvPr>
          <p:cNvSpPr/>
          <p:nvPr/>
        </p:nvSpPr>
        <p:spPr>
          <a:xfrm>
            <a:off x="1650504" y="15727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tendenziale 2025–2028</a:t>
            </a:r>
            <a:endParaRPr lang="en-US" sz="24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6F44BA0-9247-D1D4-6485-D5C6C54AF493}"/>
              </a:ext>
            </a:extLst>
          </p:cNvPr>
          <p:cNvSpPr/>
          <p:nvPr/>
        </p:nvSpPr>
        <p:spPr>
          <a:xfrm>
            <a:off x="8069413" y="1716318"/>
            <a:ext cx="551656" cy="2894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kern="1200"/>
          </a:p>
        </p:txBody>
      </p:sp>
    </p:spTree>
    <p:extLst>
      <p:ext uri="{BB962C8B-B14F-4D97-AF65-F5344CB8AC3E}">
        <p14:creationId xmlns:p14="http://schemas.microsoft.com/office/powerpoint/2010/main" val="68398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6DA3-5F66-91AD-5C8A-141266BB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A09CDE0-3EB3-87E0-3D99-004FF2161C9F}"/>
              </a:ext>
            </a:extLst>
          </p:cNvPr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37C17C0-CF68-B6C1-0AFA-F40ADFABE6B1}"/>
              </a:ext>
            </a:extLst>
          </p:cNvPr>
          <p:cNvGrpSpPr/>
          <p:nvPr/>
        </p:nvGrpSpPr>
        <p:grpSpPr>
          <a:xfrm rot="6050186" flipH="1" flipV="1">
            <a:off x="1940700" y="-1603588"/>
            <a:ext cx="5341916" cy="5080039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556B6467-1BCD-13FF-A44D-867F01DC443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5F6F1C4C-3BC0-C43D-9D4E-6D1E63B68A61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8BCE8D1-05C4-1EB1-EEAD-F56E927EB607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1605FAD-A4C6-3C3B-09D8-AB65ABA2D937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08BFBFF8-1197-0134-C4F2-F692E4C1788D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72CC47C7-C37C-2631-BBDD-816735B9F89D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F594DB0-5648-4772-9E97-982CF5F195C6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3354BE48-AC79-B4F8-AB98-B4333E7543D3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13" name="Text 2">
            <a:extLst>
              <a:ext uri="{FF2B5EF4-FFF2-40B4-BE49-F238E27FC236}">
                <a16:creationId xmlns:a16="http://schemas.microsoft.com/office/drawing/2014/main" id="{5547B6BF-69A1-3153-3ED3-C6302FE7D99D}"/>
              </a:ext>
            </a:extLst>
          </p:cNvPr>
          <p:cNvSpPr/>
          <p:nvPr/>
        </p:nvSpPr>
        <p:spPr>
          <a:xfrm>
            <a:off x="365760" y="347719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SCENARIO ADVANCED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133BD37-EC62-51A5-F3D7-0D371415E6B3}"/>
              </a:ext>
            </a:extLst>
          </p:cNvPr>
          <p:cNvSpPr/>
          <p:nvPr/>
        </p:nvSpPr>
        <p:spPr>
          <a:xfrm>
            <a:off x="383177" y="349940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DI SVILUPPO</a:t>
            </a:r>
            <a:endParaRPr lang="en-US" sz="4200" dirty="0">
              <a:solidFill>
                <a:schemeClr val="tx2"/>
              </a:solidFill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6940C5B1-B48A-ADC3-F877-A3CDBD464371}"/>
              </a:ext>
            </a:extLst>
          </p:cNvPr>
          <p:cNvSpPr/>
          <p:nvPr/>
        </p:nvSpPr>
        <p:spPr>
          <a:xfrm>
            <a:off x="365760" y="436579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collateral business · Partnership · </a:t>
            </a:r>
            <a:r>
              <a:rPr lang="en-US" sz="15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Nuove</a:t>
            </a: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industries</a:t>
            </a:r>
          </a:p>
        </p:txBody>
      </p:sp>
    </p:spTree>
    <p:extLst>
      <p:ext uri="{BB962C8B-B14F-4D97-AF65-F5344CB8AC3E}">
        <p14:creationId xmlns:p14="http://schemas.microsoft.com/office/powerpoint/2010/main" val="306796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3CB43-83BD-9D0D-60A7-0164BB2A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99D97682-2D70-BD7C-04F7-69BDDD4F92BE}"/>
              </a:ext>
            </a:extLst>
          </p:cNvPr>
          <p:cNvSpPr/>
          <p:nvPr/>
        </p:nvSpPr>
        <p:spPr>
          <a:xfrm>
            <a:off x="228600" y="1408427"/>
            <a:ext cx="374904" cy="2880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ADC71F1-2407-3E02-1514-AA08D6C84690}"/>
              </a:ext>
            </a:extLst>
          </p:cNvPr>
          <p:cNvSpPr/>
          <p:nvPr/>
        </p:nvSpPr>
        <p:spPr>
          <a:xfrm>
            <a:off x="50292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C5F907B0-A132-4DEE-77DF-8A5D48A47111}"/>
              </a:ext>
            </a:extLst>
          </p:cNvPr>
          <p:cNvSpPr/>
          <p:nvPr/>
        </p:nvSpPr>
        <p:spPr>
          <a:xfrm>
            <a:off x="48006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3B151559-5AC5-EE1D-BC3E-72E447289615}"/>
              </a:ext>
            </a:extLst>
          </p:cNvPr>
          <p:cNvSpPr/>
          <p:nvPr/>
        </p:nvSpPr>
        <p:spPr>
          <a:xfrm>
            <a:off x="473583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FD546089-8DD6-A950-46E2-6D3A0CA5A5CA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54F81D5A-C1EB-9467-4660-094DBAC8B1E8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807BA180-CA0F-E113-3137-A96366B3FEEC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C0ECA555-EB06-CBEA-A7E3-F3CCA8B57E17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F13FED1C-87FA-4DB0-57FF-70A351F95309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323712B-5E7A-11DD-52A3-6283271968EC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021F149-88D1-36B7-FF2B-BFABA42A0611}"/>
              </a:ext>
            </a:extLst>
          </p:cNvPr>
          <p:cNvSpPr/>
          <p:nvPr/>
        </p:nvSpPr>
        <p:spPr>
          <a:xfrm>
            <a:off x="2533633" y="-30378"/>
            <a:ext cx="9257305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5468C9E-541B-27D3-585C-E8CE8DDD57E5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8887ABC-7EED-F796-E4E9-E6A0DBC84CF7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A437BA6-A56D-54F3-9C05-019E41648BF1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4C2C4B20-FF18-B8A1-D0C4-620251C65E94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2B964B0-569E-4743-4047-F9F87A5E0282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07C1B5E-87DC-839D-9F62-EB5901B23C5D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F3542C4-F090-1DCE-57FD-F4E851142099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8C011684-2FCC-D0EA-2BF2-75E040380F2B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3824A29-F28B-3A15-C7A2-1B23DE2D7BD5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6200FF7E-9706-4078-C231-5A673405437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0E9D1785-CEB2-A03C-D9DF-F5974688A57C}"/>
              </a:ext>
            </a:extLst>
          </p:cNvPr>
          <p:cNvSpPr/>
          <p:nvPr/>
        </p:nvSpPr>
        <p:spPr>
          <a:xfrm>
            <a:off x="-1154677" y="8357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abilitanti e possibili traiettorie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4F3A2773-0322-46E3-0980-60A6B2ED86C5}"/>
              </a:ext>
            </a:extLst>
          </p:cNvPr>
          <p:cNvSpPr/>
          <p:nvPr/>
        </p:nvSpPr>
        <p:spPr>
          <a:xfrm>
            <a:off x="-1299561" y="4559705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Queste opportunità sono in fase di valutazione con banche socie e potenziali partner esterni.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35D40DB-E8F7-E566-6439-A017B47636F9}"/>
              </a:ext>
            </a:extLst>
          </p:cNvPr>
          <p:cNvSpPr/>
          <p:nvPr/>
        </p:nvSpPr>
        <p:spPr>
          <a:xfrm>
            <a:off x="-1036045" y="116141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Advanced — panoramica</a:t>
            </a:r>
            <a:endParaRPr lang="en-US" sz="24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4362D545-B03C-1345-6F11-0DDAFA02F538}"/>
              </a:ext>
            </a:extLst>
          </p:cNvPr>
          <p:cNvSpPr/>
          <p:nvPr/>
        </p:nvSpPr>
        <p:spPr>
          <a:xfrm>
            <a:off x="223710" y="4596781"/>
            <a:ext cx="6043739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80628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A4A2-3C8A-AEFA-AE4F-64AC04E7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EA66E9C8-D646-03AC-D910-E87B094422D2}"/>
              </a:ext>
            </a:extLst>
          </p:cNvPr>
          <p:cNvSpPr/>
          <p:nvPr/>
        </p:nvSpPr>
        <p:spPr>
          <a:xfrm>
            <a:off x="228600" y="1408427"/>
            <a:ext cx="3209544" cy="2880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AAF9C32-31BB-9453-3535-5B5D10F3951D}"/>
              </a:ext>
            </a:extLst>
          </p:cNvPr>
          <p:cNvSpPr/>
          <p:nvPr/>
        </p:nvSpPr>
        <p:spPr>
          <a:xfrm>
            <a:off x="50292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E7799E7-525E-8561-27CA-D7A56B971CF5}"/>
              </a:ext>
            </a:extLst>
          </p:cNvPr>
          <p:cNvSpPr/>
          <p:nvPr/>
        </p:nvSpPr>
        <p:spPr>
          <a:xfrm>
            <a:off x="758952" y="1499867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esterne</a:t>
            </a:r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640E07D-09A0-1D26-C599-D816C0F195C6}"/>
              </a:ext>
            </a:extLst>
          </p:cNvPr>
          <p:cNvSpPr/>
          <p:nvPr/>
        </p:nvSpPr>
        <p:spPr>
          <a:xfrm>
            <a:off x="758952" y="2231387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 con società tecnologiche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Collaborazione con Enti formatori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 esterni (DPO, legale)</a:t>
            </a:r>
            <a:endParaRPr lang="en-US" sz="12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3E37A2BA-0A93-87BE-22AD-75D084514060}"/>
              </a:ext>
            </a:extLst>
          </p:cNvPr>
          <p:cNvSpPr/>
          <p:nvPr/>
        </p:nvSpPr>
        <p:spPr>
          <a:xfrm>
            <a:off x="333756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F7D8474E-DD7D-BBB3-9137-C36D258FBA1B}"/>
              </a:ext>
            </a:extLst>
          </p:cNvPr>
          <p:cNvSpPr/>
          <p:nvPr/>
        </p:nvSpPr>
        <p:spPr>
          <a:xfrm>
            <a:off x="3346704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B5B35947-A760-34BA-69AD-5A13A8F40D18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C8A8A4A-F8FB-2460-86C2-37237353CC55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015404AA-9543-659D-FF83-BF0D3D3BE296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58F446F-0B8D-B644-2E4A-3B6D84615BC1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77350051-8B66-D904-7D4F-18C4DE21AE11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D6188DCA-BD20-47C4-B91F-B1CFE14957BB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780D27B-1BA8-3A99-A48B-D5F503132C76}"/>
              </a:ext>
            </a:extLst>
          </p:cNvPr>
          <p:cNvSpPr/>
          <p:nvPr/>
        </p:nvSpPr>
        <p:spPr>
          <a:xfrm>
            <a:off x="2533633" y="-30378"/>
            <a:ext cx="9257305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D89B298-56D5-DF52-1F34-E3BCCCDBAD31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F08BAD2-FB36-468D-A7EB-DDCBA39A51E2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6A4903D3-BECE-99C4-0658-4D8720BA7308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DC52EB67-5D2F-AE70-4613-B1A24889C23E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A2223BED-CA9A-3033-9DEC-B152959E7B36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B895914-9786-080D-C233-E1B41FE800B0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E7A6DD08-6D2E-FE08-DE90-1C19A601F3E3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D8377588-24C4-2076-EB30-87C4478797DA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6FB3B144-08C5-8C02-277F-9CD6F102E40C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DE46ED52-8FB8-C22F-3392-69689FFB1199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A018AF53-51F0-F5F0-9B24-6435FFF7F75B}"/>
              </a:ext>
            </a:extLst>
          </p:cNvPr>
          <p:cNvSpPr/>
          <p:nvPr/>
        </p:nvSpPr>
        <p:spPr>
          <a:xfrm>
            <a:off x="-1154677" y="8357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abilitanti e possibili traiettorie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9EA67ABB-1DED-3F36-755B-BFE67891F859}"/>
              </a:ext>
            </a:extLst>
          </p:cNvPr>
          <p:cNvSpPr/>
          <p:nvPr/>
        </p:nvSpPr>
        <p:spPr>
          <a:xfrm>
            <a:off x="-1299561" y="4559705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Queste opportunità sono in fase di valutazione con banche socie e potenziali partner esterni.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6E8A950-FC34-F4AC-FF10-52DFC1F58338}"/>
              </a:ext>
            </a:extLst>
          </p:cNvPr>
          <p:cNvSpPr/>
          <p:nvPr/>
        </p:nvSpPr>
        <p:spPr>
          <a:xfrm>
            <a:off x="-1036045" y="116141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Advanced — panoramica</a:t>
            </a:r>
            <a:endParaRPr lang="en-US" sz="24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73473C5-6C49-62EB-890F-AE1DBC519CA5}"/>
              </a:ext>
            </a:extLst>
          </p:cNvPr>
          <p:cNvSpPr/>
          <p:nvPr/>
        </p:nvSpPr>
        <p:spPr>
          <a:xfrm>
            <a:off x="223710" y="4596781"/>
            <a:ext cx="6043739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6951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D30B1-4375-7877-DAD9-81353232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86B78743-F285-1CC1-7FD4-E962482015F1}"/>
              </a:ext>
            </a:extLst>
          </p:cNvPr>
          <p:cNvSpPr/>
          <p:nvPr/>
        </p:nvSpPr>
        <p:spPr>
          <a:xfrm>
            <a:off x="228600" y="1408427"/>
            <a:ext cx="6038849" cy="2880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0455121-6E3A-7DFA-F7EF-D234DE9E74FF}"/>
              </a:ext>
            </a:extLst>
          </p:cNvPr>
          <p:cNvSpPr/>
          <p:nvPr/>
        </p:nvSpPr>
        <p:spPr>
          <a:xfrm>
            <a:off x="50292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5298BC4-114B-CC07-F52F-62F868B47D86}"/>
              </a:ext>
            </a:extLst>
          </p:cNvPr>
          <p:cNvSpPr/>
          <p:nvPr/>
        </p:nvSpPr>
        <p:spPr>
          <a:xfrm>
            <a:off x="758952" y="1499867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esterne</a:t>
            </a:r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AA083EF-4ACF-64BA-B7BB-AFF2DBE6878C}"/>
              </a:ext>
            </a:extLst>
          </p:cNvPr>
          <p:cNvSpPr/>
          <p:nvPr/>
        </p:nvSpPr>
        <p:spPr>
          <a:xfrm>
            <a:off x="758952" y="2231387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 con società tecnologiche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Collaborazione con Enti formatori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 esterni (DPO, legale)</a:t>
            </a:r>
            <a:endParaRPr lang="en-US" sz="12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ED290AE2-6CB9-C51E-C3FB-018084DF39C2}"/>
              </a:ext>
            </a:extLst>
          </p:cNvPr>
          <p:cNvSpPr/>
          <p:nvPr/>
        </p:nvSpPr>
        <p:spPr>
          <a:xfrm>
            <a:off x="333756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DAA6AC5-A7D0-211E-4D4C-6B2288E14631}"/>
              </a:ext>
            </a:extLst>
          </p:cNvPr>
          <p:cNvSpPr/>
          <p:nvPr/>
        </p:nvSpPr>
        <p:spPr>
          <a:xfrm>
            <a:off x="3593592" y="1499867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operatori</a:t>
            </a:r>
            <a:endParaRPr lang="en-US" sz="1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55175C8-B390-8F2E-F037-2C19CBB6F0B8}"/>
              </a:ext>
            </a:extLst>
          </p:cNvPr>
          <p:cNvSpPr/>
          <p:nvPr/>
        </p:nvSpPr>
        <p:spPr>
          <a:xfrm>
            <a:off x="3593592" y="2231387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per settore luxury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Adeguati assetti organizzativi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per altri soggetti obbligati</a:t>
            </a:r>
            <a:endParaRPr lang="en-US" sz="12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4B9ACC3B-5A98-DBFF-64B8-43A1EC030F1C}"/>
              </a:ext>
            </a:extLst>
          </p:cNvPr>
          <p:cNvSpPr/>
          <p:nvPr/>
        </p:nvSpPr>
        <p:spPr>
          <a:xfrm>
            <a:off x="617220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EB2B945-AD79-3791-3F42-44110386A448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87171F75-EC36-6B00-BC84-FCB364631ABE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B232CDE8-55FC-5E23-21A3-90D44A1A882C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EE4ADCBE-94BA-9A3B-9F0B-5739C43DD5FD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3CAA3B62-90D9-35F3-43A4-DCCB5E41FD8B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A93C23D9-B7D5-6C95-8F2F-FFD2E9878E3F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8DE77CC-3211-CE96-2D9A-0533F730CBDE}"/>
              </a:ext>
            </a:extLst>
          </p:cNvPr>
          <p:cNvSpPr/>
          <p:nvPr/>
        </p:nvSpPr>
        <p:spPr>
          <a:xfrm>
            <a:off x="2533633" y="-30378"/>
            <a:ext cx="9257305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D20FEEF-373E-111E-353A-E53EE89C9A27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203D7BE-F3E8-A9A2-8E1F-5C1336246AE7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FF9A52A2-2884-8E16-5E06-E2374E9C6E4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C0350C19-9677-C07C-4B46-251CF4FD208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4229D78-749A-650E-7C8A-DCB83436B024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6FE73EC-5C7A-84B7-BFD5-DB6856CD76B8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2830DAEC-5B81-0D61-47F5-FE95BC004212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9C47B69D-9291-A879-19BB-4EB49E22AFCE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A0000094-FBB4-89C2-9FA4-DB3103B8DC5D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4FDA9014-8319-D554-3B29-8E9409C7F87B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A34D13F8-3803-662D-0F12-1B126C07A7DD}"/>
              </a:ext>
            </a:extLst>
          </p:cNvPr>
          <p:cNvSpPr/>
          <p:nvPr/>
        </p:nvSpPr>
        <p:spPr>
          <a:xfrm>
            <a:off x="-1154677" y="8357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abilitanti e possibili traiettorie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AB3E1C32-97E1-902C-C33F-ACD0BFFA843E}"/>
              </a:ext>
            </a:extLst>
          </p:cNvPr>
          <p:cNvSpPr/>
          <p:nvPr/>
        </p:nvSpPr>
        <p:spPr>
          <a:xfrm>
            <a:off x="-1299561" y="4559705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Queste opportunità sono in fase di valutazione con banche socie e potenziali partner esterni.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70F6057-EBB2-F61B-AC1A-633053B3AEB7}"/>
              </a:ext>
            </a:extLst>
          </p:cNvPr>
          <p:cNvSpPr/>
          <p:nvPr/>
        </p:nvSpPr>
        <p:spPr>
          <a:xfrm>
            <a:off x="-1036045" y="116141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Advanced — panoramica</a:t>
            </a:r>
            <a:endParaRPr lang="en-US" sz="24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9FDEF82-AD08-EFC1-0F06-FCDCD3E7100C}"/>
              </a:ext>
            </a:extLst>
          </p:cNvPr>
          <p:cNvSpPr/>
          <p:nvPr/>
        </p:nvSpPr>
        <p:spPr>
          <a:xfrm>
            <a:off x="223710" y="4596781"/>
            <a:ext cx="6043739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406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8F9D-8224-F6DB-1DDA-AD8C4F4C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2DBB1B26-8F50-6346-0FE4-748A0C079D1E}"/>
              </a:ext>
            </a:extLst>
          </p:cNvPr>
          <p:cNvSpPr/>
          <p:nvPr/>
        </p:nvSpPr>
        <p:spPr>
          <a:xfrm>
            <a:off x="228600" y="1408427"/>
            <a:ext cx="8686800" cy="2880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422AF37-976F-5B79-2F17-A6068F112974}"/>
              </a:ext>
            </a:extLst>
          </p:cNvPr>
          <p:cNvSpPr/>
          <p:nvPr/>
        </p:nvSpPr>
        <p:spPr>
          <a:xfrm>
            <a:off x="50292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B9E9EB5-5DEE-3DBF-E48C-17C220EA424E}"/>
              </a:ext>
            </a:extLst>
          </p:cNvPr>
          <p:cNvSpPr/>
          <p:nvPr/>
        </p:nvSpPr>
        <p:spPr>
          <a:xfrm>
            <a:off x="758952" y="1499867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esterne</a:t>
            </a:r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460595A-610E-9A1C-9E45-1C98C35CC077}"/>
              </a:ext>
            </a:extLst>
          </p:cNvPr>
          <p:cNvSpPr/>
          <p:nvPr/>
        </p:nvSpPr>
        <p:spPr>
          <a:xfrm>
            <a:off x="758952" y="2231387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 con società tecnologiche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Collaborazione con Enti formatori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 esterni (DPO, legale)</a:t>
            </a:r>
            <a:endParaRPr lang="en-US" sz="12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9AE8A458-B285-1786-21A1-B6FBD411C70B}"/>
              </a:ext>
            </a:extLst>
          </p:cNvPr>
          <p:cNvSpPr/>
          <p:nvPr/>
        </p:nvSpPr>
        <p:spPr>
          <a:xfrm>
            <a:off x="333756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5BEFC51E-019B-109B-CEE2-06A2FEF3D224}"/>
              </a:ext>
            </a:extLst>
          </p:cNvPr>
          <p:cNvSpPr/>
          <p:nvPr/>
        </p:nvSpPr>
        <p:spPr>
          <a:xfrm>
            <a:off x="3593592" y="1499867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operatori</a:t>
            </a:r>
            <a:endParaRPr lang="en-US" sz="1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AED0CD2-47F6-05F7-7ED8-FA244E1AEFF6}"/>
              </a:ext>
            </a:extLst>
          </p:cNvPr>
          <p:cNvSpPr/>
          <p:nvPr/>
        </p:nvSpPr>
        <p:spPr>
          <a:xfrm>
            <a:off x="3593592" y="2231387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per settore luxury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Adeguati assetti organizzativi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per altri soggetti obbligati</a:t>
            </a:r>
            <a:endParaRPr lang="en-US" sz="12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53EC0E0F-269C-4048-478C-80826A3D84FD}"/>
              </a:ext>
            </a:extLst>
          </p:cNvPr>
          <p:cNvSpPr/>
          <p:nvPr/>
        </p:nvSpPr>
        <p:spPr>
          <a:xfrm>
            <a:off x="6172200" y="1481579"/>
            <a:ext cx="164592" cy="2743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2A8171D-AD6C-1E14-811B-7D20648B1A23}"/>
              </a:ext>
            </a:extLst>
          </p:cNvPr>
          <p:cNvSpPr/>
          <p:nvPr/>
        </p:nvSpPr>
        <p:spPr>
          <a:xfrm>
            <a:off x="6428232" y="1499867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</a:t>
            </a:r>
            <a:endParaRPr lang="en-US" sz="14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5C863C7-4216-E016-A1FA-AC95272D659B}"/>
              </a:ext>
            </a:extLst>
          </p:cNvPr>
          <p:cNvSpPr/>
          <p:nvPr/>
        </p:nvSpPr>
        <p:spPr>
          <a:xfrm>
            <a:off x="6428232" y="2231387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di gestione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ICT per 106 TUB e imprese</a:t>
            </a:r>
            <a:endParaRPr lang="en-US" sz="12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647E1202-C9B5-86BE-F713-46D759B80694}"/>
              </a:ext>
            </a:extLst>
          </p:cNvPr>
          <p:cNvSpPr/>
          <p:nvPr/>
        </p:nvSpPr>
        <p:spPr>
          <a:xfrm>
            <a:off x="663780" y="567861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+ 91%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F083EA1-8EBB-C3FA-FEC6-B6A805AEDD9A}"/>
              </a:ext>
            </a:extLst>
          </p:cNvPr>
          <p:cNvSpPr/>
          <p:nvPr/>
        </p:nvSpPr>
        <p:spPr>
          <a:xfrm>
            <a:off x="-26686" y="657142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dei servizi tradizionali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Allargamento Risk ICT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servizi DPO</a:t>
            </a:r>
            <a:endParaRPr lang="en-US" sz="11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10162E15-9390-5810-2517-5707EFDA9B26}"/>
              </a:ext>
            </a:extLst>
          </p:cNvPr>
          <p:cNvSpPr/>
          <p:nvPr/>
        </p:nvSpPr>
        <p:spPr>
          <a:xfrm>
            <a:off x="3998826" y="558653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4D017294-7DE9-DFEC-E50B-EC70616AA2D8}"/>
              </a:ext>
            </a:extLst>
          </p:cNvPr>
          <p:cNvSpPr/>
          <p:nvPr/>
        </p:nvSpPr>
        <p:spPr>
          <a:xfrm>
            <a:off x="3404466" y="6437391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continua su aree tematiche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area ICT e AML</a:t>
            </a:r>
            <a:endParaRPr lang="en-US" sz="11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39A063DA-CE1C-9CB6-2CEC-545C5A58485F}"/>
              </a:ext>
            </a:extLst>
          </p:cNvPr>
          <p:cNvSpPr/>
          <p:nvPr/>
        </p:nvSpPr>
        <p:spPr>
          <a:xfrm>
            <a:off x="6701439" y="56961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+ 68%</a:t>
            </a:r>
            <a:endParaRPr lang="en-US" sz="20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EA03DA5A-BE82-F510-F0A8-CA7F2361FB42}"/>
              </a:ext>
            </a:extLst>
          </p:cNvPr>
          <p:cNvSpPr/>
          <p:nvPr/>
        </p:nvSpPr>
        <p:spPr>
          <a:xfrm>
            <a:off x="6107079" y="595017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AML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Realizzazione servizi DWH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Diffusione soluzioni esistenti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F6167A5-B32B-B712-4D6A-E836F99531EA}"/>
              </a:ext>
            </a:extLst>
          </p:cNvPr>
          <p:cNvSpPr/>
          <p:nvPr/>
        </p:nvSpPr>
        <p:spPr>
          <a:xfrm>
            <a:off x="2533633" y="-30378"/>
            <a:ext cx="9257305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FAFCF81-0A18-1572-C09D-A1664056698D}"/>
              </a:ext>
            </a:extLst>
          </p:cNvPr>
          <p:cNvSpPr/>
          <p:nvPr/>
        </p:nvSpPr>
        <p:spPr>
          <a:xfrm>
            <a:off x="50745" y="6272939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B1030C0-CC3E-3AE0-73E0-255CC8664989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1FB4668D-6793-A651-D15A-B1DFFAC8085C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6B8B425D-F8DD-5F03-4697-23861A6F805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A70104EA-95FA-630C-9A8C-57A1CD7323F3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A9DA101-128B-FC47-448D-9CB112370344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84277FF5-51F9-A880-D00E-1209F32C001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5180992B-ACB8-8947-44CD-5871ED773DE9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0BD8D501-7CD4-8F22-830A-CC49DBA42A8D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D7DE228-BA9F-BC25-51AF-586D7BAE64E7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D1C55814-038E-B3FE-8E67-102B07DF58D3}"/>
              </a:ext>
            </a:extLst>
          </p:cNvPr>
          <p:cNvSpPr/>
          <p:nvPr/>
        </p:nvSpPr>
        <p:spPr>
          <a:xfrm>
            <a:off x="-1154677" y="83574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abilitanti e possibili traiettorie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75BEF3D6-98DC-A57A-DB31-85BAFE0BA885}"/>
              </a:ext>
            </a:extLst>
          </p:cNvPr>
          <p:cNvSpPr/>
          <p:nvPr/>
        </p:nvSpPr>
        <p:spPr>
          <a:xfrm>
            <a:off x="-1299561" y="4559705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Queste opportunità sono in fase di valutazione con banche socie e potenziali partner esterni.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AFBDE64-8EAF-1488-3D61-D03628F3C708}"/>
              </a:ext>
            </a:extLst>
          </p:cNvPr>
          <p:cNvSpPr/>
          <p:nvPr/>
        </p:nvSpPr>
        <p:spPr>
          <a:xfrm>
            <a:off x="-1036045" y="116141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Advanced — panoramica</a:t>
            </a:r>
            <a:endParaRPr lang="en-US" sz="24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0A09088-13BB-1E19-8F3E-EF80E4145542}"/>
              </a:ext>
            </a:extLst>
          </p:cNvPr>
          <p:cNvSpPr/>
          <p:nvPr/>
        </p:nvSpPr>
        <p:spPr>
          <a:xfrm>
            <a:off x="223710" y="4596781"/>
            <a:ext cx="6043739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80338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E05B-8D00-7FA2-8A38-A662E630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87098100-B9F5-F724-0A75-23CD492D4B5D}"/>
              </a:ext>
            </a:extLst>
          </p:cNvPr>
          <p:cNvSpPr/>
          <p:nvPr/>
        </p:nvSpPr>
        <p:spPr>
          <a:xfrm>
            <a:off x="2580379" y="4890403"/>
            <a:ext cx="1843159" cy="4331638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2806C15-13BB-FE14-7D07-E160BEE94D6C}"/>
              </a:ext>
            </a:extLst>
          </p:cNvPr>
          <p:cNvSpPr txBox="1"/>
          <p:nvPr/>
        </p:nvSpPr>
        <p:spPr>
          <a:xfrm>
            <a:off x="2694551" y="5229354"/>
            <a:ext cx="1809077" cy="217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DEBOLEZZE</a:t>
            </a:r>
          </a:p>
          <a:p>
            <a:r>
              <a:rPr lang="it-IT" sz="1500" dirty="0"/>
              <a:t>- Scalabilità organizzativa complessa</a:t>
            </a:r>
          </a:p>
          <a:p>
            <a:r>
              <a:rPr lang="it-IT" sz="1500" dirty="0"/>
              <a:t>- Gestione degli equilibri rispetto alla struttura attuale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9CF4533C-7A63-B36E-2C61-894B3E10DD5B}"/>
              </a:ext>
            </a:extLst>
          </p:cNvPr>
          <p:cNvSpPr/>
          <p:nvPr/>
        </p:nvSpPr>
        <p:spPr>
          <a:xfrm>
            <a:off x="442432" y="4990396"/>
            <a:ext cx="1843159" cy="3446815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6EBC1A-F106-6E3E-A0C1-BD2B9A59EF29}"/>
              </a:ext>
            </a:extLst>
          </p:cNvPr>
          <p:cNvSpPr txBox="1"/>
          <p:nvPr/>
        </p:nvSpPr>
        <p:spPr>
          <a:xfrm>
            <a:off x="472429" y="5258786"/>
            <a:ext cx="16703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PUNTI DI FORZA</a:t>
            </a:r>
          </a:p>
          <a:p>
            <a:r>
              <a:rPr lang="it-IT" sz="1500" dirty="0"/>
              <a:t>- Crescita più veloce</a:t>
            </a:r>
          </a:p>
          <a:p>
            <a:r>
              <a:rPr lang="it-IT" sz="1500" dirty="0"/>
              <a:t>- Maggiore specializzazione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FE112956-9068-B634-4E0F-0DB85C307CBC}"/>
              </a:ext>
            </a:extLst>
          </p:cNvPr>
          <p:cNvGrpSpPr/>
          <p:nvPr/>
        </p:nvGrpSpPr>
        <p:grpSpPr>
          <a:xfrm>
            <a:off x="4801019" y="5549617"/>
            <a:ext cx="1857554" cy="3873997"/>
            <a:chOff x="4813793" y="5399270"/>
            <a:chExt cx="1857554" cy="3423127"/>
          </a:xfrm>
        </p:grpSpPr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D2A4A122-8287-6B5B-20D7-4354F685A818}"/>
                </a:ext>
              </a:extLst>
            </p:cNvPr>
            <p:cNvSpPr/>
            <p:nvPr/>
          </p:nvSpPr>
          <p:spPr>
            <a:xfrm>
              <a:off x="4813793" y="5399270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878A0302-8EFB-4036-3D5F-6F6A6FEA96FC}"/>
                </a:ext>
              </a:extLst>
            </p:cNvPr>
            <p:cNvSpPr txBox="1"/>
            <p:nvPr/>
          </p:nvSpPr>
          <p:spPr>
            <a:xfrm>
              <a:off x="4852917" y="5695050"/>
              <a:ext cx="181843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500" dirty="0"/>
                <a:t>Espansione in nuovi settori regolamentati</a:t>
              </a:r>
            </a:p>
            <a:p>
              <a:r>
                <a:rPr lang="it-IT" sz="1500" dirty="0"/>
                <a:t>Investimenti su servizi ad alto valore aggiunto (</a:t>
              </a:r>
              <a:r>
                <a:rPr lang="it-IT" sz="1500" dirty="0" err="1"/>
                <a:t>advisory</a:t>
              </a:r>
              <a:r>
                <a:rPr lang="it-IT" sz="1500" dirty="0"/>
                <a:t>, outsourcing, </a:t>
              </a:r>
              <a:r>
                <a:rPr lang="it-IT" sz="1500" dirty="0" err="1"/>
                <a:t>RegTech</a:t>
              </a:r>
              <a:r>
                <a:rPr lang="it-IT" sz="1500" dirty="0"/>
                <a:t>)</a:t>
              </a: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DF305740-EC55-2A74-9D1C-6CE5CF0DC9A0}"/>
              </a:ext>
            </a:extLst>
          </p:cNvPr>
          <p:cNvGrpSpPr/>
          <p:nvPr/>
        </p:nvGrpSpPr>
        <p:grpSpPr>
          <a:xfrm>
            <a:off x="6958733" y="5336970"/>
            <a:ext cx="1843159" cy="3868303"/>
            <a:chOff x="6989055" y="5210655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D709DB6E-007F-452A-850A-518A4A4108FB}"/>
                </a:ext>
              </a:extLst>
            </p:cNvPr>
            <p:cNvSpPr/>
            <p:nvPr/>
          </p:nvSpPr>
          <p:spPr>
            <a:xfrm>
              <a:off x="6989055" y="5210655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5BDFC5E3-9792-77A8-4F56-9A3AF897CC4D}"/>
                </a:ext>
              </a:extLst>
            </p:cNvPr>
            <p:cNvSpPr txBox="1"/>
            <p:nvPr/>
          </p:nvSpPr>
          <p:spPr>
            <a:xfrm>
              <a:off x="7025194" y="5479043"/>
              <a:ext cx="180702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500" dirty="0"/>
                <a:t>Maggiore pressione regolamentare</a:t>
              </a:r>
            </a:p>
            <a:p>
              <a:r>
                <a:rPr lang="it-IT" sz="1500" dirty="0"/>
                <a:t>Rischi legati a crescita rapida e dispersione strategica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1A022B5C-7C45-DAA1-73CF-E99E99552A3F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67783B5-C5D9-640A-6475-CECEC882B1AC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537F7D5-4F0A-69A1-FD24-ABCAE84205ED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59FB343-A4CE-CD67-83AB-1B664DF7DBE7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5FE8D89D-1296-5351-9D9C-8880B59DA1CE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0D118198-4626-C1D9-FF20-91CDBB11D1E5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9DE23FC7-D109-9660-ED7C-303138E58D5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A944A50-E677-AA48-2973-9B80ABE48C2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FE36320E-D8B7-C227-1364-4DC844CED1C9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78A7B298-BC55-8DAB-92CB-B428126CA4F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27D126ED-E727-CC69-89EB-3910E0F9498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4109DEB9-56C7-6936-7FE9-42D359B5D98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445C6249-0103-7948-73E0-C661D4B3AB8F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25AC5118-F45F-1729-2D6D-A347F0A02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A0C1B869-3A1B-3743-E0BB-A6E76503F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9D9B2291-EBC8-61E0-1442-8C88FD33499F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D8E5EE51-F3BB-5416-1064-10CC0CC2E879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DA7293CD-8106-7ABB-B123-8A91C5894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2F2CF23C-1BD3-B9DB-691A-C71ABE9FD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0D52FB06-A2D1-D6E1-56A1-AC89A75CB5DC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4AEF7870-86F7-2BF5-C76A-B82F5E6F1AED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75706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C275-D401-0B9E-A8B4-D06ABCAC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3C9061B-BC3E-515F-BEF2-5B51CB1CA9DA}"/>
              </a:ext>
            </a:extLst>
          </p:cNvPr>
          <p:cNvSpPr/>
          <p:nvPr/>
        </p:nvSpPr>
        <p:spPr>
          <a:xfrm>
            <a:off x="2580379" y="4911665"/>
            <a:ext cx="1843159" cy="4331638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5C200C-A6C4-A65C-03FB-93091AB0CF4E}"/>
              </a:ext>
            </a:extLst>
          </p:cNvPr>
          <p:cNvSpPr txBox="1"/>
          <p:nvPr/>
        </p:nvSpPr>
        <p:spPr>
          <a:xfrm>
            <a:off x="2694551" y="5250616"/>
            <a:ext cx="1809077" cy="217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DEBOLEZZE</a:t>
            </a:r>
          </a:p>
          <a:p>
            <a:r>
              <a:rPr lang="it-IT" sz="1500" dirty="0"/>
              <a:t>- Scalabilità organizzativa complessa</a:t>
            </a:r>
          </a:p>
          <a:p>
            <a:r>
              <a:rPr lang="it-IT" sz="1500" dirty="0"/>
              <a:t>- Gestione degli equilibri rispetto alla struttura attuale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98F73431-B3DC-70E7-FA4B-5053E0AF21D8}"/>
              </a:ext>
            </a:extLst>
          </p:cNvPr>
          <p:cNvSpPr/>
          <p:nvPr/>
        </p:nvSpPr>
        <p:spPr>
          <a:xfrm>
            <a:off x="442432" y="1811253"/>
            <a:ext cx="1843159" cy="3446815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161C78C-2D81-AE11-B7B2-4EE4BBE6A5E9}"/>
              </a:ext>
            </a:extLst>
          </p:cNvPr>
          <p:cNvSpPr txBox="1"/>
          <p:nvPr/>
        </p:nvSpPr>
        <p:spPr>
          <a:xfrm>
            <a:off x="472429" y="2079643"/>
            <a:ext cx="16703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PUNTI DI FORZA</a:t>
            </a:r>
          </a:p>
          <a:p>
            <a:r>
              <a:rPr lang="it-IT" sz="1500" dirty="0"/>
              <a:t>- Crescita più veloce</a:t>
            </a:r>
          </a:p>
          <a:p>
            <a:r>
              <a:rPr lang="it-IT" sz="1500" dirty="0"/>
              <a:t>- Maggiore specializzazione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DF957A7-5C73-AE23-3F9E-1FD69D5ACE70}"/>
              </a:ext>
            </a:extLst>
          </p:cNvPr>
          <p:cNvGrpSpPr/>
          <p:nvPr/>
        </p:nvGrpSpPr>
        <p:grpSpPr>
          <a:xfrm>
            <a:off x="4801019" y="5443291"/>
            <a:ext cx="1857554" cy="3873997"/>
            <a:chOff x="4813793" y="5305319"/>
            <a:chExt cx="1857554" cy="3423127"/>
          </a:xfrm>
        </p:grpSpPr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B96D0A6F-65F0-7CE3-9179-B1AF594C9B8B}"/>
                </a:ext>
              </a:extLst>
            </p:cNvPr>
            <p:cNvSpPr/>
            <p:nvPr/>
          </p:nvSpPr>
          <p:spPr>
            <a:xfrm>
              <a:off x="4813793" y="5305319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C4DB86D9-BD4C-4B37-7918-9107D145DDE9}"/>
                </a:ext>
              </a:extLst>
            </p:cNvPr>
            <p:cNvSpPr txBox="1"/>
            <p:nvPr/>
          </p:nvSpPr>
          <p:spPr>
            <a:xfrm>
              <a:off x="4852917" y="5601099"/>
              <a:ext cx="181843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500" dirty="0"/>
                <a:t>Espansione in nuovi settori regolamentati</a:t>
              </a:r>
            </a:p>
            <a:p>
              <a:r>
                <a:rPr lang="it-IT" sz="1500" dirty="0"/>
                <a:t>Investimenti su servizi ad alto valore aggiunto (</a:t>
              </a:r>
              <a:r>
                <a:rPr lang="it-IT" sz="1500" dirty="0" err="1"/>
                <a:t>advisory</a:t>
              </a:r>
              <a:r>
                <a:rPr lang="it-IT" sz="1500" dirty="0"/>
                <a:t>, outsourcing, </a:t>
              </a:r>
              <a:r>
                <a:rPr lang="it-IT" sz="1500" dirty="0" err="1"/>
                <a:t>RegTech</a:t>
              </a:r>
              <a:r>
                <a:rPr lang="it-IT" sz="1500" dirty="0"/>
                <a:t>)</a:t>
              </a: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8B022F7F-3682-F34B-D2A9-D6CB49D8142B}"/>
              </a:ext>
            </a:extLst>
          </p:cNvPr>
          <p:cNvGrpSpPr/>
          <p:nvPr/>
        </p:nvGrpSpPr>
        <p:grpSpPr>
          <a:xfrm>
            <a:off x="6958733" y="5336970"/>
            <a:ext cx="1843159" cy="3868303"/>
            <a:chOff x="6989055" y="5210655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148BAE02-DE97-310A-DF9A-F6932397E34E}"/>
                </a:ext>
              </a:extLst>
            </p:cNvPr>
            <p:cNvSpPr/>
            <p:nvPr/>
          </p:nvSpPr>
          <p:spPr>
            <a:xfrm>
              <a:off x="6989055" y="5210655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C1C1F249-6177-D525-44C0-053F4EC0090D}"/>
                </a:ext>
              </a:extLst>
            </p:cNvPr>
            <p:cNvSpPr txBox="1"/>
            <p:nvPr/>
          </p:nvSpPr>
          <p:spPr>
            <a:xfrm>
              <a:off x="7025194" y="5479043"/>
              <a:ext cx="180702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500" dirty="0"/>
                <a:t>Maggiore pressione regolamentare</a:t>
              </a:r>
            </a:p>
            <a:p>
              <a:r>
                <a:rPr lang="it-IT" sz="1500" dirty="0"/>
                <a:t>Rischi legati a crescita rapida e dispersione strategica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F47608CE-B30E-E33F-9DA6-2A9ABAFE4558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A00C35C-A1EA-4F86-2E05-EDB68CA51A2F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7284BEB-98E1-8027-C010-E813B4AB5468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F4F4EFCF-1377-D576-0E22-746F9ED1556B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21659BF-BFB7-5F17-32DE-7F0B8FDCB2DF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B524F27A-0E99-C66D-A59A-621A857A2D1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32AB4AD8-FCFF-E19B-21AA-9C29E2CD8BFD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BEDC8059-3C00-AF7B-1D10-F7058D63570A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F88C55F9-1F90-BB85-2B9B-47E2099BF6B3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31888C42-D409-8A47-001B-EACC98F32B11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08DC2CCE-58AC-E69B-941D-829AFC7C7228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28E7C64-C73F-AB93-A0DA-E3A3FFBE4252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C360B9D9-DA43-AF7C-0402-7DCD406C9178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0039E051-93B7-A59A-8396-F13A0878A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F41FBD33-3C1D-4F59-06DA-8F200B92B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4BCD07E1-184B-7C00-6524-A3B2C8C86189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F89DD1CB-861A-2BB4-2B72-744C290C4B7B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52F55814-8CF9-D46C-628C-D2EC5FC06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3D1B3C12-6AF5-12DD-4580-9DB6E9532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B853C4F1-5B33-BC54-BD69-D1CC9F78010E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7F2E5C66-388A-D392-513A-90320C93C7A3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85682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D379-A84B-17B1-A7ED-605EEAE4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D6C6DE1-E7B4-D34C-A3CC-EF392E5FE09D}"/>
              </a:ext>
            </a:extLst>
          </p:cNvPr>
          <p:cNvSpPr/>
          <p:nvPr/>
        </p:nvSpPr>
        <p:spPr>
          <a:xfrm>
            <a:off x="2580379" y="1126465"/>
            <a:ext cx="1843159" cy="4331638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ED4578D-315B-EE14-C631-0FDE502461C6}"/>
              </a:ext>
            </a:extLst>
          </p:cNvPr>
          <p:cNvSpPr txBox="1"/>
          <p:nvPr/>
        </p:nvSpPr>
        <p:spPr>
          <a:xfrm>
            <a:off x="2694551" y="1465416"/>
            <a:ext cx="1809077" cy="217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DEBOLEZZE</a:t>
            </a:r>
          </a:p>
          <a:p>
            <a:r>
              <a:rPr lang="it-IT" sz="1500" dirty="0"/>
              <a:t>- Scalabilità organizzativa complessa</a:t>
            </a:r>
          </a:p>
          <a:p>
            <a:r>
              <a:rPr lang="it-IT" sz="1500" dirty="0"/>
              <a:t>- Gestione degli equilibri rispetto alla struttura attuale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A5832CAB-F288-2EEF-A480-DE5A9784A680}"/>
              </a:ext>
            </a:extLst>
          </p:cNvPr>
          <p:cNvSpPr/>
          <p:nvPr/>
        </p:nvSpPr>
        <p:spPr>
          <a:xfrm>
            <a:off x="442432" y="1811253"/>
            <a:ext cx="1843159" cy="3446815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59ECA7-8614-4F61-D215-D07752AF147E}"/>
              </a:ext>
            </a:extLst>
          </p:cNvPr>
          <p:cNvSpPr txBox="1"/>
          <p:nvPr/>
        </p:nvSpPr>
        <p:spPr>
          <a:xfrm>
            <a:off x="472429" y="2079643"/>
            <a:ext cx="16703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PUNTI DI FORZA</a:t>
            </a:r>
          </a:p>
          <a:p>
            <a:r>
              <a:rPr lang="it-IT" sz="1500" dirty="0"/>
              <a:t>- Crescita più veloce</a:t>
            </a:r>
          </a:p>
          <a:p>
            <a:r>
              <a:rPr lang="it-IT" sz="1500" dirty="0"/>
              <a:t>- Maggiore specializzazione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B9CBFC87-B5CA-27BA-220F-543B84742B62}"/>
              </a:ext>
            </a:extLst>
          </p:cNvPr>
          <p:cNvGrpSpPr/>
          <p:nvPr/>
        </p:nvGrpSpPr>
        <p:grpSpPr>
          <a:xfrm>
            <a:off x="4801019" y="5230639"/>
            <a:ext cx="1857554" cy="3873997"/>
            <a:chOff x="4813793" y="5117417"/>
            <a:chExt cx="1857554" cy="3423127"/>
          </a:xfrm>
        </p:grpSpPr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62AE5912-32A5-51FE-C0EA-F56F09747E75}"/>
                </a:ext>
              </a:extLst>
            </p:cNvPr>
            <p:cNvSpPr/>
            <p:nvPr/>
          </p:nvSpPr>
          <p:spPr>
            <a:xfrm>
              <a:off x="4813793" y="5117417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9478F1FE-3065-F018-F2C4-941E61F89BC0}"/>
                </a:ext>
              </a:extLst>
            </p:cNvPr>
            <p:cNvSpPr txBox="1"/>
            <p:nvPr/>
          </p:nvSpPr>
          <p:spPr>
            <a:xfrm>
              <a:off x="4852917" y="5413197"/>
              <a:ext cx="181843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500" dirty="0"/>
                <a:t>Espansione in nuovi settori regolamentati</a:t>
              </a:r>
            </a:p>
            <a:p>
              <a:r>
                <a:rPr lang="it-IT" sz="1500" dirty="0"/>
                <a:t>Investimenti su servizi ad alto valore aggiunto (</a:t>
              </a:r>
              <a:r>
                <a:rPr lang="it-IT" sz="1500" dirty="0" err="1"/>
                <a:t>advisory</a:t>
              </a:r>
              <a:r>
                <a:rPr lang="it-IT" sz="1500" dirty="0"/>
                <a:t>, outsourcing, </a:t>
              </a:r>
              <a:r>
                <a:rPr lang="it-IT" sz="1500" dirty="0" err="1"/>
                <a:t>RegTech</a:t>
              </a:r>
              <a:r>
                <a:rPr lang="it-IT" sz="1500" dirty="0"/>
                <a:t>)</a:t>
              </a: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0B1F7891-B8C5-298A-C650-DFE84FA4BDED}"/>
              </a:ext>
            </a:extLst>
          </p:cNvPr>
          <p:cNvGrpSpPr/>
          <p:nvPr/>
        </p:nvGrpSpPr>
        <p:grpSpPr>
          <a:xfrm>
            <a:off x="6958733" y="5336970"/>
            <a:ext cx="1843159" cy="3868303"/>
            <a:chOff x="6989055" y="5210655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4B926C32-E0A9-A4E5-7E93-CB797C95A912}"/>
                </a:ext>
              </a:extLst>
            </p:cNvPr>
            <p:cNvSpPr/>
            <p:nvPr/>
          </p:nvSpPr>
          <p:spPr>
            <a:xfrm>
              <a:off x="6989055" y="5210655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3FB24601-6FB0-E0E7-B402-ACE467C9E703}"/>
                </a:ext>
              </a:extLst>
            </p:cNvPr>
            <p:cNvSpPr txBox="1"/>
            <p:nvPr/>
          </p:nvSpPr>
          <p:spPr>
            <a:xfrm>
              <a:off x="7025194" y="5479043"/>
              <a:ext cx="180702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500" dirty="0"/>
                <a:t>Maggiore pressione regolamentare</a:t>
              </a:r>
            </a:p>
            <a:p>
              <a:r>
                <a:rPr lang="it-IT" sz="1500" dirty="0"/>
                <a:t>Rischi legati a crescita rapida e dispersione strategica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9D0D2E5C-9AC4-EF26-181B-8BABF01C5E8E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BAB8E5C1-E91C-6277-1F15-E80467B8F4A6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9B9C0117-CF8E-DE4E-F630-8BCF2FE233ED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9D0F12B-6266-989B-3B46-9596797F1398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31E52E14-3230-7E0E-1308-BE7C40FDD156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C8E4950-F6BB-30E2-B457-F4763DE5D9EE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BE25001-D139-F804-FB13-C17B625AC22A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2F35DF9C-6581-4B07-5110-8C63B4B31EA9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F050B89-C640-E227-EBBA-44112752378D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43C96C7F-9B90-3F86-6964-1664FD3FD1C3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4868CF0E-7CCD-9031-2661-B57DA20F504E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36283F0C-F669-62AB-FF13-765B12D7408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FB057116-DF24-58D8-8F29-86D6330A503F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7F19626B-9511-E78C-F199-47CD18F45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BEFFC1F6-2282-9558-FA2A-68AAE95676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1D5F11CC-226F-F2D2-41C3-7308441A7357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FFD7050-3250-3C41-2CB8-2377B4B25FCA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FDA7E30F-FAF3-A434-71FD-2654A6580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270F4B5E-DE69-A453-E67C-1037B540B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1F54E681-E062-0229-5A4F-84209D8EA1E9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3BD85703-3F18-1F9D-5676-753A0AFF040B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23045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CA98-EB12-DBE9-39C4-88F0F06B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79026D28-C9D4-2B7B-F66C-790775DA13B9}"/>
              </a:ext>
            </a:extLst>
          </p:cNvPr>
          <p:cNvSpPr/>
          <p:nvPr/>
        </p:nvSpPr>
        <p:spPr>
          <a:xfrm>
            <a:off x="2580379" y="1126465"/>
            <a:ext cx="1843159" cy="4331638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2044826-7A5C-10EA-DFFE-13042AC08FE4}"/>
              </a:ext>
            </a:extLst>
          </p:cNvPr>
          <p:cNvSpPr txBox="1"/>
          <p:nvPr/>
        </p:nvSpPr>
        <p:spPr>
          <a:xfrm>
            <a:off x="2694551" y="1465416"/>
            <a:ext cx="1809077" cy="217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DEBOLEZZE</a:t>
            </a:r>
          </a:p>
          <a:p>
            <a:r>
              <a:rPr lang="it-IT" sz="1500" dirty="0"/>
              <a:t>- Scalabilità organizzativa complessa</a:t>
            </a:r>
          </a:p>
          <a:p>
            <a:r>
              <a:rPr lang="it-IT" sz="1500" dirty="0"/>
              <a:t>- Gestione degli equilibri rispetto alla struttura attuale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C8F235BA-BAD1-5D4A-502C-D8FFA919690E}"/>
              </a:ext>
            </a:extLst>
          </p:cNvPr>
          <p:cNvSpPr/>
          <p:nvPr/>
        </p:nvSpPr>
        <p:spPr>
          <a:xfrm>
            <a:off x="442432" y="1811253"/>
            <a:ext cx="1843159" cy="3446815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8EBC52-2DB4-0FF4-E6D6-A68870883489}"/>
              </a:ext>
            </a:extLst>
          </p:cNvPr>
          <p:cNvSpPr txBox="1"/>
          <p:nvPr/>
        </p:nvSpPr>
        <p:spPr>
          <a:xfrm>
            <a:off x="472429" y="2079643"/>
            <a:ext cx="16703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PUNTI DI FORZA</a:t>
            </a:r>
          </a:p>
          <a:p>
            <a:r>
              <a:rPr lang="it-IT" sz="1500" dirty="0"/>
              <a:t>- Crescita più veloce</a:t>
            </a:r>
          </a:p>
          <a:p>
            <a:r>
              <a:rPr lang="it-IT" sz="1500" dirty="0"/>
              <a:t>- Maggiore specializzazione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373B085C-3FEB-80C5-47E5-DBD31CF75146}"/>
              </a:ext>
            </a:extLst>
          </p:cNvPr>
          <p:cNvGrpSpPr/>
          <p:nvPr/>
        </p:nvGrpSpPr>
        <p:grpSpPr>
          <a:xfrm>
            <a:off x="4801019" y="1126465"/>
            <a:ext cx="1857554" cy="3873997"/>
            <a:chOff x="4813793" y="1490910"/>
            <a:chExt cx="1857554" cy="3423127"/>
          </a:xfrm>
        </p:grpSpPr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7C4E4600-E49E-3827-8876-52C903D7E2A5}"/>
                </a:ext>
              </a:extLst>
            </p:cNvPr>
            <p:cNvSpPr/>
            <p:nvPr/>
          </p:nvSpPr>
          <p:spPr>
            <a:xfrm>
              <a:off x="4813793" y="1490910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03989A67-79ED-467F-D993-0A1B1EA76EC0}"/>
                </a:ext>
              </a:extLst>
            </p:cNvPr>
            <p:cNvSpPr txBox="1"/>
            <p:nvPr/>
          </p:nvSpPr>
          <p:spPr>
            <a:xfrm>
              <a:off x="4852917" y="1786686"/>
              <a:ext cx="181843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500" dirty="0"/>
                <a:t>Espansione in nuovi settori regolamentati</a:t>
              </a:r>
            </a:p>
            <a:p>
              <a:r>
                <a:rPr lang="it-IT" sz="1500" dirty="0"/>
                <a:t>Investimenti su servizi ad alto valore aggiunto (</a:t>
              </a:r>
              <a:r>
                <a:rPr lang="it-IT" sz="1500" dirty="0" err="1"/>
                <a:t>advisory</a:t>
              </a:r>
              <a:r>
                <a:rPr lang="it-IT" sz="1500" dirty="0"/>
                <a:t>, outsourcing, </a:t>
              </a:r>
              <a:r>
                <a:rPr lang="it-IT" sz="1500" dirty="0" err="1"/>
                <a:t>RegTech</a:t>
              </a:r>
              <a:r>
                <a:rPr lang="it-IT" sz="1500" dirty="0"/>
                <a:t>)</a:t>
              </a: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F92D93DC-3FD6-B2BB-1E64-FC440715DA57}"/>
              </a:ext>
            </a:extLst>
          </p:cNvPr>
          <p:cNvGrpSpPr/>
          <p:nvPr/>
        </p:nvGrpSpPr>
        <p:grpSpPr>
          <a:xfrm>
            <a:off x="6958733" y="5336970"/>
            <a:ext cx="1843159" cy="3868303"/>
            <a:chOff x="6989055" y="5210655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33E3D126-0168-859E-29BA-F87DE15C5E54}"/>
                </a:ext>
              </a:extLst>
            </p:cNvPr>
            <p:cNvSpPr/>
            <p:nvPr/>
          </p:nvSpPr>
          <p:spPr>
            <a:xfrm>
              <a:off x="6989055" y="5210655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7BF01846-52EB-045E-38D7-6639A7F37CD4}"/>
                </a:ext>
              </a:extLst>
            </p:cNvPr>
            <p:cNvSpPr txBox="1"/>
            <p:nvPr/>
          </p:nvSpPr>
          <p:spPr>
            <a:xfrm>
              <a:off x="7025194" y="5479043"/>
              <a:ext cx="180702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500" dirty="0"/>
                <a:t>Maggiore pressione regolamentare</a:t>
              </a:r>
            </a:p>
            <a:p>
              <a:r>
                <a:rPr lang="it-IT" sz="1500" dirty="0"/>
                <a:t>Rischi legati a crescita rapida e dispersione strategica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8A0AF48A-F644-FE23-3F7C-81DEF1FF58D1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15585CF2-7090-B17F-4792-19253AB1ADA5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0301056-7199-C364-596D-B6C18E381BDE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D3D2BF9-B720-FCB1-48D8-E07327DB1C33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93244167-7CE8-E748-5DC2-265C43ED9ED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DEEA26AF-6C0F-31DB-ADD8-1C52791B628F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F204D911-EE30-EFC7-0D89-41BA47B18AAB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04416002-80DA-A430-7C6A-07AA9D3E8645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8CCF87F4-466E-7670-420B-0FEB1A85F30F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020C42F4-3602-2B12-923D-EE5B8F075B4F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3EADECB8-92DD-2A89-01A6-D8B3C205992B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64D512DA-E78A-E2EC-CFE0-7B9AD4C097B5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DC292C37-A1C9-E6B4-5BD4-C076DD47FFDF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4063E7ED-A64D-D804-EA4E-99B819A82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D055ECC4-44C6-4F34-C4C5-577E3A6EA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A33A280B-1FF1-C5F0-560E-2EAE42AF11D1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BC351072-2259-EF04-6516-4198E9818F28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F75AEBB6-59AF-98B3-D5C9-D5C393E12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65C7D7F2-B547-94C0-49D6-1A2BB96D4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829EB5B4-8832-4194-B7CC-1CE249AA0A44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B849AD4F-2FA3-A87C-CDFC-92B02F8CE083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30821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93C0C-A3D9-6B20-779B-E37D904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BB4D536-4E72-208F-C567-38DAE0CFACDE}"/>
              </a:ext>
            </a:extLst>
          </p:cNvPr>
          <p:cNvSpPr/>
          <p:nvPr/>
        </p:nvSpPr>
        <p:spPr>
          <a:xfrm>
            <a:off x="2580379" y="1126465"/>
            <a:ext cx="1843159" cy="4331638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DC29EB8-EEC5-0D91-59CC-FDA2FD55C99A}"/>
              </a:ext>
            </a:extLst>
          </p:cNvPr>
          <p:cNvSpPr txBox="1"/>
          <p:nvPr/>
        </p:nvSpPr>
        <p:spPr>
          <a:xfrm>
            <a:off x="2694551" y="1465416"/>
            <a:ext cx="1809077" cy="217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DEBOLEZZE</a:t>
            </a:r>
          </a:p>
          <a:p>
            <a:r>
              <a:rPr lang="it-IT" sz="1500" dirty="0"/>
              <a:t>- Scalabilità organizzativa complessa</a:t>
            </a:r>
          </a:p>
          <a:p>
            <a:r>
              <a:rPr lang="it-IT" sz="1500" dirty="0"/>
              <a:t>- Gestione degli equilibri rispetto alla struttura attuale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75FE0A8F-3A50-B960-4A4B-0854C50B7357}"/>
              </a:ext>
            </a:extLst>
          </p:cNvPr>
          <p:cNvSpPr/>
          <p:nvPr/>
        </p:nvSpPr>
        <p:spPr>
          <a:xfrm>
            <a:off x="442432" y="1811253"/>
            <a:ext cx="1843159" cy="3446815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96928D5-59BA-8C48-068D-526D123902F6}"/>
              </a:ext>
            </a:extLst>
          </p:cNvPr>
          <p:cNvSpPr txBox="1"/>
          <p:nvPr/>
        </p:nvSpPr>
        <p:spPr>
          <a:xfrm>
            <a:off x="472429" y="2079643"/>
            <a:ext cx="16703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PUNTI DI FORZA</a:t>
            </a:r>
          </a:p>
          <a:p>
            <a:r>
              <a:rPr lang="it-IT" sz="1500" dirty="0"/>
              <a:t>- Crescita più veloce</a:t>
            </a:r>
          </a:p>
          <a:p>
            <a:r>
              <a:rPr lang="it-IT" sz="1500" dirty="0"/>
              <a:t>- Maggiore specializzazione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59A4EACD-9472-B379-FEC9-229AB779F3A6}"/>
              </a:ext>
            </a:extLst>
          </p:cNvPr>
          <p:cNvGrpSpPr/>
          <p:nvPr/>
        </p:nvGrpSpPr>
        <p:grpSpPr>
          <a:xfrm>
            <a:off x="4801019" y="1126465"/>
            <a:ext cx="1857554" cy="3873997"/>
            <a:chOff x="4813793" y="1490910"/>
            <a:chExt cx="1857554" cy="3423127"/>
          </a:xfrm>
        </p:grpSpPr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C6F6BFC0-1FFB-BE2C-EEF5-78084FCF1BF6}"/>
                </a:ext>
              </a:extLst>
            </p:cNvPr>
            <p:cNvSpPr/>
            <p:nvPr/>
          </p:nvSpPr>
          <p:spPr>
            <a:xfrm>
              <a:off x="4813793" y="1490910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087E915C-6D65-4A27-5360-0ACF394A3F61}"/>
                </a:ext>
              </a:extLst>
            </p:cNvPr>
            <p:cNvSpPr txBox="1"/>
            <p:nvPr/>
          </p:nvSpPr>
          <p:spPr>
            <a:xfrm>
              <a:off x="4852917" y="1786686"/>
              <a:ext cx="181843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500" dirty="0"/>
                <a:t>Espansione in nuovi settori regolamentati</a:t>
              </a:r>
            </a:p>
            <a:p>
              <a:r>
                <a:rPr lang="it-IT" sz="1500" dirty="0"/>
                <a:t>Investimenti su servizi ad alto valore aggiunto (</a:t>
              </a:r>
              <a:r>
                <a:rPr lang="it-IT" sz="1500" dirty="0" err="1"/>
                <a:t>advisory</a:t>
              </a:r>
              <a:r>
                <a:rPr lang="it-IT" sz="1500" dirty="0"/>
                <a:t>, outsourcing, </a:t>
              </a:r>
              <a:r>
                <a:rPr lang="it-IT" sz="1500" dirty="0" err="1"/>
                <a:t>RegTech</a:t>
              </a:r>
              <a:r>
                <a:rPr lang="it-IT" sz="1500" dirty="0"/>
                <a:t>)</a:t>
              </a: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A396FEA9-8842-4A32-B931-7F8B139506B7}"/>
              </a:ext>
            </a:extLst>
          </p:cNvPr>
          <p:cNvGrpSpPr/>
          <p:nvPr/>
        </p:nvGrpSpPr>
        <p:grpSpPr>
          <a:xfrm>
            <a:off x="6941569" y="1126465"/>
            <a:ext cx="1843159" cy="3868303"/>
            <a:chOff x="6971891" y="1490904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FFBB94F5-FCBC-97AB-1410-5460F531D6FE}"/>
                </a:ext>
              </a:extLst>
            </p:cNvPr>
            <p:cNvSpPr/>
            <p:nvPr/>
          </p:nvSpPr>
          <p:spPr>
            <a:xfrm>
              <a:off x="6971891" y="1490904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098872A4-9802-1217-5816-911F5D1BABBE}"/>
                </a:ext>
              </a:extLst>
            </p:cNvPr>
            <p:cNvSpPr txBox="1"/>
            <p:nvPr/>
          </p:nvSpPr>
          <p:spPr>
            <a:xfrm>
              <a:off x="7008030" y="1759292"/>
              <a:ext cx="180702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500" dirty="0"/>
                <a:t>Maggiore pressione regolamentare</a:t>
              </a:r>
            </a:p>
            <a:p>
              <a:r>
                <a:rPr lang="it-IT" sz="1500" dirty="0"/>
                <a:t>Rischi legati a crescita rapida e dispersione strategica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D1A51C1B-2AEC-ECE4-C98D-D0EE380D8AAC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4B75C007-8260-0619-846E-19B77543D2E4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19770D2-1A1C-E016-6A5C-BDA2A623F7FF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48337AB-A263-8EC2-5256-D8B7B23F9428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EEF40608-4B41-5E1A-8308-1AC61D16A03D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8BAB3338-553A-1FDA-8393-E6D2C19D00E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F8FAEF6C-A2ED-C332-39AF-DDC67FE801A0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FACB9D2-194F-D09E-42BD-D4E3EC7A13F3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FB2BB9F-C145-7D29-C097-B293D69CC630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D1531667-4C78-2574-3F7B-703EC1FE4FF6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F97A55CF-5780-2A45-F8CC-0890FB0482FB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2D12C30-1F01-03C7-C536-90B2163D968C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1D4F27CF-22DC-5E7A-C4F4-B218FB43DEF5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A64E018C-5D1C-D41A-9BEF-9820D9E43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0667D091-0718-0412-8A36-0CA8C4F11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4B4E2A1D-F996-7028-CF4E-FE25D080E4FC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6AD3FD60-F97A-F876-5AA7-786520D5264F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DF757C4C-BC9C-189B-4B48-D6F8288F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EC53D0AB-B406-4DE2-4C4B-240D5B9A8D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C315924C-0A0D-01BA-7758-14DB221AE7DF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11E15232-40E1-865A-1EFD-AE3872E5C96B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2330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12CD-F434-09A8-049C-8604CC32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81F01C04-11CD-F978-AAC3-117ABEA78DC0}"/>
              </a:ext>
            </a:extLst>
          </p:cNvPr>
          <p:cNvSpPr/>
          <p:nvPr/>
        </p:nvSpPr>
        <p:spPr>
          <a:xfrm>
            <a:off x="2580379" y="4890403"/>
            <a:ext cx="1843159" cy="4331638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8E4B1BA-059F-4D92-05CC-C3BBC79F9030}"/>
              </a:ext>
            </a:extLst>
          </p:cNvPr>
          <p:cNvSpPr txBox="1"/>
          <p:nvPr/>
        </p:nvSpPr>
        <p:spPr>
          <a:xfrm>
            <a:off x="2694551" y="5229354"/>
            <a:ext cx="1809077" cy="217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DEBOLEZZE</a:t>
            </a:r>
          </a:p>
          <a:p>
            <a:r>
              <a:rPr lang="it-IT" sz="1500" dirty="0"/>
              <a:t>- Scalabilità organizzativa complessa</a:t>
            </a:r>
          </a:p>
          <a:p>
            <a:r>
              <a:rPr lang="it-IT" sz="1500" dirty="0"/>
              <a:t>- Gestione degli equilibri rispetto alla struttura attuale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7D546033-3A9F-3AF0-7F8E-56D01A0ADAD9}"/>
              </a:ext>
            </a:extLst>
          </p:cNvPr>
          <p:cNvSpPr/>
          <p:nvPr/>
        </p:nvSpPr>
        <p:spPr>
          <a:xfrm>
            <a:off x="442432" y="4990396"/>
            <a:ext cx="1843159" cy="3446815"/>
          </a:xfrm>
          <a:prstGeom prst="roundRect">
            <a:avLst>
              <a:gd name="adj" fmla="val 84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E22D46C-45D5-2784-39CC-06F9559F7EA2}"/>
              </a:ext>
            </a:extLst>
          </p:cNvPr>
          <p:cNvSpPr txBox="1"/>
          <p:nvPr/>
        </p:nvSpPr>
        <p:spPr>
          <a:xfrm>
            <a:off x="472429" y="5258786"/>
            <a:ext cx="16703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PUNTI DI FORZA</a:t>
            </a:r>
          </a:p>
          <a:p>
            <a:r>
              <a:rPr lang="it-IT" sz="1500" dirty="0"/>
              <a:t>- Crescita più veloce</a:t>
            </a:r>
          </a:p>
          <a:p>
            <a:r>
              <a:rPr lang="it-IT" sz="1500" dirty="0"/>
              <a:t>- Maggiore specializzazione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4BA87CB4-03C1-BEA1-E69A-65D3BDE86931}"/>
              </a:ext>
            </a:extLst>
          </p:cNvPr>
          <p:cNvGrpSpPr/>
          <p:nvPr/>
        </p:nvGrpSpPr>
        <p:grpSpPr>
          <a:xfrm>
            <a:off x="4801019" y="5549617"/>
            <a:ext cx="1857554" cy="3873997"/>
            <a:chOff x="4813793" y="5399270"/>
            <a:chExt cx="1857554" cy="3423127"/>
          </a:xfrm>
        </p:grpSpPr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F23CA9B9-E2D9-D105-A115-DB152619B592}"/>
                </a:ext>
              </a:extLst>
            </p:cNvPr>
            <p:cNvSpPr/>
            <p:nvPr/>
          </p:nvSpPr>
          <p:spPr>
            <a:xfrm>
              <a:off x="4813793" y="5399270"/>
              <a:ext cx="1843159" cy="3423127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69BC42D0-6660-A172-EF9D-6F322AB08333}"/>
                </a:ext>
              </a:extLst>
            </p:cNvPr>
            <p:cNvSpPr txBox="1"/>
            <p:nvPr/>
          </p:nvSpPr>
          <p:spPr>
            <a:xfrm>
              <a:off x="4852917" y="5695050"/>
              <a:ext cx="181843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OPPORTUNITA’</a:t>
              </a:r>
            </a:p>
            <a:p>
              <a:r>
                <a:rPr lang="it-IT" sz="1500" dirty="0"/>
                <a:t>Espansione in nuovi settori regolamentati</a:t>
              </a:r>
            </a:p>
            <a:p>
              <a:r>
                <a:rPr lang="it-IT" sz="1500" dirty="0"/>
                <a:t>Investimenti su servizi ad alto valore aggiunto (</a:t>
              </a:r>
              <a:r>
                <a:rPr lang="it-IT" sz="1500" dirty="0" err="1"/>
                <a:t>advisory</a:t>
              </a:r>
              <a:r>
                <a:rPr lang="it-IT" sz="1500" dirty="0"/>
                <a:t>, outsourcing, </a:t>
              </a:r>
              <a:r>
                <a:rPr lang="it-IT" sz="1500" dirty="0" err="1"/>
                <a:t>RegTech</a:t>
              </a:r>
              <a:r>
                <a:rPr lang="it-IT" sz="1500" dirty="0"/>
                <a:t>)</a:t>
              </a: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FC98A646-AF1A-5D90-ACE2-F1FA9ADACA9B}"/>
              </a:ext>
            </a:extLst>
          </p:cNvPr>
          <p:cNvGrpSpPr/>
          <p:nvPr/>
        </p:nvGrpSpPr>
        <p:grpSpPr>
          <a:xfrm>
            <a:off x="6958733" y="5336970"/>
            <a:ext cx="1843159" cy="3868303"/>
            <a:chOff x="6989055" y="5210655"/>
            <a:chExt cx="1843159" cy="3417434"/>
          </a:xfrm>
        </p:grpSpPr>
        <p:sp>
          <p:nvSpPr>
            <p:cNvPr id="102" name="Rettangolo con angoli arrotondati 101">
              <a:extLst>
                <a:ext uri="{FF2B5EF4-FFF2-40B4-BE49-F238E27FC236}">
                  <a16:creationId xmlns:a16="http://schemas.microsoft.com/office/drawing/2014/main" id="{635EAEA9-0AC5-CC8D-AEA9-13253BBB439E}"/>
                </a:ext>
              </a:extLst>
            </p:cNvPr>
            <p:cNvSpPr/>
            <p:nvPr/>
          </p:nvSpPr>
          <p:spPr>
            <a:xfrm>
              <a:off x="6989055" y="5210655"/>
              <a:ext cx="1843159" cy="3417434"/>
            </a:xfrm>
            <a:prstGeom prst="roundRect">
              <a:avLst>
                <a:gd name="adj" fmla="val 841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it-IT" sz="1200" dirty="0"/>
            </a:p>
          </p:txBody>
        </p:sp>
        <p:sp>
          <p:nvSpPr>
            <p:cNvPr id="103" name="CasellaDiTesto 102">
              <a:extLst>
                <a:ext uri="{FF2B5EF4-FFF2-40B4-BE49-F238E27FC236}">
                  <a16:creationId xmlns:a16="http://schemas.microsoft.com/office/drawing/2014/main" id="{2B09915F-5FC8-2F3C-C7CB-E56DCAE2ECBD}"/>
                </a:ext>
              </a:extLst>
            </p:cNvPr>
            <p:cNvSpPr txBox="1"/>
            <p:nvPr/>
          </p:nvSpPr>
          <p:spPr>
            <a:xfrm>
              <a:off x="7025194" y="5479043"/>
              <a:ext cx="1807020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600" b="1" dirty="0"/>
                <a:t>MINACCE</a:t>
              </a:r>
            </a:p>
            <a:p>
              <a:r>
                <a:rPr lang="it-IT" sz="1500" dirty="0"/>
                <a:t>Maggiore pressione regolamentare</a:t>
              </a:r>
            </a:p>
            <a:p>
              <a:r>
                <a:rPr lang="it-IT" sz="1500" dirty="0"/>
                <a:t>Rischi legati a crescita rapida e dispersione strategica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CD31A0F0-B8CB-967C-246E-0FFA658A0C86}"/>
              </a:ext>
            </a:extLst>
          </p:cNvPr>
          <p:cNvGrpSpPr/>
          <p:nvPr/>
        </p:nvGrpSpPr>
        <p:grpSpPr>
          <a:xfrm>
            <a:off x="-1320802" y="-4602"/>
            <a:ext cx="9425575" cy="784830"/>
            <a:chOff x="-821871" y="-92503"/>
            <a:chExt cx="5176288" cy="784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97967F34-9B60-3551-612E-A06D772ADC09}"/>
                </a:ext>
              </a:extLst>
            </p:cNvPr>
            <p:cNvSpPr/>
            <p:nvPr/>
          </p:nvSpPr>
          <p:spPr>
            <a:xfrm>
              <a:off x="-821871" y="-92503"/>
              <a:ext cx="5055247" cy="784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 dirty="0">
                <a:solidFill>
                  <a:schemeClr val="tx2"/>
                </a:solidFill>
                <a:latin typeface="Georgia Pro" panose="020F0502020204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52196A5-FD51-DBDA-7751-D9D53E3C0700}"/>
                </a:ext>
              </a:extLst>
            </p:cNvPr>
            <p:cNvSpPr txBox="1"/>
            <p:nvPr/>
          </p:nvSpPr>
          <p:spPr>
            <a:xfrm>
              <a:off x="809895" y="9362"/>
              <a:ext cx="35445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latin typeface="Georgia Pro" panose="02040502050405020303" pitchFamily="18" charset="0"/>
                </a:rPr>
                <a:t>Analisi SWOT – Funzioni di controllo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CC47A0A-2F35-5943-5E61-5F4F0B854BF4}"/>
              </a:ext>
            </a:extLst>
          </p:cNvPr>
          <p:cNvGrpSpPr/>
          <p:nvPr/>
        </p:nvGrpSpPr>
        <p:grpSpPr>
          <a:xfrm rot="4732269" flipH="1" flipV="1">
            <a:off x="-1193912" y="-1618058"/>
            <a:ext cx="3011419" cy="2902138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53F100CF-0EFC-99DF-A48D-6465A4213DD4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A87352CB-3E65-97AE-02AE-1226ED9F06E0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7492358E-336F-9367-3DB6-D59A9C26D611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554A5272-1E41-426B-B301-959C172C760E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3739BBA4-F091-FDFA-4145-5B2344DEF39B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F219406A-50AF-8B96-6857-6B71F366F189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D4A90A93-9D15-FECC-EC22-96C39FA6B903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94C6EB24-3D4F-2C9A-18AC-A51F63324248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4FCB689A-4CA5-C639-718A-2C733FBFBE75}"/>
              </a:ext>
            </a:extLst>
          </p:cNvPr>
          <p:cNvSpPr/>
          <p:nvPr/>
        </p:nvSpPr>
        <p:spPr>
          <a:xfrm>
            <a:off x="-203200" y="4780435"/>
            <a:ext cx="9829800" cy="1721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0" name="Elemento grafico 59" descr="Cartella con riempimento a tinta unita">
            <a:extLst>
              <a:ext uri="{FF2B5EF4-FFF2-40B4-BE49-F238E27FC236}">
                <a16:creationId xmlns:a16="http://schemas.microsoft.com/office/drawing/2014/main" id="{AF3056F8-953F-1046-9004-9031400DAE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10" y="3005718"/>
            <a:ext cx="2459745" cy="2459745"/>
          </a:xfrm>
          <a:prstGeom prst="rect">
            <a:avLst/>
          </a:prstGeom>
        </p:spPr>
      </p:pic>
      <p:pic>
        <p:nvPicPr>
          <p:cNvPr id="57" name="Elemento grafico 56" descr="Cartella con riempimento a tinta unita">
            <a:extLst>
              <a:ext uri="{FF2B5EF4-FFF2-40B4-BE49-F238E27FC236}">
                <a16:creationId xmlns:a16="http://schemas.microsoft.com/office/drawing/2014/main" id="{3ADF963D-FFD3-7893-8422-33F18ED1B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255" y="3012490"/>
            <a:ext cx="2459745" cy="2459745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7E45F1E8-446A-F5D0-B7AA-B79302D1E275}"/>
              </a:ext>
            </a:extLst>
          </p:cNvPr>
          <p:cNvSpPr/>
          <p:nvPr/>
        </p:nvSpPr>
        <p:spPr>
          <a:xfrm>
            <a:off x="7094401" y="3878147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T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1B39ACA0-CEEF-23DB-B262-FAB882726FAA}"/>
              </a:ext>
            </a:extLst>
          </p:cNvPr>
          <p:cNvSpPr/>
          <p:nvPr/>
        </p:nvSpPr>
        <p:spPr>
          <a:xfrm>
            <a:off x="5243107" y="3794436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O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pic>
        <p:nvPicPr>
          <p:cNvPr id="58" name="Elemento grafico 57" descr="Cartella con riempimento a tinta unita">
            <a:extLst>
              <a:ext uri="{FF2B5EF4-FFF2-40B4-BE49-F238E27FC236}">
                <a16:creationId xmlns:a16="http://schemas.microsoft.com/office/drawing/2014/main" id="{3A24A91F-A80C-4F1D-DAAD-1EE9C9E71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820" y="3005718"/>
            <a:ext cx="2459745" cy="2459745"/>
          </a:xfrm>
          <a:prstGeom prst="rect">
            <a:avLst/>
          </a:prstGeom>
        </p:spPr>
      </p:pic>
      <p:pic>
        <p:nvPicPr>
          <p:cNvPr id="59" name="Elemento grafico 58" descr="Cartella con riempimento a tinta unita">
            <a:extLst>
              <a:ext uri="{FF2B5EF4-FFF2-40B4-BE49-F238E27FC236}">
                <a16:creationId xmlns:a16="http://schemas.microsoft.com/office/drawing/2014/main" id="{8A47A5EF-BC6D-6B58-C5D5-C8F3AA4B6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1272" y="2998946"/>
            <a:ext cx="2459745" cy="2459745"/>
          </a:xfrm>
          <a:prstGeom prst="rect">
            <a:avLst/>
          </a:prstGeom>
        </p:spPr>
      </p:pic>
      <p:sp>
        <p:nvSpPr>
          <p:cNvPr id="46" name="Rettangolo 45">
            <a:extLst>
              <a:ext uri="{FF2B5EF4-FFF2-40B4-BE49-F238E27FC236}">
                <a16:creationId xmlns:a16="http://schemas.microsoft.com/office/drawing/2014/main" id="{E4F728BC-CFBA-0FA4-B7CC-6CF2F835FF27}"/>
              </a:ext>
            </a:extLst>
          </p:cNvPr>
          <p:cNvSpPr/>
          <p:nvPr/>
        </p:nvSpPr>
        <p:spPr>
          <a:xfrm>
            <a:off x="882805" y="384964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S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B634635D-C0CE-51A7-AB0C-7174544A59CC}"/>
              </a:ext>
            </a:extLst>
          </p:cNvPr>
          <p:cNvSpPr/>
          <p:nvPr/>
        </p:nvSpPr>
        <p:spPr>
          <a:xfrm>
            <a:off x="2944951" y="3821858"/>
            <a:ext cx="10321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  <a:ea typeface="Yu Gothic UI Semibold" panose="020B0700000000000000" pitchFamily="34" charset="-128"/>
                <a:cs typeface="Aharoni" panose="020F0502020204030204" pitchFamily="2" charset="-79"/>
              </a:rPr>
              <a:t>W</a:t>
            </a:r>
            <a:endParaRPr lang="it-IT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F0502020204030204" pitchFamily="18" charset="0"/>
              <a:ea typeface="Yu Gothic UI Semibold" panose="020B0700000000000000" pitchFamily="34" charset="-128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8551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9117-03D3-CDFD-F33E-8E32030B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0E9F24C8-E004-ADB7-4974-1A2E21217015}"/>
              </a:ext>
            </a:extLst>
          </p:cNvPr>
          <p:cNvSpPr/>
          <p:nvPr/>
        </p:nvSpPr>
        <p:spPr>
          <a:xfrm>
            <a:off x="-3012512" y="1576384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F2DB316-71F5-8A29-8D2B-0E719AF5014D}"/>
              </a:ext>
            </a:extLst>
          </p:cNvPr>
          <p:cNvSpPr/>
          <p:nvPr/>
        </p:nvSpPr>
        <p:spPr>
          <a:xfrm rot="5400000">
            <a:off x="3966882" y="2675993"/>
            <a:ext cx="56907" cy="9007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606F38B-7F14-FB7B-5F96-D7A654DA26F0}"/>
              </a:ext>
            </a:extLst>
          </p:cNvPr>
          <p:cNvSpPr/>
          <p:nvPr/>
        </p:nvSpPr>
        <p:spPr>
          <a:xfrm>
            <a:off x="-2935098" y="1602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Risk Management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AEA470A-E793-2737-4311-A2203441396B}"/>
              </a:ext>
            </a:extLst>
          </p:cNvPr>
          <p:cNvSpPr/>
          <p:nvPr/>
        </p:nvSpPr>
        <p:spPr>
          <a:xfrm>
            <a:off x="-2656345" y="1993175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 proprietaria per Banche di Mercato e sistema bancario (ICAAP)</a:t>
            </a:r>
            <a:endParaRPr lang="en-US" sz="11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430DC87-565F-C947-8052-51467AA4A17E}"/>
              </a:ext>
            </a:extLst>
          </p:cNvPr>
          <p:cNvSpPr/>
          <p:nvPr/>
        </p:nvSpPr>
        <p:spPr>
          <a:xfrm>
            <a:off x="-2857513" y="3331517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1C44C1D4-2304-905E-A1D8-44B4768099C4}"/>
              </a:ext>
            </a:extLst>
          </p:cNvPr>
          <p:cNvSpPr/>
          <p:nvPr/>
        </p:nvSpPr>
        <p:spPr>
          <a:xfrm rot="16200000">
            <a:off x="3966882" y="2675994"/>
            <a:ext cx="56907" cy="9007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30B2CC1-3EAD-9D90-5B31-2690B896A581}"/>
              </a:ext>
            </a:extLst>
          </p:cNvPr>
          <p:cNvSpPr/>
          <p:nvPr/>
        </p:nvSpPr>
        <p:spPr>
          <a:xfrm>
            <a:off x="-2829632" y="332681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AML</a:t>
            </a:r>
            <a:endParaRPr lang="en-US" sz="10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90EF56CE-82C1-819A-DE62-286A561E6B66}"/>
              </a:ext>
            </a:extLst>
          </p:cNvPr>
          <p:cNvSpPr/>
          <p:nvPr/>
        </p:nvSpPr>
        <p:spPr>
          <a:xfrm>
            <a:off x="-2911928" y="3530878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operativo di gestione delle segnalazioni AML per intermediari vigilati</a:t>
            </a:r>
            <a:endParaRPr lang="en-US" sz="115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DC8C6012-7EA7-587A-F752-8515F4444381}"/>
              </a:ext>
            </a:extLst>
          </p:cNvPr>
          <p:cNvSpPr/>
          <p:nvPr/>
        </p:nvSpPr>
        <p:spPr>
          <a:xfrm>
            <a:off x="10410194" y="2541416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72F066B4-8D77-9713-ABCA-A65566A0BDFC}"/>
              </a:ext>
            </a:extLst>
          </p:cNvPr>
          <p:cNvSpPr/>
          <p:nvPr/>
        </p:nvSpPr>
        <p:spPr>
          <a:xfrm rot="16200000">
            <a:off x="3966882" y="2678171"/>
            <a:ext cx="56907" cy="9007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E8A900B-F1D8-E4F4-B184-3014D01D9815}"/>
              </a:ext>
            </a:extLst>
          </p:cNvPr>
          <p:cNvSpPr/>
          <p:nvPr/>
        </p:nvSpPr>
        <p:spPr>
          <a:xfrm>
            <a:off x="10501634" y="25871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Controllo di Gestione</a:t>
            </a:r>
            <a:endParaRPr lang="en-US" sz="1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186A765A-7022-5051-837E-4886D50D8D5F}"/>
              </a:ext>
            </a:extLst>
          </p:cNvPr>
          <p:cNvSpPr/>
          <p:nvPr/>
        </p:nvSpPr>
        <p:spPr>
          <a:xfrm>
            <a:off x="10519922" y="2962040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Applicativo dedicato alle Banche di Mercato per il monitoraggio economico-finanziario</a:t>
            </a:r>
            <a:endParaRPr lang="en-US" sz="115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989BBE4B-5389-D21C-DB03-FD640EBCED96}"/>
              </a:ext>
            </a:extLst>
          </p:cNvPr>
          <p:cNvSpPr/>
          <p:nvPr/>
        </p:nvSpPr>
        <p:spPr>
          <a:xfrm>
            <a:off x="0" y="5337713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C85C8BF2-0E6C-BCE4-54FB-FDCE741D7F15}"/>
              </a:ext>
            </a:extLst>
          </p:cNvPr>
          <p:cNvSpPr/>
          <p:nvPr/>
        </p:nvSpPr>
        <p:spPr>
          <a:xfrm rot="5400000">
            <a:off x="3966882" y="2673818"/>
            <a:ext cx="56907" cy="9007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E3644A78-AECD-DF64-83CB-BA8B314741AB}"/>
              </a:ext>
            </a:extLst>
          </p:cNvPr>
          <p:cNvSpPr/>
          <p:nvPr/>
        </p:nvSpPr>
        <p:spPr>
          <a:xfrm>
            <a:off x="91440" y="538343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per settore Luxury</a:t>
            </a:r>
            <a:endParaRPr lang="en-US" sz="10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8734A527-A282-A5D4-1172-997F9068F41B}"/>
              </a:ext>
            </a:extLst>
          </p:cNvPr>
          <p:cNvSpPr/>
          <p:nvPr/>
        </p:nvSpPr>
        <p:spPr>
          <a:xfrm>
            <a:off x="109728" y="5758337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e supporto operativo per soggetti obbligati nel settore del lusso</a:t>
            </a:r>
            <a:endParaRPr lang="en-US" sz="115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CECF41D7-89E3-BDBD-04D5-A8E5B0A9210A}"/>
              </a:ext>
            </a:extLst>
          </p:cNvPr>
          <p:cNvSpPr/>
          <p:nvPr/>
        </p:nvSpPr>
        <p:spPr>
          <a:xfrm>
            <a:off x="3172681" y="5438297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AFCC36FF-6469-6ED3-1669-747FCFD37EA9}"/>
              </a:ext>
            </a:extLst>
          </p:cNvPr>
          <p:cNvSpPr/>
          <p:nvPr/>
        </p:nvSpPr>
        <p:spPr>
          <a:xfrm rot="16200000">
            <a:off x="3966882" y="2678170"/>
            <a:ext cx="56907" cy="9007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9A736F6B-AF92-77C5-6C11-915B35521015}"/>
              </a:ext>
            </a:extLst>
          </p:cNvPr>
          <p:cNvSpPr/>
          <p:nvPr/>
        </p:nvSpPr>
        <p:spPr>
          <a:xfrm>
            <a:off x="3264121" y="5484017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Adeguati Assetti Organizzativi</a:t>
            </a:r>
            <a:endParaRPr lang="en-US" sz="100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3B79CCDE-AABD-C0E9-5EEF-77CD56B4CF4E}"/>
              </a:ext>
            </a:extLst>
          </p:cNvPr>
          <p:cNvSpPr/>
          <p:nvPr/>
        </p:nvSpPr>
        <p:spPr>
          <a:xfrm>
            <a:off x="3282409" y="5858921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per imprese non finanziarie — presidio della normativa post-riforma societaria</a:t>
            </a:r>
            <a:endParaRPr lang="en-US" sz="115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CADBF3F7-3295-A1F4-CAEA-05EB786DB2F5}"/>
              </a:ext>
            </a:extLst>
          </p:cNvPr>
          <p:cNvSpPr/>
          <p:nvPr/>
        </p:nvSpPr>
        <p:spPr>
          <a:xfrm>
            <a:off x="9493490" y="4027941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7EF022E2-D1CC-229B-CC03-90564CBE4AB1}"/>
              </a:ext>
            </a:extLst>
          </p:cNvPr>
          <p:cNvSpPr/>
          <p:nvPr/>
        </p:nvSpPr>
        <p:spPr>
          <a:xfrm rot="16200000">
            <a:off x="3965794" y="2674906"/>
            <a:ext cx="59084" cy="9007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E2AF6FB8-7D73-16F4-BCC3-E8C5A1633DE9}"/>
              </a:ext>
            </a:extLst>
          </p:cNvPr>
          <p:cNvSpPr/>
          <p:nvPr/>
        </p:nvSpPr>
        <p:spPr>
          <a:xfrm>
            <a:off x="9584930" y="407366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 spin-off universitari</a:t>
            </a:r>
            <a:endParaRPr lang="en-US" sz="100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F110030B-540A-3608-B458-F938A970CD94}"/>
              </a:ext>
            </a:extLst>
          </p:cNvPr>
          <p:cNvSpPr/>
          <p:nvPr/>
        </p:nvSpPr>
        <p:spPr>
          <a:xfrm>
            <a:off x="9603218" y="4448565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Co-sviluppo di soluzioni innovative in ambito RegTech e Risk Management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82DC8FD-95A9-9C02-ED1B-F68DC499649F}"/>
              </a:ext>
            </a:extLst>
          </p:cNvPr>
          <p:cNvSpPr/>
          <p:nvPr/>
        </p:nvSpPr>
        <p:spPr>
          <a:xfrm>
            <a:off x="3467099" y="-30378"/>
            <a:ext cx="8323839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27993D8-176B-8426-F135-D4246ACBD78B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AFC4F34-80BC-A473-106C-5D2705164786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E8CD0DDF-6D16-6009-3062-1A76ED60F92A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2ABB559D-282D-8E45-95AC-1A3CD82A068E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22A83D1B-8D4D-3E3A-B017-38F7C79504E3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40F0A16-5C8E-E6BA-B7B7-B16CF2A70BFA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79A99272-CD15-1761-0BB5-F7F149BCE011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5CE141C-6313-FFF6-FFDC-C6FD6943DAC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13CDB2A-4197-4F39-7069-EBA1996993F4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4AD0C151-B92B-A2F0-30D3-8FEB7A5C0D58}"/>
              </a:ext>
            </a:extLst>
          </p:cNvPr>
          <p:cNvSpPr/>
          <p:nvPr/>
        </p:nvSpPr>
        <p:spPr>
          <a:xfrm>
            <a:off x="4243283" y="9064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 nuovi servizi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6A4AC8-23FF-AAE7-1F06-1CC78EB271BB}"/>
              </a:ext>
            </a:extLst>
          </p:cNvPr>
          <p:cNvSpPr/>
          <p:nvPr/>
        </p:nvSpPr>
        <p:spPr>
          <a:xfrm>
            <a:off x="-1110664" y="84461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Opportunità identificate — non ancora quantificate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72CCBB81-5F07-3E2A-A9FB-4002FE113CD9}"/>
              </a:ext>
            </a:extLst>
          </p:cNvPr>
          <p:cNvSpPr/>
          <p:nvPr/>
        </p:nvSpPr>
        <p:spPr>
          <a:xfrm>
            <a:off x="3626006" y="2312618"/>
            <a:ext cx="648586" cy="835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397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17371-9365-F938-D821-3E395D5BF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3DAD3E33-F206-5EEC-805C-5E0B3693041A}"/>
              </a:ext>
            </a:extLst>
          </p:cNvPr>
          <p:cNvSpPr/>
          <p:nvPr/>
        </p:nvSpPr>
        <p:spPr>
          <a:xfrm>
            <a:off x="200881" y="1633571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CB73CB1-3AD0-FEAF-1C50-23ADFC8F7AD1}"/>
              </a:ext>
            </a:extLst>
          </p:cNvPr>
          <p:cNvSpPr/>
          <p:nvPr/>
        </p:nvSpPr>
        <p:spPr>
          <a:xfrm>
            <a:off x="200881" y="1633571"/>
            <a:ext cx="2743200" cy="34747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7DB0835-CE90-9A4A-1439-3BB3203A5082}"/>
              </a:ext>
            </a:extLst>
          </p:cNvPr>
          <p:cNvSpPr/>
          <p:nvPr/>
        </p:nvSpPr>
        <p:spPr>
          <a:xfrm>
            <a:off x="292321" y="167929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Risk Management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BE6D1D5-32D6-2AC2-2871-0CCF9B9F28B7}"/>
              </a:ext>
            </a:extLst>
          </p:cNvPr>
          <p:cNvSpPr/>
          <p:nvPr/>
        </p:nvSpPr>
        <p:spPr>
          <a:xfrm>
            <a:off x="310609" y="2054195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 proprietaria per Banche di Mercato e sistema bancario (ICAAP)</a:t>
            </a:r>
            <a:endParaRPr lang="en-US" sz="11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995E8F49-F6FE-8815-74C3-186E0C32AA6A}"/>
              </a:ext>
            </a:extLst>
          </p:cNvPr>
          <p:cNvSpPr/>
          <p:nvPr/>
        </p:nvSpPr>
        <p:spPr>
          <a:xfrm>
            <a:off x="3172681" y="1633571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E61700B-12CE-015D-3AC0-0347C6B78842}"/>
              </a:ext>
            </a:extLst>
          </p:cNvPr>
          <p:cNvSpPr/>
          <p:nvPr/>
        </p:nvSpPr>
        <p:spPr>
          <a:xfrm>
            <a:off x="3172681" y="1633571"/>
            <a:ext cx="27432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DEA8BE6-DB07-6A1F-5DEA-D8C506C58EB0}"/>
              </a:ext>
            </a:extLst>
          </p:cNvPr>
          <p:cNvSpPr/>
          <p:nvPr/>
        </p:nvSpPr>
        <p:spPr>
          <a:xfrm>
            <a:off x="3264121" y="167929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AML</a:t>
            </a:r>
            <a:endParaRPr lang="en-US" sz="10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2853743C-8A74-2BB4-710E-7DF04B5D9ED6}"/>
              </a:ext>
            </a:extLst>
          </p:cNvPr>
          <p:cNvSpPr/>
          <p:nvPr/>
        </p:nvSpPr>
        <p:spPr>
          <a:xfrm>
            <a:off x="3282409" y="2054195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operativo di gestione delle segnalazioni AML per intermediari vigilati</a:t>
            </a:r>
            <a:endParaRPr lang="en-US" sz="115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82446A1-B450-820F-515E-8E255129CB22}"/>
              </a:ext>
            </a:extLst>
          </p:cNvPr>
          <p:cNvSpPr/>
          <p:nvPr/>
        </p:nvSpPr>
        <p:spPr>
          <a:xfrm>
            <a:off x="6144481" y="1633571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4D868890-7BE4-12B5-B3D5-960207AAAD5B}"/>
              </a:ext>
            </a:extLst>
          </p:cNvPr>
          <p:cNvSpPr/>
          <p:nvPr/>
        </p:nvSpPr>
        <p:spPr>
          <a:xfrm>
            <a:off x="6144481" y="1633571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4706373F-D619-42A8-FFF9-2B86F2D6FEAD}"/>
              </a:ext>
            </a:extLst>
          </p:cNvPr>
          <p:cNvSpPr/>
          <p:nvPr/>
        </p:nvSpPr>
        <p:spPr>
          <a:xfrm>
            <a:off x="6235921" y="167929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Controllo di Gestione</a:t>
            </a:r>
            <a:endParaRPr lang="en-US" sz="1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9382A6D0-8E35-F9F5-9108-E73AFFBC3411}"/>
              </a:ext>
            </a:extLst>
          </p:cNvPr>
          <p:cNvSpPr/>
          <p:nvPr/>
        </p:nvSpPr>
        <p:spPr>
          <a:xfrm>
            <a:off x="6254209" y="2054195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Applicativo dedicato alle Banche di Mercato per il monitoraggio economico-finanziario</a:t>
            </a:r>
            <a:endParaRPr lang="en-US" sz="115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6ACEF1D0-63A0-CDB2-575F-97B0F5F3AAA4}"/>
              </a:ext>
            </a:extLst>
          </p:cNvPr>
          <p:cNvSpPr/>
          <p:nvPr/>
        </p:nvSpPr>
        <p:spPr>
          <a:xfrm>
            <a:off x="200881" y="3347998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4C238C75-52E6-E2CE-8B35-36E3D23B6844}"/>
              </a:ext>
            </a:extLst>
          </p:cNvPr>
          <p:cNvSpPr/>
          <p:nvPr/>
        </p:nvSpPr>
        <p:spPr>
          <a:xfrm>
            <a:off x="200881" y="3347998"/>
            <a:ext cx="27432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ABA261D9-619E-6904-85F7-C09F77F5D598}"/>
              </a:ext>
            </a:extLst>
          </p:cNvPr>
          <p:cNvSpPr/>
          <p:nvPr/>
        </p:nvSpPr>
        <p:spPr>
          <a:xfrm>
            <a:off x="292321" y="339371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per settore Luxury</a:t>
            </a:r>
            <a:endParaRPr lang="en-US" sz="10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695D0230-873A-3557-C257-76775908F7B6}"/>
              </a:ext>
            </a:extLst>
          </p:cNvPr>
          <p:cNvSpPr/>
          <p:nvPr/>
        </p:nvSpPr>
        <p:spPr>
          <a:xfrm>
            <a:off x="310609" y="3768622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e supporto operativo per soggetti obbligati nel settore del lusso</a:t>
            </a:r>
            <a:endParaRPr lang="en-US" sz="115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DC7A2B5D-1A45-936B-1CFD-326D38549EFB}"/>
              </a:ext>
            </a:extLst>
          </p:cNvPr>
          <p:cNvSpPr/>
          <p:nvPr/>
        </p:nvSpPr>
        <p:spPr>
          <a:xfrm>
            <a:off x="3172681" y="3347998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EFEE0F07-9CFF-0C1F-73FF-08A4B99EC2F0}"/>
              </a:ext>
            </a:extLst>
          </p:cNvPr>
          <p:cNvSpPr/>
          <p:nvPr/>
        </p:nvSpPr>
        <p:spPr>
          <a:xfrm>
            <a:off x="3172681" y="3347998"/>
            <a:ext cx="2743200" cy="34747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77A1C5FB-81BC-0671-CAD2-49CAB495013B}"/>
              </a:ext>
            </a:extLst>
          </p:cNvPr>
          <p:cNvSpPr/>
          <p:nvPr/>
        </p:nvSpPr>
        <p:spPr>
          <a:xfrm>
            <a:off x="3264121" y="339371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Adeguati Assetti Organizzativi</a:t>
            </a:r>
            <a:endParaRPr lang="en-US" sz="100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72E94D47-EA70-6E2D-2EC3-1B8C818D57E0}"/>
              </a:ext>
            </a:extLst>
          </p:cNvPr>
          <p:cNvSpPr/>
          <p:nvPr/>
        </p:nvSpPr>
        <p:spPr>
          <a:xfrm>
            <a:off x="3282409" y="3768622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 per imprese non finanziarie — presidio della normativa post-riforma societaria</a:t>
            </a:r>
            <a:endParaRPr lang="en-US" sz="115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BFA682CF-15D1-552E-96E0-FB3D996A7A47}"/>
              </a:ext>
            </a:extLst>
          </p:cNvPr>
          <p:cNvSpPr/>
          <p:nvPr/>
        </p:nvSpPr>
        <p:spPr>
          <a:xfrm>
            <a:off x="6144481" y="3347998"/>
            <a:ext cx="2743200" cy="1359886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E2F525F1-B39A-8D0D-B683-29191CA88382}"/>
              </a:ext>
            </a:extLst>
          </p:cNvPr>
          <p:cNvSpPr/>
          <p:nvPr/>
        </p:nvSpPr>
        <p:spPr>
          <a:xfrm>
            <a:off x="6144481" y="3347998"/>
            <a:ext cx="274320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95A14D62-AB4B-5DC3-EF7E-CE44355F6ED2}"/>
              </a:ext>
            </a:extLst>
          </p:cNvPr>
          <p:cNvSpPr/>
          <p:nvPr/>
        </p:nvSpPr>
        <p:spPr>
          <a:xfrm>
            <a:off x="6235921" y="339371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 spin-off universitari</a:t>
            </a:r>
            <a:endParaRPr lang="en-US" sz="100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A79C08C7-07C4-00C4-A42E-9348A699DA75}"/>
              </a:ext>
            </a:extLst>
          </p:cNvPr>
          <p:cNvSpPr/>
          <p:nvPr/>
        </p:nvSpPr>
        <p:spPr>
          <a:xfrm>
            <a:off x="6254209" y="3768622"/>
            <a:ext cx="2542032" cy="93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Co-sviluppo di soluzioni innovative in ambito RegTech e Risk Management</a:t>
            </a:r>
            <a:endParaRPr lang="en-US" sz="115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A8D6674-FC89-836A-69D2-3D44F5284282}"/>
              </a:ext>
            </a:extLst>
          </p:cNvPr>
          <p:cNvSpPr/>
          <p:nvPr/>
        </p:nvSpPr>
        <p:spPr>
          <a:xfrm>
            <a:off x="3467099" y="-30378"/>
            <a:ext cx="8323839" cy="784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 dirty="0">
              <a:solidFill>
                <a:schemeClr val="tx2"/>
              </a:solidFill>
              <a:latin typeface="Georgia Pro" panose="020F0502020204030204" pitchFamily="18" charset="0"/>
              <a:cs typeface="Arial" panose="020B0604020202020204" pitchFamily="34" charset="0"/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2BD23CE6-D87F-F5BE-1733-158246DB2659}"/>
              </a:ext>
            </a:extLst>
          </p:cNvPr>
          <p:cNvGrpSpPr/>
          <p:nvPr/>
        </p:nvGrpSpPr>
        <p:grpSpPr>
          <a:xfrm rot="575858">
            <a:off x="7769091" y="-776671"/>
            <a:ext cx="3152148" cy="2938756"/>
            <a:chOff x="5486400" y="-1302816"/>
            <a:chExt cx="7764617" cy="7202998"/>
          </a:xfrm>
        </p:grpSpPr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C0DC9BC7-D6B8-ADEE-5C51-530B3D26D95B}"/>
                </a:ext>
              </a:extLst>
            </p:cNvPr>
            <p:cNvGrpSpPr/>
            <p:nvPr/>
          </p:nvGrpSpPr>
          <p:grpSpPr>
            <a:xfrm>
              <a:off x="6594152" y="-756683"/>
              <a:ext cx="6656865" cy="6656865"/>
              <a:chOff x="0" y="0"/>
              <a:chExt cx="6350000" cy="6350000"/>
            </a:xfrm>
            <a:solidFill>
              <a:schemeClr val="accent2"/>
            </a:solidFill>
          </p:grpSpPr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41FE7D0F-A93C-3D8C-5AF5-878F6BD57FE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AA9D6780-4898-75FF-49DF-7E320D522CC9}"/>
                </a:ext>
              </a:extLst>
            </p:cNvPr>
            <p:cNvGrpSpPr/>
            <p:nvPr/>
          </p:nvGrpSpPr>
          <p:grpSpPr>
            <a:xfrm rot="-3270436">
              <a:off x="4667677" y="46304"/>
              <a:ext cx="6049387" cy="3351148"/>
              <a:chOff x="0" y="0"/>
              <a:chExt cx="4060920" cy="2249607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1496DAAA-5621-3DEC-86A2-B77E2BA6DF40}"/>
                  </a:ext>
                </a:extLst>
              </p:cNvPr>
              <p:cNvSpPr/>
              <p:nvPr/>
            </p:nvSpPr>
            <p:spPr>
              <a:xfrm>
                <a:off x="11450" y="54158"/>
                <a:ext cx="4022947" cy="2195449"/>
              </a:xfrm>
              <a:custGeom>
                <a:avLst/>
                <a:gdLst/>
                <a:ahLst/>
                <a:cxnLst/>
                <a:rect l="l" t="t" r="r" b="b"/>
                <a:pathLst>
                  <a:path w="4022947" h="2195449">
                    <a:moveTo>
                      <a:pt x="2925031" y="2195449"/>
                    </a:moveTo>
                    <a:lnTo>
                      <a:pt x="1097788" y="2195449"/>
                    </a:lnTo>
                    <a:cubicBezTo>
                      <a:pt x="491490" y="2195449"/>
                      <a:pt x="0" y="1703959"/>
                      <a:pt x="0" y="1097661"/>
                    </a:cubicBezTo>
                    <a:cubicBezTo>
                      <a:pt x="0" y="491490"/>
                      <a:pt x="491490" y="0"/>
                      <a:pt x="1097788" y="0"/>
                    </a:cubicBezTo>
                    <a:lnTo>
                      <a:pt x="2925158" y="0"/>
                    </a:lnTo>
                    <a:cubicBezTo>
                      <a:pt x="3531457" y="0"/>
                      <a:pt x="4022947" y="491490"/>
                      <a:pt x="4022947" y="1097788"/>
                    </a:cubicBezTo>
                    <a:cubicBezTo>
                      <a:pt x="4022820" y="1703959"/>
                      <a:pt x="3531329" y="2195449"/>
                      <a:pt x="2925031" y="2195449"/>
                    </a:cubicBez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C5C6BE28-C86E-2C48-EAC6-7ABD0092AA2C}"/>
                  </a:ext>
                </a:extLst>
              </p:cNvPr>
              <p:cNvSpPr/>
              <p:nvPr/>
            </p:nvSpPr>
            <p:spPr>
              <a:xfrm>
                <a:off x="0" y="0"/>
                <a:ext cx="4060920" cy="2233549"/>
              </a:xfrm>
              <a:custGeom>
                <a:avLst/>
                <a:gdLst/>
                <a:ahLst/>
                <a:cxnLst/>
                <a:rect l="l" t="t" r="r" b="b"/>
                <a:pathLst>
                  <a:path w="4060920" h="2233549">
                    <a:moveTo>
                      <a:pt x="2944081" y="2233549"/>
                    </a:moveTo>
                    <a:lnTo>
                      <a:pt x="1116838" y="2233549"/>
                    </a:lnTo>
                    <a:cubicBezTo>
                      <a:pt x="501015" y="2233549"/>
                      <a:pt x="0" y="1732534"/>
                      <a:pt x="0" y="1116838"/>
                    </a:cubicBezTo>
                    <a:cubicBezTo>
                      <a:pt x="0" y="501015"/>
                      <a:pt x="501015" y="0"/>
                      <a:pt x="1116838" y="0"/>
                    </a:cubicBezTo>
                    <a:lnTo>
                      <a:pt x="2944208" y="0"/>
                    </a:lnTo>
                    <a:cubicBezTo>
                      <a:pt x="3559904" y="0"/>
                      <a:pt x="4060920" y="501015"/>
                      <a:pt x="4060920" y="1116838"/>
                    </a:cubicBezTo>
                    <a:cubicBezTo>
                      <a:pt x="4060920" y="1732534"/>
                      <a:pt x="3559904" y="2233549"/>
                      <a:pt x="2944081" y="2233549"/>
                    </a:cubicBezTo>
                    <a:close/>
                    <a:moveTo>
                      <a:pt x="1116838" y="38100"/>
                    </a:moveTo>
                    <a:cubicBezTo>
                      <a:pt x="521970" y="38100"/>
                      <a:pt x="38100" y="521970"/>
                      <a:pt x="38100" y="1116838"/>
                    </a:cubicBezTo>
                    <a:cubicBezTo>
                      <a:pt x="38100" y="1711579"/>
                      <a:pt x="521970" y="2195576"/>
                      <a:pt x="1116838" y="2195576"/>
                    </a:cubicBezTo>
                    <a:lnTo>
                      <a:pt x="2944208" y="2195576"/>
                    </a:lnTo>
                    <a:cubicBezTo>
                      <a:pt x="3538950" y="2195576"/>
                      <a:pt x="4022947" y="1711706"/>
                      <a:pt x="4022947" y="1116838"/>
                    </a:cubicBezTo>
                    <a:cubicBezTo>
                      <a:pt x="4022820" y="521970"/>
                      <a:pt x="3538949" y="38100"/>
                      <a:pt x="2944081" y="38100"/>
                    </a:cubicBezTo>
                    <a:lnTo>
                      <a:pt x="1116838" y="38100"/>
                    </a:lnTo>
                    <a:close/>
                  </a:path>
                </a:pathLst>
              </a:custGeom>
              <a:solidFill>
                <a:srgbClr val="F1EEEE"/>
              </a:solidFill>
            </p:spPr>
            <p:txBody>
              <a:bodyPr/>
              <a:lstStyle/>
              <a:p>
                <a:endParaRPr lang="it-IT" sz="900"/>
              </a:p>
            </p:txBody>
          </p:sp>
        </p:grp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FB0B92C4-27EA-C023-2EB4-1C4BEE60AE84}"/>
                </a:ext>
              </a:extLst>
            </p:cNvPr>
            <p:cNvGrpSpPr/>
            <p:nvPr/>
          </p:nvGrpSpPr>
          <p:grpSpPr>
            <a:xfrm>
              <a:off x="5486400" y="1287513"/>
              <a:ext cx="2968882" cy="3075113"/>
              <a:chOff x="10972800" y="2575026"/>
              <a:chExt cx="5937764" cy="615022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2E4CC12-D07D-01C1-9463-6986CFF9C6E2}"/>
                  </a:ext>
                </a:extLst>
              </p:cNvPr>
              <p:cNvSpPr/>
              <p:nvPr/>
            </p:nvSpPr>
            <p:spPr>
              <a:xfrm>
                <a:off x="11220025" y="2878711"/>
                <a:ext cx="5443313" cy="54433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90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AF0B5F7F-EFE2-7DC8-1D62-3D3DC4BF1C39}"/>
                  </a:ext>
                </a:extLst>
              </p:cNvPr>
              <p:cNvSpPr/>
              <p:nvPr/>
            </p:nvSpPr>
            <p:spPr>
              <a:xfrm>
                <a:off x="10972800" y="2575026"/>
                <a:ext cx="5937764" cy="6150226"/>
              </a:xfrm>
              <a:custGeom>
                <a:avLst/>
                <a:gdLst/>
                <a:ahLst/>
                <a:cxnLst/>
                <a:rect l="l" t="t" r="r" b="b"/>
                <a:pathLst>
                  <a:path w="5937764" h="6150226">
                    <a:moveTo>
                      <a:pt x="0" y="0"/>
                    </a:moveTo>
                    <a:lnTo>
                      <a:pt x="5937764" y="0"/>
                    </a:lnTo>
                    <a:lnTo>
                      <a:pt x="5937764" y="6150227"/>
                    </a:lnTo>
                    <a:lnTo>
                      <a:pt x="0" y="61502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 sz="900"/>
              </a:p>
            </p:txBody>
          </p:sp>
        </p:grpSp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E496C9DB-B51C-DC21-652B-866039E95B0F}"/>
              </a:ext>
            </a:extLst>
          </p:cNvPr>
          <p:cNvSpPr/>
          <p:nvPr/>
        </p:nvSpPr>
        <p:spPr>
          <a:xfrm>
            <a:off x="4243283" y="9064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 nuovi servizi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483901-39E1-294E-7C56-B1E76E9516F0}"/>
              </a:ext>
            </a:extLst>
          </p:cNvPr>
          <p:cNvSpPr/>
          <p:nvPr/>
        </p:nvSpPr>
        <p:spPr>
          <a:xfrm>
            <a:off x="-1110664" y="84461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Opportunità identificate — non ancora quantificate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5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92D1-9754-D64D-58AB-95A6A06B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01883D9-77DD-B9E4-69C7-757421223A56}"/>
              </a:ext>
            </a:extLst>
          </p:cNvPr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502472F-B29C-C18C-897E-5171F98E05ED}"/>
              </a:ext>
            </a:extLst>
          </p:cNvPr>
          <p:cNvSpPr/>
          <p:nvPr/>
        </p:nvSpPr>
        <p:spPr>
          <a:xfrm>
            <a:off x="2567141" y="116811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Grazie per </a:t>
            </a:r>
            <a:r>
              <a:rPr lang="en-US" sz="3200" dirty="0" err="1">
                <a:solidFill>
                  <a:schemeClr val="tx2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l'attenzione</a:t>
            </a:r>
            <a:r>
              <a:rPr lang="en-US" sz="3200" dirty="0">
                <a:solidFill>
                  <a:schemeClr val="tx2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 !</a:t>
            </a:r>
            <a:endParaRPr lang="en-US" sz="32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87609C23-61D6-6967-4909-9877DF1BBBA6}"/>
              </a:ext>
            </a:extLst>
          </p:cNvPr>
          <p:cNvGrpSpPr/>
          <p:nvPr/>
        </p:nvGrpSpPr>
        <p:grpSpPr>
          <a:xfrm rot="6050186" flipH="1" flipV="1">
            <a:off x="2582548" y="-1749058"/>
            <a:ext cx="4579803" cy="4694869"/>
            <a:chOff x="0" y="0"/>
            <a:chExt cx="6350000" cy="6350000"/>
          </a:xfrm>
          <a:solidFill>
            <a:schemeClr val="accent2"/>
          </a:solidFill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2AC6C2B8-C368-64F2-758A-9EA8399A8C5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it-IT" sz="900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F5803907-EA9F-AA12-22F1-5B77B3ADBE10}"/>
              </a:ext>
            </a:extLst>
          </p:cNvPr>
          <p:cNvGrpSpPr/>
          <p:nvPr/>
        </p:nvGrpSpPr>
        <p:grpSpPr>
          <a:xfrm rot="2779750" flipH="1" flipV="1">
            <a:off x="1862068" y="839910"/>
            <a:ext cx="4266435" cy="2305529"/>
            <a:chOff x="0" y="0"/>
            <a:chExt cx="4060920" cy="2249607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A2F56AD-131F-B90F-4110-7C07FCFC61D6}"/>
                </a:ext>
              </a:extLst>
            </p:cNvPr>
            <p:cNvSpPr/>
            <p:nvPr/>
          </p:nvSpPr>
          <p:spPr>
            <a:xfrm>
              <a:off x="11450" y="54158"/>
              <a:ext cx="4022947" cy="2195449"/>
            </a:xfrm>
            <a:custGeom>
              <a:avLst/>
              <a:gdLst/>
              <a:ahLst/>
              <a:cxnLst/>
              <a:rect l="l" t="t" r="r" b="b"/>
              <a:pathLst>
                <a:path w="4022947" h="2195449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it-IT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B8F450B9-EF9B-C740-491E-A13B3043C17C}"/>
                </a:ext>
              </a:extLst>
            </p:cNvPr>
            <p:cNvSpPr/>
            <p:nvPr/>
          </p:nvSpPr>
          <p:spPr>
            <a:xfrm>
              <a:off x="0" y="0"/>
              <a:ext cx="4060920" cy="2233549"/>
            </a:xfrm>
            <a:custGeom>
              <a:avLst/>
              <a:gdLst/>
              <a:ahLst/>
              <a:cxnLst/>
              <a:rect l="l" t="t" r="r" b="b"/>
              <a:pathLst>
                <a:path w="4060920" h="2233549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it-IT" sz="900"/>
            </a:p>
          </p:txBody>
        </p:sp>
      </p:grpSp>
      <p:sp>
        <p:nvSpPr>
          <p:cNvPr id="21" name="Ovale 20">
            <a:extLst>
              <a:ext uri="{FF2B5EF4-FFF2-40B4-BE49-F238E27FC236}">
                <a16:creationId xmlns:a16="http://schemas.microsoft.com/office/drawing/2014/main" id="{5A77348D-AEDD-09DD-169A-26F277D2D601}"/>
              </a:ext>
            </a:extLst>
          </p:cNvPr>
          <p:cNvSpPr/>
          <p:nvPr/>
        </p:nvSpPr>
        <p:spPr>
          <a:xfrm rot="6050186" flipH="1" flipV="1">
            <a:off x="3712666" y="1663452"/>
            <a:ext cx="1872450" cy="19194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E5401D98-80AA-26C3-A071-8FA065BA7F3F}"/>
              </a:ext>
            </a:extLst>
          </p:cNvPr>
          <p:cNvSpPr/>
          <p:nvPr/>
        </p:nvSpPr>
        <p:spPr>
          <a:xfrm rot="6050186" flipH="1" flipV="1">
            <a:off x="3644861" y="1542111"/>
            <a:ext cx="2042537" cy="2168777"/>
          </a:xfrm>
          <a:custGeom>
            <a:avLst/>
            <a:gdLst/>
            <a:ahLst/>
            <a:cxnLst/>
            <a:rect l="l" t="t" r="r" b="b"/>
            <a:pathLst>
              <a:path w="5937764" h="6150226">
                <a:moveTo>
                  <a:pt x="0" y="0"/>
                </a:moveTo>
                <a:lnTo>
                  <a:pt x="5937764" y="0"/>
                </a:lnTo>
                <a:lnTo>
                  <a:pt x="5937764" y="6150227"/>
                </a:lnTo>
                <a:lnTo>
                  <a:pt x="0" y="6150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sz="90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BF746D4F-4A5F-4787-A283-E5D71DC13FD9}"/>
              </a:ext>
            </a:extLst>
          </p:cNvPr>
          <p:cNvSpPr/>
          <p:nvPr/>
        </p:nvSpPr>
        <p:spPr>
          <a:xfrm>
            <a:off x="383177" y="2703207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9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63E8B6A-C087-A87E-45A8-EF1A6E955F34}"/>
              </a:ext>
            </a:extLst>
          </p:cNvPr>
          <p:cNvSpPr/>
          <p:nvPr/>
        </p:nvSpPr>
        <p:spPr>
          <a:xfrm>
            <a:off x="383177" y="329756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&amp; TECH SERVICES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A52007B-C0F6-CA16-B12B-76F6F0C996E0}"/>
              </a:ext>
            </a:extLst>
          </p:cNvPr>
          <p:cNvSpPr/>
          <p:nvPr/>
        </p:nvSpPr>
        <p:spPr>
          <a:xfrm>
            <a:off x="274320" y="4593233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Industriale 2026–2028  ·   Dati rettificati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0259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6EE2-613C-05EB-B5D5-60B8486F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5">
            <a:extLst>
              <a:ext uri="{FF2B5EF4-FFF2-40B4-BE49-F238E27FC236}">
                <a16:creationId xmlns:a16="http://schemas.microsoft.com/office/drawing/2014/main" id="{A0876882-190F-1A20-E810-6BA513BA9F9D}"/>
              </a:ext>
            </a:extLst>
          </p:cNvPr>
          <p:cNvSpPr/>
          <p:nvPr/>
        </p:nvSpPr>
        <p:spPr>
          <a:xfrm>
            <a:off x="2929091" y="173330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Grazie per </a:t>
            </a:r>
            <a:r>
              <a:rPr lang="en-US" sz="3200" dirty="0" err="1">
                <a:solidFill>
                  <a:schemeClr val="tx2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l'attenzione</a:t>
            </a:r>
            <a:r>
              <a:rPr lang="en-US" sz="3200" dirty="0">
                <a:solidFill>
                  <a:schemeClr val="tx2"/>
                </a:solidFill>
                <a:latin typeface="Calisto MT" panose="02040603050505030304" pitchFamily="18" charset="0"/>
                <a:ea typeface="Calibri" pitchFamily="34" charset="-122"/>
                <a:cs typeface="Calibri" pitchFamily="34" charset="-120"/>
              </a:rPr>
              <a:t> !</a:t>
            </a:r>
            <a:endParaRPr lang="en-US" sz="32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C263ED-3F38-8A5C-A00C-02737F1D2E6C}"/>
              </a:ext>
            </a:extLst>
          </p:cNvPr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F384DCCB-1A56-4572-8D7D-4434ABE0E9E8}"/>
              </a:ext>
            </a:extLst>
          </p:cNvPr>
          <p:cNvGrpSpPr/>
          <p:nvPr/>
        </p:nvGrpSpPr>
        <p:grpSpPr>
          <a:xfrm rot="6050186" flipH="1" flipV="1">
            <a:off x="9731240" y="-4008944"/>
            <a:ext cx="4579803" cy="4694870"/>
            <a:chOff x="4940988" y="8921820"/>
            <a:chExt cx="6350000" cy="6350000"/>
          </a:xfrm>
          <a:solidFill>
            <a:schemeClr val="accent2"/>
          </a:solidFill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774CDD62-E19C-D337-522A-72910F2E4FC7}"/>
                </a:ext>
              </a:extLst>
            </p:cNvPr>
            <p:cNvSpPr/>
            <p:nvPr/>
          </p:nvSpPr>
          <p:spPr>
            <a:xfrm rot="11220721">
              <a:off x="4940988" y="892182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it-IT" sz="900"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3B3B9E55-B056-7DD6-1F10-70C2CAB28EE9}"/>
              </a:ext>
            </a:extLst>
          </p:cNvPr>
          <p:cNvGrpSpPr/>
          <p:nvPr/>
        </p:nvGrpSpPr>
        <p:grpSpPr>
          <a:xfrm rot="2779750" flipH="1" flipV="1">
            <a:off x="-4313679" y="-546220"/>
            <a:ext cx="4266435" cy="2289072"/>
            <a:chOff x="5021898" y="-3323323"/>
            <a:chExt cx="4060920" cy="2233549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7417571-8285-1CD5-8D16-FEA5A4DD32C2}"/>
                </a:ext>
              </a:extLst>
            </p:cNvPr>
            <p:cNvSpPr/>
            <p:nvPr/>
          </p:nvSpPr>
          <p:spPr>
            <a:xfrm rot="10639159">
              <a:off x="5032004" y="-3312919"/>
              <a:ext cx="4022947" cy="2195449"/>
            </a:xfrm>
            <a:custGeom>
              <a:avLst/>
              <a:gdLst/>
              <a:ahLst/>
              <a:cxnLst/>
              <a:rect l="l" t="t" r="r" b="b"/>
              <a:pathLst>
                <a:path w="4022947" h="2195449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it-IT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C68A2ADE-A560-D2B4-9C52-017BB9F60D25}"/>
                </a:ext>
              </a:extLst>
            </p:cNvPr>
            <p:cNvSpPr/>
            <p:nvPr/>
          </p:nvSpPr>
          <p:spPr>
            <a:xfrm rot="10639159">
              <a:off x="5021898" y="-3323323"/>
              <a:ext cx="4060920" cy="2233549"/>
            </a:xfrm>
            <a:custGeom>
              <a:avLst/>
              <a:gdLst/>
              <a:ahLst/>
              <a:cxnLst/>
              <a:rect l="l" t="t" r="r" b="b"/>
              <a:pathLst>
                <a:path w="4060920" h="2233549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  <p:txBody>
            <a:bodyPr/>
            <a:lstStyle/>
            <a:p>
              <a:endParaRPr lang="it-IT" sz="900"/>
            </a:p>
          </p:txBody>
        </p:sp>
      </p:grpSp>
      <p:sp>
        <p:nvSpPr>
          <p:cNvPr id="21" name="Ovale 20">
            <a:extLst>
              <a:ext uri="{FF2B5EF4-FFF2-40B4-BE49-F238E27FC236}">
                <a16:creationId xmlns:a16="http://schemas.microsoft.com/office/drawing/2014/main" id="{6018ED14-079F-9D20-FAB9-593C3DD1DF31}"/>
              </a:ext>
            </a:extLst>
          </p:cNvPr>
          <p:cNvSpPr/>
          <p:nvPr/>
        </p:nvSpPr>
        <p:spPr>
          <a:xfrm rot="6050186" flipH="1" flipV="1">
            <a:off x="1528703" y="1939156"/>
            <a:ext cx="1872450" cy="19194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902119EB-F25B-5386-30D7-500507C4F8C3}"/>
              </a:ext>
            </a:extLst>
          </p:cNvPr>
          <p:cNvSpPr/>
          <p:nvPr/>
        </p:nvSpPr>
        <p:spPr>
          <a:xfrm rot="10800000" flipH="1" flipV="1">
            <a:off x="1613859" y="2613470"/>
            <a:ext cx="708654" cy="754412"/>
          </a:xfrm>
          <a:custGeom>
            <a:avLst/>
            <a:gdLst/>
            <a:ahLst/>
            <a:cxnLst/>
            <a:rect l="l" t="t" r="r" b="b"/>
            <a:pathLst>
              <a:path w="5937764" h="6150226">
                <a:moveTo>
                  <a:pt x="0" y="0"/>
                </a:moveTo>
                <a:lnTo>
                  <a:pt x="5937764" y="0"/>
                </a:lnTo>
                <a:lnTo>
                  <a:pt x="5937764" y="6150227"/>
                </a:lnTo>
                <a:lnTo>
                  <a:pt x="0" y="6150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sz="90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05041B2-D524-BDD6-DF2D-248B5F63CB44}"/>
              </a:ext>
            </a:extLst>
          </p:cNvPr>
          <p:cNvSpPr/>
          <p:nvPr/>
        </p:nvSpPr>
        <p:spPr>
          <a:xfrm>
            <a:off x="383177" y="2703207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9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9D3937A-9FB2-3337-441E-BF456E55BFFA}"/>
              </a:ext>
            </a:extLst>
          </p:cNvPr>
          <p:cNvSpPr/>
          <p:nvPr/>
        </p:nvSpPr>
        <p:spPr>
          <a:xfrm>
            <a:off x="383177" y="329756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&amp; TECH SERVICES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7D9381-79D8-56FE-47DF-703A87AC19AD}"/>
              </a:ext>
            </a:extLst>
          </p:cNvPr>
          <p:cNvSpPr/>
          <p:nvPr/>
        </p:nvSpPr>
        <p:spPr>
          <a:xfrm>
            <a:off x="274320" y="4593233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Industriale 2026–2028  ·   Dati rettificati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5845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9DDDB5-D572-4E9D-AC25-EE4CDAA3700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97a63ab-af66-43cb-b1a3-d414671eb6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4929</Words>
  <Application>Microsoft Office PowerPoint</Application>
  <PresentationFormat>Presentazione su schermo (16:9)</PresentationFormat>
  <Paragraphs>1405</Paragraphs>
  <Slides>77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77</vt:i4>
      </vt:variant>
    </vt:vector>
  </HeadingPairs>
  <TitlesOfParts>
    <vt:vector size="84" baseType="lpstr">
      <vt:lpstr>Amasis MT Pro Black</vt:lpstr>
      <vt:lpstr>Arial</vt:lpstr>
      <vt:lpstr>Calibri</vt:lpstr>
      <vt:lpstr>Calisto MT</vt:lpstr>
      <vt:lpstr>Georgia</vt:lpstr>
      <vt:lpstr>Georgia Pro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Piano Industriale Meta 2026-2028</dc:title>
  <dc:subject>PptxGenJS Presentation</dc:subject>
  <dc:creator>PptxGenJS</dc:creator>
  <cp:lastModifiedBy>Andrea Lucchesi</cp:lastModifiedBy>
  <cp:revision>25</cp:revision>
  <dcterms:created xsi:type="dcterms:W3CDTF">2026-04-08T16:08:18Z</dcterms:created>
  <dcterms:modified xsi:type="dcterms:W3CDTF">2026-04-29T16:50:55Z</dcterms:modified>
</cp:coreProperties>
</file>